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v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h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A819DCD-2C29-4C37-8933-90AC949CDAC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973037-331E-492D-AE46-199A45F933E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D341FAA-DD91-44F4-85C0-6116C6716F1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A4D6AB-4967-4734-9288-1682BD1C065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F366D2-DB50-4329-922C-6B6500ACE66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A17320A-CBED-45C3-8C15-93746373415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E254C72-998D-445E-9444-D488EAC4EFD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A8574FC-B5A4-412F-B5F6-69F55790526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CA4D31-98AC-406E-ADA5-7CFBA393DAB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4CD5003-446C-4400-BF43-D6B4D1EE210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537928E-CF86-490A-83CB-04E7B3CC769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65D333-5665-4E2A-B30A-A7D8427D8C2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F6E8410-D9E0-4314-9838-05298FD6E66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PTIS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blipFill rotWithShape="0">
            <a:blip r:embed="rId1">
              <a:alphaModFix amt="4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385920" y="873000"/>
            <a:ext cx="2585880" cy="390240"/>
          </a:xfrm>
          <a:custGeom>
            <a:avLst/>
            <a:gdLst>
              <a:gd name="textAreaLeft" fmla="*/ 0 w 2585880"/>
              <a:gd name="textAreaRight" fmla="*/ 2586240 w 2585880"/>
              <a:gd name="textAreaTop" fmla="*/ 0 h 390240"/>
              <a:gd name="textAreaBottom" fmla="*/ 390600 h 390240"/>
            </a:gdLst>
            <a:ahLst/>
            <a:rect l="textAreaLeft" t="textAreaTop" r="textAreaRight" b="textAreaBottom"/>
            <a:pathLst>
              <a:path w="1800225" h="390525">
                <a:moveTo>
                  <a:pt x="76199" y="0"/>
                </a:moveTo>
                <a:lnTo>
                  <a:pt x="1724026" y="0"/>
                </a:lnTo>
                <a:cubicBezTo>
                  <a:pt x="1766109" y="0"/>
                  <a:pt x="1800225" y="34116"/>
                  <a:pt x="1800225" y="76199"/>
                </a:cubicBezTo>
                <a:lnTo>
                  <a:pt x="1800225" y="314326"/>
                </a:lnTo>
                <a:cubicBezTo>
                  <a:pt x="1800225" y="356409"/>
                  <a:pt x="1766109" y="390525"/>
                  <a:pt x="172402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12700">
            <a:solidFill>
              <a:srgbClr val="4db6ac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542880" y="982440"/>
            <a:ext cx="24289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58" strike="noStrike">
                <a:solidFill>
                  <a:srgbClr val="4db6ac"/>
                </a:solidFill>
                <a:latin typeface="Quattrocento Sans"/>
                <a:ea typeface="Quattrocento Sans"/>
              </a:rPr>
              <a:t>DATA ENGINEERING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380880" y="1604880"/>
            <a:ext cx="8876880" cy="25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5400" spc="-1" strike="noStrike">
                <a:solidFill>
                  <a:srgbClr val="eceff1"/>
                </a:solidFill>
                <a:latin typeface="Liter"/>
                <a:ea typeface="Liter"/>
              </a:rPr>
              <a:t>Modern Data Engineering: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5400" spc="-1" strike="noStrike">
                <a:solidFill>
                  <a:srgbClr val="4db6ac"/>
                </a:solidFill>
                <a:latin typeface="Liter"/>
                <a:ea typeface="Liter"/>
              </a:rPr>
              <a:t>Building ETL &amp; ELT Pipelines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380880" y="4405320"/>
            <a:ext cx="74293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8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A Comprehensive Guide to Data Pipeline Architecture, Tools, and Best Practices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5"/>
          <p:cNvSpPr/>
          <p:nvPr/>
        </p:nvSpPr>
        <p:spPr>
          <a:xfrm>
            <a:off x="380880" y="5748480"/>
            <a:ext cx="11429640" cy="9000"/>
          </a:xfrm>
          <a:custGeom>
            <a:avLst/>
            <a:gdLst>
              <a:gd name="textAreaLeft" fmla="*/ 0 w 11429640"/>
              <a:gd name="textAreaRight" fmla="*/ 11430000 w 11429640"/>
              <a:gd name="textAreaTop" fmla="*/ 0 h 9000"/>
              <a:gd name="textAreaBottom" fmla="*/ 9360 h 9000"/>
            </a:gdLst>
            <a:ahLst/>
            <a:rect l="textAreaLeft" t="textAreaTop" r="textAreaRight" b="textAreaBottom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ceff1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380880" y="600084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7"/>
          <p:cNvSpPr/>
          <p:nvPr/>
        </p:nvSpPr>
        <p:spPr>
          <a:xfrm>
            <a:off x="526320" y="6134040"/>
            <a:ext cx="166320" cy="190080"/>
          </a:xfrm>
          <a:custGeom>
            <a:avLst/>
            <a:gdLst>
              <a:gd name="textAreaLeft" fmla="*/ 0 w 166320"/>
              <a:gd name="textAreaRight" fmla="*/ 166680 w 166320"/>
              <a:gd name="textAreaTop" fmla="*/ 0 h 190080"/>
              <a:gd name="textAreaBottom" fmla="*/ 190440 h 190080"/>
            </a:gdLst>
            <a:ahLst/>
            <a:rect l="textAreaLeft" t="textAreaTop" r="textAreaRight" b="textAreaBottom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952560" y="6019920"/>
            <a:ext cx="1257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60000"/>
                  </a:srgbClr>
                </a:solidFill>
                <a:latin typeface="Quattrocento Sans"/>
                <a:ea typeface="Quattrocento Sans"/>
              </a:rPr>
              <a:t>Architecture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952560" y="6210360"/>
            <a:ext cx="2247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Scalable &amp; Robust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2375280" y="600084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2484720" y="6134040"/>
            <a:ext cx="237600" cy="190080"/>
          </a:xfrm>
          <a:custGeom>
            <a:avLst/>
            <a:gdLst>
              <a:gd name="textAreaLeft" fmla="*/ 0 w 237600"/>
              <a:gd name="textAreaRight" fmla="*/ 237960 w 237600"/>
              <a:gd name="textAreaTop" fmla="*/ 0 h 190080"/>
              <a:gd name="textAreaBottom" fmla="*/ 190440 h 190080"/>
            </a:gdLst>
            <a:ahLst/>
            <a:rect l="textAreaLeft" t="textAreaTop" r="textAreaRight" b="textAreaBottom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2946960" y="6019920"/>
            <a:ext cx="13521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60000"/>
                  </a:srgbClr>
                </a:solidFill>
                <a:latin typeface="Quattrocento Sans"/>
                <a:ea typeface="Quattrocento Sans"/>
              </a:rPr>
              <a:t>Tools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2946960" y="6210360"/>
            <a:ext cx="2082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Cloud-Native Stack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4"/>
          <p:cNvSpPr/>
          <p:nvPr/>
        </p:nvSpPr>
        <p:spPr>
          <a:xfrm>
            <a:off x="4456440" y="600084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5"/>
          <p:cNvSpPr/>
          <p:nvPr/>
        </p:nvSpPr>
        <p:spPr>
          <a:xfrm>
            <a:off x="4590000" y="6134040"/>
            <a:ext cx="190080" cy="190080"/>
          </a:xfrm>
          <a:custGeom>
            <a:avLst/>
            <a:gdLst>
              <a:gd name="textAreaLeft" fmla="*/ 0 w 190080"/>
              <a:gd name="textAreaRight" fmla="*/ 190440 w 190080"/>
              <a:gd name="textAreaTop" fmla="*/ 0 h 190080"/>
              <a:gd name="textAreaBottom" fmla="*/ 190440 h 190080"/>
            </a:gdLst>
            <a:ahLst/>
            <a:rect l="textAreaLeft" t="textAreaTop" r="textAreaRight" b="textAreaBottom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5028120" y="6019920"/>
            <a:ext cx="1095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60000"/>
                  </a:srgbClr>
                </a:solidFill>
                <a:latin typeface="Quattrocento Sans"/>
                <a:ea typeface="Quattrocento Sans"/>
              </a:rPr>
              <a:t>Best Practices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7"/>
          <p:cNvSpPr/>
          <p:nvPr/>
        </p:nvSpPr>
        <p:spPr>
          <a:xfrm>
            <a:off x="5028120" y="6210360"/>
            <a:ext cx="182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Industry-Ready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8"/>
          <p:cNvSpPr/>
          <p:nvPr/>
        </p:nvSpPr>
        <p:spPr>
          <a:xfrm>
            <a:off x="8229600" y="5981760"/>
            <a:ext cx="3584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30000"/>
              </a:lnSpc>
            </a:pPr>
            <a:r>
              <a:rPr b="0" lang="en-US" sz="1200" spc="-1" strike="noStrike">
                <a:solidFill>
                  <a:srgbClr val="eceff1">
                    <a:alpha val="60000"/>
                  </a:srgbClr>
                </a:solidFill>
                <a:latin typeface="Quattrocento Sans"/>
                <a:ea typeface="Quattrocento Sans"/>
              </a:rPr>
              <a:t>Professional Technical Presentation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9414000" y="6210360"/>
            <a:ext cx="24001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30000"/>
              </a:lnSpc>
            </a:pPr>
            <a:r>
              <a:rPr b="1" lang="en-US" sz="135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Author : Ritik__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380880" y="380880"/>
            <a:ext cx="1150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58" strike="noStrike">
                <a:solidFill>
                  <a:srgbClr val="4db6ac"/>
                </a:solidFill>
                <a:latin typeface="Quattrocento Sans"/>
                <a:ea typeface="Quattrocento Sans"/>
              </a:rPr>
              <a:t>AGENDA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380880" y="685800"/>
            <a:ext cx="11658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</a:pPr>
            <a:r>
              <a:rPr b="1" lang="en-US" sz="3600" spc="-1" strike="noStrike">
                <a:solidFill>
                  <a:srgbClr val="eceff1"/>
                </a:solidFill>
                <a:latin typeface="Liter"/>
                <a:ea typeface="Liter"/>
              </a:rPr>
              <a:t>What We'll Cover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"/>
          <p:cNvSpPr/>
          <p:nvPr/>
        </p:nvSpPr>
        <p:spPr>
          <a:xfrm>
            <a:off x="380880" y="1295280"/>
            <a:ext cx="914040" cy="37800"/>
          </a:xfrm>
          <a:custGeom>
            <a:avLst/>
            <a:gdLst>
              <a:gd name="textAreaLeft" fmla="*/ 0 w 914040"/>
              <a:gd name="textAreaRight" fmla="*/ 914400 w 914040"/>
              <a:gd name="textAreaTop" fmla="*/ 0 h 37800"/>
              <a:gd name="textAreaBottom" fmla="*/ 38160 h 37800"/>
            </a:gdLst>
            <a:ahLst/>
            <a:rect l="textAreaLeft" t="textAreaTop" r="textAreaRight" b="textAreaBottom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3"/>
          <p:cNvSpPr/>
          <p:nvPr/>
        </p:nvSpPr>
        <p:spPr>
          <a:xfrm>
            <a:off x="385920" y="1566720"/>
            <a:ext cx="5628960" cy="1599840"/>
          </a:xfrm>
          <a:custGeom>
            <a:avLst/>
            <a:gdLst>
              <a:gd name="textAreaLeft" fmla="*/ 0 w 5628960"/>
              <a:gd name="textAreaRight" fmla="*/ 5629320 w 5628960"/>
              <a:gd name="textAreaTop" fmla="*/ 0 h 1599840"/>
              <a:gd name="textAreaBottom" fmla="*/ 1600200 h 1599840"/>
            </a:gdLst>
            <a:ahLst/>
            <a:rect l="textAreaLeft" t="textAreaTop" r="textAreaRight" b="textAreaBottom"/>
            <a:pathLst>
              <a:path w="5629275" h="1600200">
                <a:moveTo>
                  <a:pt x="114302" y="0"/>
                </a:moveTo>
                <a:lnTo>
                  <a:pt x="5514973" y="0"/>
                </a:lnTo>
                <a:cubicBezTo>
                  <a:pt x="5578058" y="0"/>
                  <a:pt x="5629275" y="51217"/>
                  <a:pt x="5629275" y="114302"/>
                </a:cubicBezTo>
                <a:lnTo>
                  <a:pt x="5629275" y="1485898"/>
                </a:lnTo>
                <a:cubicBezTo>
                  <a:pt x="5629275" y="1548983"/>
                  <a:pt x="5578058" y="1600200"/>
                  <a:pt x="551497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4"/>
          <p:cNvSpPr/>
          <p:nvPr/>
        </p:nvSpPr>
        <p:spPr>
          <a:xfrm>
            <a:off x="619200" y="2063520"/>
            <a:ext cx="609120" cy="609120"/>
          </a:xfrm>
          <a:custGeom>
            <a:avLst/>
            <a:gdLst>
              <a:gd name="textAreaLeft" fmla="*/ 0 w 609120"/>
              <a:gd name="textAreaRight" fmla="*/ 609480 w 609120"/>
              <a:gd name="textAreaTop" fmla="*/ 0 h 609120"/>
              <a:gd name="textAreaBottom" fmla="*/ 609480 h 609120"/>
            </a:gdLst>
            <a:ahLst/>
            <a:rect l="textAreaLeft" t="textAreaTop" r="textAreaRight" b="textAreaBottom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785880" y="2197080"/>
            <a:ext cx="4186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5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01</a:t>
            </a:r>
            <a:endParaRPr b="0" lang="en-US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1457280" y="1949400"/>
            <a:ext cx="4438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eceff1"/>
                </a:solidFill>
                <a:latin typeface="Liter"/>
                <a:ea typeface="Liter"/>
              </a:rPr>
              <a:t>Introduction to ETL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1457280" y="2330280"/>
            <a:ext cx="440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Understanding ETL fundamentals and why pipelines are critical in modern data ecosystems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8"/>
          <p:cNvSpPr/>
          <p:nvPr/>
        </p:nvSpPr>
        <p:spPr>
          <a:xfrm>
            <a:off x="6176880" y="1566720"/>
            <a:ext cx="5628960" cy="1599840"/>
          </a:xfrm>
          <a:custGeom>
            <a:avLst/>
            <a:gdLst>
              <a:gd name="textAreaLeft" fmla="*/ 0 w 5628960"/>
              <a:gd name="textAreaRight" fmla="*/ 5629320 w 5628960"/>
              <a:gd name="textAreaTop" fmla="*/ 0 h 1599840"/>
              <a:gd name="textAreaBottom" fmla="*/ 1600200 h 1599840"/>
            </a:gdLst>
            <a:ahLst/>
            <a:rect l="textAreaLeft" t="textAreaTop" r="textAreaRight" b="textAreaBottom"/>
            <a:pathLst>
              <a:path w="5629275" h="1600200">
                <a:moveTo>
                  <a:pt x="114302" y="0"/>
                </a:moveTo>
                <a:lnTo>
                  <a:pt x="5514973" y="0"/>
                </a:lnTo>
                <a:cubicBezTo>
                  <a:pt x="5578058" y="0"/>
                  <a:pt x="5629275" y="51217"/>
                  <a:pt x="5629275" y="114302"/>
                </a:cubicBezTo>
                <a:lnTo>
                  <a:pt x="5629275" y="1485898"/>
                </a:lnTo>
                <a:cubicBezTo>
                  <a:pt x="5629275" y="1548983"/>
                  <a:pt x="5578058" y="1600200"/>
                  <a:pt x="551497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9"/>
          <p:cNvSpPr/>
          <p:nvPr/>
        </p:nvSpPr>
        <p:spPr>
          <a:xfrm>
            <a:off x="6410160" y="2063520"/>
            <a:ext cx="609120" cy="609120"/>
          </a:xfrm>
          <a:custGeom>
            <a:avLst/>
            <a:gdLst>
              <a:gd name="textAreaLeft" fmla="*/ 0 w 609120"/>
              <a:gd name="textAreaRight" fmla="*/ 609480 w 609120"/>
              <a:gd name="textAreaTop" fmla="*/ 0 h 609120"/>
              <a:gd name="textAreaBottom" fmla="*/ 609480 h 609120"/>
            </a:gdLst>
            <a:ahLst/>
            <a:rect l="textAreaLeft" t="textAreaTop" r="textAreaRight" b="textAreaBottom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6549480" y="2197080"/>
            <a:ext cx="475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5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02</a:t>
            </a:r>
            <a:endParaRPr b="0" lang="en-US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7248600" y="1949400"/>
            <a:ext cx="4438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eceff1"/>
                </a:solidFill>
                <a:latin typeface="Liter"/>
                <a:ea typeface="Liter"/>
              </a:rPr>
              <a:t>ETL Pipeline Architecture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7248600" y="2330280"/>
            <a:ext cx="440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End-to-end data flow from sources through transformation to analytics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13"/>
          <p:cNvSpPr/>
          <p:nvPr/>
        </p:nvSpPr>
        <p:spPr>
          <a:xfrm>
            <a:off x="385920" y="3332160"/>
            <a:ext cx="5628960" cy="1599840"/>
          </a:xfrm>
          <a:custGeom>
            <a:avLst/>
            <a:gdLst>
              <a:gd name="textAreaLeft" fmla="*/ 0 w 5628960"/>
              <a:gd name="textAreaRight" fmla="*/ 5629320 w 5628960"/>
              <a:gd name="textAreaTop" fmla="*/ 0 h 1599840"/>
              <a:gd name="textAreaBottom" fmla="*/ 1600200 h 1599840"/>
            </a:gdLst>
            <a:ahLst/>
            <a:rect l="textAreaLeft" t="textAreaTop" r="textAreaRight" b="textAreaBottom"/>
            <a:pathLst>
              <a:path w="5629275" h="1600200">
                <a:moveTo>
                  <a:pt x="114302" y="0"/>
                </a:moveTo>
                <a:lnTo>
                  <a:pt x="5514973" y="0"/>
                </a:lnTo>
                <a:cubicBezTo>
                  <a:pt x="5578058" y="0"/>
                  <a:pt x="5629275" y="51217"/>
                  <a:pt x="5629275" y="114302"/>
                </a:cubicBezTo>
                <a:lnTo>
                  <a:pt x="5629275" y="1485898"/>
                </a:lnTo>
                <a:cubicBezTo>
                  <a:pt x="5629275" y="1548983"/>
                  <a:pt x="5578058" y="1600200"/>
                  <a:pt x="551497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14"/>
          <p:cNvSpPr/>
          <p:nvPr/>
        </p:nvSpPr>
        <p:spPr>
          <a:xfrm>
            <a:off x="619200" y="3828960"/>
            <a:ext cx="609120" cy="609120"/>
          </a:xfrm>
          <a:custGeom>
            <a:avLst/>
            <a:gdLst>
              <a:gd name="textAreaLeft" fmla="*/ 0 w 609120"/>
              <a:gd name="textAreaRight" fmla="*/ 609480 w 609120"/>
              <a:gd name="textAreaTop" fmla="*/ 0 h 609120"/>
              <a:gd name="textAreaBottom" fmla="*/ 609480 h 609120"/>
            </a:gdLst>
            <a:ahLst/>
            <a:rect l="textAreaLeft" t="textAreaTop" r="textAreaRight" b="textAreaBottom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5"/>
          <p:cNvSpPr/>
          <p:nvPr/>
        </p:nvSpPr>
        <p:spPr>
          <a:xfrm>
            <a:off x="754560" y="3962160"/>
            <a:ext cx="485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50" spc="-1" strike="noStrike">
                <a:solidFill>
                  <a:srgbClr val="ff8a65"/>
                </a:solidFill>
                <a:latin typeface="Quattrocento Sans"/>
                <a:ea typeface="Quattrocento Sans"/>
              </a:rPr>
              <a:t>03</a:t>
            </a:r>
            <a:endParaRPr b="0" lang="en-US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6"/>
          <p:cNvSpPr/>
          <p:nvPr/>
        </p:nvSpPr>
        <p:spPr>
          <a:xfrm>
            <a:off x="1457280" y="3714480"/>
            <a:ext cx="4438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eceff1"/>
                </a:solidFill>
                <a:latin typeface="Liter"/>
                <a:ea typeface="Liter"/>
              </a:rPr>
              <a:t>Tools &amp; Technologies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7"/>
          <p:cNvSpPr/>
          <p:nvPr/>
        </p:nvSpPr>
        <p:spPr>
          <a:xfrm>
            <a:off x="1457280" y="4095720"/>
            <a:ext cx="440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Complete technology stack: extraction, transformation, orchestration, storage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18"/>
          <p:cNvSpPr/>
          <p:nvPr/>
        </p:nvSpPr>
        <p:spPr>
          <a:xfrm>
            <a:off x="6176880" y="3332160"/>
            <a:ext cx="5628960" cy="1599840"/>
          </a:xfrm>
          <a:custGeom>
            <a:avLst/>
            <a:gdLst>
              <a:gd name="textAreaLeft" fmla="*/ 0 w 5628960"/>
              <a:gd name="textAreaRight" fmla="*/ 5629320 w 5628960"/>
              <a:gd name="textAreaTop" fmla="*/ 0 h 1599840"/>
              <a:gd name="textAreaBottom" fmla="*/ 1600200 h 1599840"/>
            </a:gdLst>
            <a:ahLst/>
            <a:rect l="textAreaLeft" t="textAreaTop" r="textAreaRight" b="textAreaBottom"/>
            <a:pathLst>
              <a:path w="5629275" h="1600200">
                <a:moveTo>
                  <a:pt x="114302" y="0"/>
                </a:moveTo>
                <a:lnTo>
                  <a:pt x="5514973" y="0"/>
                </a:lnTo>
                <a:cubicBezTo>
                  <a:pt x="5578058" y="0"/>
                  <a:pt x="5629275" y="51217"/>
                  <a:pt x="5629275" y="114302"/>
                </a:cubicBezTo>
                <a:lnTo>
                  <a:pt x="5629275" y="1485898"/>
                </a:lnTo>
                <a:cubicBezTo>
                  <a:pt x="5629275" y="1548983"/>
                  <a:pt x="5578058" y="1600200"/>
                  <a:pt x="5514973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19"/>
          <p:cNvSpPr/>
          <p:nvPr/>
        </p:nvSpPr>
        <p:spPr>
          <a:xfrm>
            <a:off x="6410160" y="3828960"/>
            <a:ext cx="609120" cy="609120"/>
          </a:xfrm>
          <a:custGeom>
            <a:avLst/>
            <a:gdLst>
              <a:gd name="textAreaLeft" fmla="*/ 0 w 609120"/>
              <a:gd name="textAreaRight" fmla="*/ 609480 w 609120"/>
              <a:gd name="textAreaTop" fmla="*/ 0 h 609120"/>
              <a:gd name="textAreaBottom" fmla="*/ 609480 h 609120"/>
            </a:gdLst>
            <a:ahLst/>
            <a:rect l="textAreaLeft" t="textAreaTop" r="textAreaRight" b="textAreaBottom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20"/>
          <p:cNvSpPr/>
          <p:nvPr/>
        </p:nvSpPr>
        <p:spPr>
          <a:xfrm>
            <a:off x="6549840" y="3962160"/>
            <a:ext cx="475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50" spc="-1" strike="noStrike">
                <a:solidFill>
                  <a:srgbClr val="ff8a65"/>
                </a:solidFill>
                <a:latin typeface="Quattrocento Sans"/>
                <a:ea typeface="Quattrocento Sans"/>
              </a:rPr>
              <a:t>04</a:t>
            </a:r>
            <a:endParaRPr b="0" lang="en-US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1"/>
          <p:cNvSpPr/>
          <p:nvPr/>
        </p:nvSpPr>
        <p:spPr>
          <a:xfrm>
            <a:off x="7248600" y="3828960"/>
            <a:ext cx="4400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eceff1"/>
                </a:solidFill>
                <a:latin typeface="Liter"/>
                <a:ea typeface="Liter"/>
              </a:rPr>
              <a:t>Real Industry Practices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22"/>
          <p:cNvSpPr/>
          <p:nvPr/>
        </p:nvSpPr>
        <p:spPr>
          <a:xfrm>
            <a:off x="7248600" y="4209840"/>
            <a:ext cx="436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Scalable pipeline design, modularity, monitoring, and governance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23"/>
          <p:cNvSpPr/>
          <p:nvPr/>
        </p:nvSpPr>
        <p:spPr>
          <a:xfrm>
            <a:off x="385920" y="5097240"/>
            <a:ext cx="5628960" cy="1371240"/>
          </a:xfrm>
          <a:custGeom>
            <a:avLst/>
            <a:gdLst>
              <a:gd name="textAreaLeft" fmla="*/ 0 w 5628960"/>
              <a:gd name="textAreaRight" fmla="*/ 5629320 w 5628960"/>
              <a:gd name="textAreaTop" fmla="*/ 0 h 1371240"/>
              <a:gd name="textAreaBottom" fmla="*/ 1371600 h 1371240"/>
            </a:gdLst>
            <a:ahLst/>
            <a:rect l="textAreaLeft" t="textAreaTop" r="textAreaRight" b="textAreaBottom"/>
            <a:pathLst>
              <a:path w="5629275" h="1371600">
                <a:moveTo>
                  <a:pt x="114295" y="0"/>
                </a:moveTo>
                <a:lnTo>
                  <a:pt x="5514980" y="0"/>
                </a:lnTo>
                <a:cubicBezTo>
                  <a:pt x="5578061" y="0"/>
                  <a:pt x="5629275" y="51214"/>
                  <a:pt x="5629275" y="114295"/>
                </a:cubicBezTo>
                <a:lnTo>
                  <a:pt x="5629275" y="1257305"/>
                </a:lnTo>
                <a:cubicBezTo>
                  <a:pt x="5629275" y="1320386"/>
                  <a:pt x="5578061" y="1371600"/>
                  <a:pt x="5514980" y="1371600"/>
                </a:cubicBezTo>
                <a:lnTo>
                  <a:pt x="114295" y="1371600"/>
                </a:lnTo>
                <a:cubicBezTo>
                  <a:pt x="51214" y="1371600"/>
                  <a:pt x="0" y="1320386"/>
                  <a:pt x="0" y="1257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24"/>
          <p:cNvSpPr/>
          <p:nvPr/>
        </p:nvSpPr>
        <p:spPr>
          <a:xfrm>
            <a:off x="619200" y="5479920"/>
            <a:ext cx="609120" cy="609120"/>
          </a:xfrm>
          <a:custGeom>
            <a:avLst/>
            <a:gdLst>
              <a:gd name="textAreaLeft" fmla="*/ 0 w 609120"/>
              <a:gd name="textAreaRight" fmla="*/ 609480 w 609120"/>
              <a:gd name="textAreaTop" fmla="*/ 0 h 609120"/>
              <a:gd name="textAreaBottom" fmla="*/ 609480 h 609120"/>
            </a:gdLst>
            <a:ahLst/>
            <a:rect l="textAreaLeft" t="textAreaTop" r="textAreaRight" b="textAreaBottom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25"/>
          <p:cNvSpPr/>
          <p:nvPr/>
        </p:nvSpPr>
        <p:spPr>
          <a:xfrm>
            <a:off x="754200" y="5613480"/>
            <a:ext cx="485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50" spc="-1" strike="noStrike">
                <a:solidFill>
                  <a:srgbClr val="607d8b"/>
                </a:solidFill>
                <a:latin typeface="Quattrocento Sans"/>
                <a:ea typeface="Quattrocento Sans"/>
              </a:rPr>
              <a:t>05</a:t>
            </a:r>
            <a:endParaRPr b="0" lang="en-US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26"/>
          <p:cNvSpPr/>
          <p:nvPr/>
        </p:nvSpPr>
        <p:spPr>
          <a:xfrm>
            <a:off x="1457280" y="5479920"/>
            <a:ext cx="43048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eceff1"/>
                </a:solidFill>
                <a:latin typeface="Liter"/>
                <a:ea typeface="Liter"/>
              </a:rPr>
              <a:t>Case Study: Retail Integration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27"/>
          <p:cNvSpPr/>
          <p:nvPr/>
        </p:nvSpPr>
        <p:spPr>
          <a:xfrm>
            <a:off x="1457280" y="5861160"/>
            <a:ext cx="4266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Real-world example of integrating CRM, ERP, and web analytics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28"/>
          <p:cNvSpPr/>
          <p:nvPr/>
        </p:nvSpPr>
        <p:spPr>
          <a:xfrm>
            <a:off x="6176880" y="5097240"/>
            <a:ext cx="5628960" cy="1371240"/>
          </a:xfrm>
          <a:custGeom>
            <a:avLst/>
            <a:gdLst>
              <a:gd name="textAreaLeft" fmla="*/ 0 w 5628960"/>
              <a:gd name="textAreaRight" fmla="*/ 5629320 w 5628960"/>
              <a:gd name="textAreaTop" fmla="*/ 0 h 1371240"/>
              <a:gd name="textAreaBottom" fmla="*/ 1371600 h 1371240"/>
            </a:gdLst>
            <a:ahLst/>
            <a:rect l="textAreaLeft" t="textAreaTop" r="textAreaRight" b="textAreaBottom"/>
            <a:pathLst>
              <a:path w="5629275" h="1371600">
                <a:moveTo>
                  <a:pt x="114295" y="0"/>
                </a:moveTo>
                <a:lnTo>
                  <a:pt x="5514980" y="0"/>
                </a:lnTo>
                <a:cubicBezTo>
                  <a:pt x="5578061" y="0"/>
                  <a:pt x="5629275" y="51214"/>
                  <a:pt x="5629275" y="114295"/>
                </a:cubicBezTo>
                <a:lnTo>
                  <a:pt x="5629275" y="1257305"/>
                </a:lnTo>
                <a:cubicBezTo>
                  <a:pt x="5629275" y="1320386"/>
                  <a:pt x="5578061" y="1371600"/>
                  <a:pt x="5514980" y="1371600"/>
                </a:cubicBezTo>
                <a:lnTo>
                  <a:pt x="114295" y="1371600"/>
                </a:lnTo>
                <a:cubicBezTo>
                  <a:pt x="51214" y="1371600"/>
                  <a:pt x="0" y="1320386"/>
                  <a:pt x="0" y="1257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29"/>
          <p:cNvSpPr/>
          <p:nvPr/>
        </p:nvSpPr>
        <p:spPr>
          <a:xfrm>
            <a:off x="6410160" y="5479920"/>
            <a:ext cx="609120" cy="609120"/>
          </a:xfrm>
          <a:custGeom>
            <a:avLst/>
            <a:gdLst>
              <a:gd name="textAreaLeft" fmla="*/ 0 w 609120"/>
              <a:gd name="textAreaRight" fmla="*/ 609480 w 609120"/>
              <a:gd name="textAreaTop" fmla="*/ 0 h 609120"/>
              <a:gd name="textAreaBottom" fmla="*/ 609480 h 609120"/>
            </a:gdLst>
            <a:ahLst/>
            <a:rect l="textAreaLeft" t="textAreaTop" r="textAreaRight" b="textAreaBottom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30"/>
          <p:cNvSpPr/>
          <p:nvPr/>
        </p:nvSpPr>
        <p:spPr>
          <a:xfrm>
            <a:off x="6543720" y="5613480"/>
            <a:ext cx="485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50" spc="-1" strike="noStrike">
                <a:solidFill>
                  <a:srgbClr val="607d8b"/>
                </a:solidFill>
                <a:latin typeface="Quattrocento Sans"/>
                <a:ea typeface="Quattrocento Sans"/>
              </a:rPr>
              <a:t>06</a:t>
            </a:r>
            <a:endParaRPr b="0" lang="en-US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31"/>
          <p:cNvSpPr/>
          <p:nvPr/>
        </p:nvSpPr>
        <p:spPr>
          <a:xfrm>
            <a:off x="7248600" y="5479920"/>
            <a:ext cx="4086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eceff1"/>
                </a:solidFill>
                <a:latin typeface="Liter"/>
                <a:ea typeface="Liter"/>
              </a:rPr>
              <a:t>Best Practices &amp; Future Trends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32"/>
          <p:cNvSpPr/>
          <p:nvPr/>
        </p:nvSpPr>
        <p:spPr>
          <a:xfrm>
            <a:off x="7248600" y="5861160"/>
            <a:ext cx="4047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Cloud-native ETL, ELT vs ETL, AI/ML, and DataOps evolution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375120" y="375120"/>
            <a:ext cx="11516400" cy="2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80" spc="58" strike="noStrike">
                <a:solidFill>
                  <a:srgbClr val="4db6ac"/>
                </a:solidFill>
                <a:latin typeface="Quattrocento Sans"/>
                <a:ea typeface="Quattrocento Sans"/>
              </a:rPr>
              <a:t>INTRODUCTION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375120" y="675360"/>
            <a:ext cx="116100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660" spc="-1" strike="noStrike">
                <a:solidFill>
                  <a:srgbClr val="eceff1"/>
                </a:solidFill>
                <a:latin typeface="Liter"/>
                <a:ea typeface="Liter"/>
              </a:rPr>
              <a:t>What is ETL?</a:t>
            </a:r>
            <a:endParaRPr b="0" lang="en-US" sz="26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375120" y="1017360"/>
            <a:ext cx="1152576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33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Extract, Transform, Load — The Foundation of Data Engineering</a:t>
            </a:r>
            <a:endParaRPr b="0" lang="en-US" sz="13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379800" y="1398600"/>
            <a:ext cx="11432160" cy="937440"/>
          </a:xfrm>
          <a:custGeom>
            <a:avLst/>
            <a:gdLst>
              <a:gd name="textAreaLeft" fmla="*/ 0 w 11432160"/>
              <a:gd name="textAreaRight" fmla="*/ 11432520 w 11432160"/>
              <a:gd name="textAreaTop" fmla="*/ 0 h 937440"/>
              <a:gd name="textAreaBottom" fmla="*/ 937800 h 937440"/>
            </a:gdLst>
            <a:ahLst/>
            <a:rect l="textAreaLeft" t="textAreaTop" r="textAreaRight" b="textAreaBottom"/>
            <a:pathLst>
              <a:path w="11432345" h="937846">
                <a:moveTo>
                  <a:pt x="112542" y="0"/>
                </a:moveTo>
                <a:lnTo>
                  <a:pt x="11319803" y="0"/>
                </a:lnTo>
                <a:cubicBezTo>
                  <a:pt x="11381958" y="0"/>
                  <a:pt x="11432345" y="50387"/>
                  <a:pt x="11432345" y="112542"/>
                </a:cubicBezTo>
                <a:lnTo>
                  <a:pt x="11432345" y="825305"/>
                </a:lnTo>
                <a:cubicBezTo>
                  <a:pt x="11432345" y="887460"/>
                  <a:pt x="11381958" y="937846"/>
                  <a:pt x="11319803" y="937846"/>
                </a:cubicBezTo>
                <a:lnTo>
                  <a:pt x="112542" y="937846"/>
                </a:lnTo>
                <a:cubicBezTo>
                  <a:pt x="50387" y="937846"/>
                  <a:pt x="0" y="887460"/>
                  <a:pt x="0" y="825305"/>
                </a:cubicBezTo>
                <a:lnTo>
                  <a:pt x="0" y="112542"/>
                </a:lnTo>
                <a:cubicBezTo>
                  <a:pt x="0" y="50387"/>
                  <a:pt x="50387" y="0"/>
                  <a:pt x="112542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572040" y="1590840"/>
            <a:ext cx="1113192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1" lang="en-US" sz="133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ETL (Extract, Transform, Load)</a:t>
            </a:r>
            <a:r>
              <a:rPr b="0" lang="en-US" sz="133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 is the fundamental process that moves data from multiple source systems to a centralized destination, enabling organizations to consolidate, clean, and prepare data for analysis and decision-making.</a:t>
            </a:r>
            <a:endParaRPr b="0" lang="en-US" sz="13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5"/>
          <p:cNvSpPr/>
          <p:nvPr/>
        </p:nvSpPr>
        <p:spPr>
          <a:xfrm>
            <a:off x="393840" y="2486520"/>
            <a:ext cx="6770880" cy="1331280"/>
          </a:xfrm>
          <a:custGeom>
            <a:avLst/>
            <a:gdLst>
              <a:gd name="textAreaLeft" fmla="*/ 0 w 6770880"/>
              <a:gd name="textAreaRight" fmla="*/ 6771240 w 6770880"/>
              <a:gd name="textAreaTop" fmla="*/ 0 h 1331280"/>
              <a:gd name="textAreaBottom" fmla="*/ 1331640 h 1331280"/>
            </a:gdLst>
            <a:ahLst/>
            <a:rect l="textAreaLeft" t="textAreaTop" r="textAreaRight" b="textAreaBottom"/>
            <a:pathLst>
              <a:path w="6771249" h="1331742">
                <a:moveTo>
                  <a:pt x="0" y="0"/>
                </a:moveTo>
                <a:lnTo>
                  <a:pt x="6696219" y="0"/>
                </a:lnTo>
                <a:cubicBezTo>
                  <a:pt x="6737657" y="0"/>
                  <a:pt x="6771249" y="33592"/>
                  <a:pt x="6771249" y="75030"/>
                </a:cubicBezTo>
                <a:lnTo>
                  <a:pt x="6771249" y="1256711"/>
                </a:lnTo>
                <a:cubicBezTo>
                  <a:pt x="6771249" y="1298149"/>
                  <a:pt x="6737657" y="1331742"/>
                  <a:pt x="6696219" y="1331742"/>
                </a:cubicBezTo>
                <a:lnTo>
                  <a:pt x="0" y="1331742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393840" y="2486520"/>
            <a:ext cx="37080" cy="1331280"/>
          </a:xfrm>
          <a:custGeom>
            <a:avLst/>
            <a:gdLst>
              <a:gd name="textAreaLeft" fmla="*/ 0 w 37080"/>
              <a:gd name="textAreaRight" fmla="*/ 37440 w 37080"/>
              <a:gd name="textAreaTop" fmla="*/ 0 h 1331280"/>
              <a:gd name="textAreaBottom" fmla="*/ 1331640 h 1331280"/>
            </a:gdLst>
            <a:ahLst/>
            <a:rect l="textAreaLeft" t="textAreaTop" r="textAreaRight" b="textAreaBottom"/>
            <a:pathLst>
              <a:path w="37514" h="1331742">
                <a:moveTo>
                  <a:pt x="0" y="0"/>
                </a:moveTo>
                <a:lnTo>
                  <a:pt x="37514" y="0"/>
                </a:lnTo>
                <a:lnTo>
                  <a:pt x="37514" y="1331742"/>
                </a:lnTo>
                <a:lnTo>
                  <a:pt x="0" y="1331742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7"/>
          <p:cNvSpPr/>
          <p:nvPr/>
        </p:nvSpPr>
        <p:spPr>
          <a:xfrm>
            <a:off x="562680" y="2683440"/>
            <a:ext cx="374760" cy="374760"/>
          </a:xfrm>
          <a:custGeom>
            <a:avLst/>
            <a:gdLst>
              <a:gd name="textAreaLeft" fmla="*/ 0 w 374760"/>
              <a:gd name="textAreaRight" fmla="*/ 375120 w 374760"/>
              <a:gd name="textAreaTop" fmla="*/ 0 h 374760"/>
              <a:gd name="textAreaBottom" fmla="*/ 375120 h 374760"/>
            </a:gdLst>
            <a:ahLst/>
            <a:rect l="textAreaLeft" t="textAreaTop" r="textAreaRight" b="textAreaBottom"/>
            <a:pathLst>
              <a:path w="375138" h="375138">
                <a:moveTo>
                  <a:pt x="187569" y="0"/>
                </a:moveTo>
                <a:lnTo>
                  <a:pt x="187569" y="0"/>
                </a:lnTo>
                <a:cubicBezTo>
                  <a:pt x="291092" y="0"/>
                  <a:pt x="375138" y="84047"/>
                  <a:pt x="375138" y="187569"/>
                </a:cubicBezTo>
                <a:lnTo>
                  <a:pt x="375138" y="187569"/>
                </a:lnTo>
                <a:cubicBezTo>
                  <a:pt x="375138" y="291092"/>
                  <a:pt x="291092" y="375138"/>
                  <a:pt x="187569" y="375138"/>
                </a:cubicBezTo>
                <a:lnTo>
                  <a:pt x="187569" y="375138"/>
                </a:lnTo>
                <a:cubicBezTo>
                  <a:pt x="84047" y="375138"/>
                  <a:pt x="0" y="291092"/>
                  <a:pt x="0" y="187569"/>
                </a:cubicBezTo>
                <a:lnTo>
                  <a:pt x="0" y="187569"/>
                </a:lnTo>
                <a:cubicBezTo>
                  <a:pt x="0" y="84047"/>
                  <a:pt x="84047" y="0"/>
                  <a:pt x="187569" y="0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515880" y="2683440"/>
            <a:ext cx="4687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470" spc="-1" strike="noStrike">
                <a:solidFill>
                  <a:srgbClr val="1a1d21"/>
                </a:solidFill>
                <a:latin typeface="Quattrocento Sans"/>
                <a:ea typeface="Quattrocento Sans"/>
              </a:rPr>
              <a:t>1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1050480" y="2739960"/>
            <a:ext cx="68436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470" spc="-1" strike="noStrike">
                <a:solidFill>
                  <a:srgbClr val="4db6ac"/>
                </a:solidFill>
                <a:latin typeface="Liter"/>
                <a:ea typeface="Liter"/>
              </a:rPr>
              <a:t>Extract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562680" y="3133800"/>
            <a:ext cx="652716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18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Pull raw data from diverse sources including databases, APIs, files, and streaming platforms. Handle various formats and protocols.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11"/>
          <p:cNvSpPr/>
          <p:nvPr/>
        </p:nvSpPr>
        <p:spPr>
          <a:xfrm>
            <a:off x="393840" y="3930840"/>
            <a:ext cx="6770880" cy="1331280"/>
          </a:xfrm>
          <a:custGeom>
            <a:avLst/>
            <a:gdLst>
              <a:gd name="textAreaLeft" fmla="*/ 0 w 6770880"/>
              <a:gd name="textAreaRight" fmla="*/ 6771240 w 6770880"/>
              <a:gd name="textAreaTop" fmla="*/ 0 h 1331280"/>
              <a:gd name="textAreaBottom" fmla="*/ 1331640 h 1331280"/>
            </a:gdLst>
            <a:ahLst/>
            <a:rect l="textAreaLeft" t="textAreaTop" r="textAreaRight" b="textAreaBottom"/>
            <a:pathLst>
              <a:path w="6771249" h="1331742">
                <a:moveTo>
                  <a:pt x="0" y="0"/>
                </a:moveTo>
                <a:lnTo>
                  <a:pt x="6696219" y="0"/>
                </a:lnTo>
                <a:cubicBezTo>
                  <a:pt x="6737657" y="0"/>
                  <a:pt x="6771249" y="33592"/>
                  <a:pt x="6771249" y="75030"/>
                </a:cubicBezTo>
                <a:lnTo>
                  <a:pt x="6771249" y="1256711"/>
                </a:lnTo>
                <a:cubicBezTo>
                  <a:pt x="6771249" y="1298149"/>
                  <a:pt x="6737657" y="1331742"/>
                  <a:pt x="6696219" y="1331742"/>
                </a:cubicBezTo>
                <a:lnTo>
                  <a:pt x="0" y="1331742"/>
                </a:lnTo>
                <a:lnTo>
                  <a:pt x="0" y="0"/>
                </a:lnTo>
                <a:close/>
              </a:path>
            </a:pathLst>
          </a:custGeom>
          <a:solidFill>
            <a:srgbClr val="ff8a65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393840" y="3930840"/>
            <a:ext cx="37080" cy="1331280"/>
          </a:xfrm>
          <a:custGeom>
            <a:avLst/>
            <a:gdLst>
              <a:gd name="textAreaLeft" fmla="*/ 0 w 37080"/>
              <a:gd name="textAreaRight" fmla="*/ 37440 w 37080"/>
              <a:gd name="textAreaTop" fmla="*/ 0 h 1331280"/>
              <a:gd name="textAreaBottom" fmla="*/ 1331640 h 1331280"/>
            </a:gdLst>
            <a:ahLst/>
            <a:rect l="textAreaLeft" t="textAreaTop" r="textAreaRight" b="textAreaBottom"/>
            <a:pathLst>
              <a:path w="37514" h="1331742">
                <a:moveTo>
                  <a:pt x="0" y="0"/>
                </a:moveTo>
                <a:lnTo>
                  <a:pt x="37514" y="0"/>
                </a:lnTo>
                <a:lnTo>
                  <a:pt x="37514" y="1331742"/>
                </a:lnTo>
                <a:lnTo>
                  <a:pt x="0" y="1331742"/>
                </a:lnTo>
                <a:lnTo>
                  <a:pt x="0" y="0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3"/>
          <p:cNvSpPr/>
          <p:nvPr/>
        </p:nvSpPr>
        <p:spPr>
          <a:xfrm>
            <a:off x="562680" y="4127760"/>
            <a:ext cx="374760" cy="374760"/>
          </a:xfrm>
          <a:custGeom>
            <a:avLst/>
            <a:gdLst>
              <a:gd name="textAreaLeft" fmla="*/ 0 w 374760"/>
              <a:gd name="textAreaRight" fmla="*/ 375120 w 374760"/>
              <a:gd name="textAreaTop" fmla="*/ 0 h 374760"/>
              <a:gd name="textAreaBottom" fmla="*/ 375120 h 374760"/>
            </a:gdLst>
            <a:ahLst/>
            <a:rect l="textAreaLeft" t="textAreaTop" r="textAreaRight" b="textAreaBottom"/>
            <a:pathLst>
              <a:path w="375138" h="375138">
                <a:moveTo>
                  <a:pt x="187569" y="0"/>
                </a:moveTo>
                <a:lnTo>
                  <a:pt x="187569" y="0"/>
                </a:lnTo>
                <a:cubicBezTo>
                  <a:pt x="291092" y="0"/>
                  <a:pt x="375138" y="84047"/>
                  <a:pt x="375138" y="187569"/>
                </a:cubicBezTo>
                <a:lnTo>
                  <a:pt x="375138" y="187569"/>
                </a:lnTo>
                <a:cubicBezTo>
                  <a:pt x="375138" y="291092"/>
                  <a:pt x="291092" y="375138"/>
                  <a:pt x="187569" y="375138"/>
                </a:cubicBezTo>
                <a:lnTo>
                  <a:pt x="187569" y="375138"/>
                </a:lnTo>
                <a:cubicBezTo>
                  <a:pt x="84047" y="375138"/>
                  <a:pt x="0" y="291092"/>
                  <a:pt x="0" y="187569"/>
                </a:cubicBezTo>
                <a:lnTo>
                  <a:pt x="0" y="187569"/>
                </a:lnTo>
                <a:cubicBezTo>
                  <a:pt x="0" y="84047"/>
                  <a:pt x="84047" y="0"/>
                  <a:pt x="187569" y="0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515880" y="4127760"/>
            <a:ext cx="4687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470" spc="-1" strike="noStrike">
                <a:solidFill>
                  <a:srgbClr val="1a1d21"/>
                </a:solidFill>
                <a:latin typeface="Quattrocento Sans"/>
                <a:ea typeface="Quattrocento Sans"/>
              </a:rPr>
              <a:t>2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1050480" y="4184280"/>
            <a:ext cx="95616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470" spc="-1" strike="noStrike">
                <a:solidFill>
                  <a:srgbClr val="ff8a65"/>
                </a:solidFill>
                <a:latin typeface="Liter"/>
                <a:ea typeface="Liter"/>
              </a:rPr>
              <a:t>Transform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6"/>
          <p:cNvSpPr/>
          <p:nvPr/>
        </p:nvSpPr>
        <p:spPr>
          <a:xfrm>
            <a:off x="562680" y="4578120"/>
            <a:ext cx="652716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18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Clean, validate, and structure data through filtering, aggregation, joining, and business rule application. Ensure quality and consistency.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17"/>
          <p:cNvSpPr/>
          <p:nvPr/>
        </p:nvSpPr>
        <p:spPr>
          <a:xfrm>
            <a:off x="393840" y="5375160"/>
            <a:ext cx="6770880" cy="1331280"/>
          </a:xfrm>
          <a:custGeom>
            <a:avLst/>
            <a:gdLst>
              <a:gd name="textAreaLeft" fmla="*/ 0 w 6770880"/>
              <a:gd name="textAreaRight" fmla="*/ 6771240 w 6770880"/>
              <a:gd name="textAreaTop" fmla="*/ 0 h 1331280"/>
              <a:gd name="textAreaBottom" fmla="*/ 1331640 h 1331280"/>
            </a:gdLst>
            <a:ahLst/>
            <a:rect l="textAreaLeft" t="textAreaTop" r="textAreaRight" b="textAreaBottom"/>
            <a:pathLst>
              <a:path w="6771249" h="1331742">
                <a:moveTo>
                  <a:pt x="0" y="0"/>
                </a:moveTo>
                <a:lnTo>
                  <a:pt x="6696219" y="0"/>
                </a:lnTo>
                <a:cubicBezTo>
                  <a:pt x="6737657" y="0"/>
                  <a:pt x="6771249" y="33592"/>
                  <a:pt x="6771249" y="75030"/>
                </a:cubicBezTo>
                <a:lnTo>
                  <a:pt x="6771249" y="1256711"/>
                </a:lnTo>
                <a:cubicBezTo>
                  <a:pt x="6771249" y="1298149"/>
                  <a:pt x="6737657" y="1331742"/>
                  <a:pt x="6696219" y="1331742"/>
                </a:cubicBezTo>
                <a:lnTo>
                  <a:pt x="0" y="1331742"/>
                </a:lnTo>
                <a:lnTo>
                  <a:pt x="0" y="0"/>
                </a:lnTo>
                <a:close/>
              </a:path>
            </a:pathLst>
          </a:custGeom>
          <a:solidFill>
            <a:srgbClr val="607d8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18"/>
          <p:cNvSpPr/>
          <p:nvPr/>
        </p:nvSpPr>
        <p:spPr>
          <a:xfrm>
            <a:off x="393840" y="5375160"/>
            <a:ext cx="37080" cy="1331280"/>
          </a:xfrm>
          <a:custGeom>
            <a:avLst/>
            <a:gdLst>
              <a:gd name="textAreaLeft" fmla="*/ 0 w 37080"/>
              <a:gd name="textAreaRight" fmla="*/ 37440 w 37080"/>
              <a:gd name="textAreaTop" fmla="*/ 0 h 1331280"/>
              <a:gd name="textAreaBottom" fmla="*/ 1331640 h 1331280"/>
            </a:gdLst>
            <a:ahLst/>
            <a:rect l="textAreaLeft" t="textAreaTop" r="textAreaRight" b="textAreaBottom"/>
            <a:pathLst>
              <a:path w="37514" h="1331742">
                <a:moveTo>
                  <a:pt x="0" y="0"/>
                </a:moveTo>
                <a:lnTo>
                  <a:pt x="37514" y="0"/>
                </a:lnTo>
                <a:lnTo>
                  <a:pt x="37514" y="1331742"/>
                </a:lnTo>
                <a:lnTo>
                  <a:pt x="0" y="1331742"/>
                </a:lnTo>
                <a:lnTo>
                  <a:pt x="0" y="0"/>
                </a:ln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19"/>
          <p:cNvSpPr/>
          <p:nvPr/>
        </p:nvSpPr>
        <p:spPr>
          <a:xfrm>
            <a:off x="562680" y="5572080"/>
            <a:ext cx="374760" cy="374760"/>
          </a:xfrm>
          <a:custGeom>
            <a:avLst/>
            <a:gdLst>
              <a:gd name="textAreaLeft" fmla="*/ 0 w 374760"/>
              <a:gd name="textAreaRight" fmla="*/ 375120 w 374760"/>
              <a:gd name="textAreaTop" fmla="*/ 0 h 374760"/>
              <a:gd name="textAreaBottom" fmla="*/ 375120 h 374760"/>
            </a:gdLst>
            <a:ahLst/>
            <a:rect l="textAreaLeft" t="textAreaTop" r="textAreaRight" b="textAreaBottom"/>
            <a:pathLst>
              <a:path w="375138" h="375138">
                <a:moveTo>
                  <a:pt x="187569" y="0"/>
                </a:moveTo>
                <a:lnTo>
                  <a:pt x="187569" y="0"/>
                </a:lnTo>
                <a:cubicBezTo>
                  <a:pt x="291092" y="0"/>
                  <a:pt x="375138" y="84047"/>
                  <a:pt x="375138" y="187569"/>
                </a:cubicBezTo>
                <a:lnTo>
                  <a:pt x="375138" y="187569"/>
                </a:lnTo>
                <a:cubicBezTo>
                  <a:pt x="375138" y="291092"/>
                  <a:pt x="291092" y="375138"/>
                  <a:pt x="187569" y="375138"/>
                </a:cubicBezTo>
                <a:lnTo>
                  <a:pt x="187569" y="375138"/>
                </a:lnTo>
                <a:cubicBezTo>
                  <a:pt x="84047" y="375138"/>
                  <a:pt x="0" y="291092"/>
                  <a:pt x="0" y="187569"/>
                </a:cubicBezTo>
                <a:lnTo>
                  <a:pt x="0" y="187569"/>
                </a:lnTo>
                <a:cubicBezTo>
                  <a:pt x="0" y="84047"/>
                  <a:pt x="84047" y="0"/>
                  <a:pt x="187569" y="0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20"/>
          <p:cNvSpPr/>
          <p:nvPr/>
        </p:nvSpPr>
        <p:spPr>
          <a:xfrm>
            <a:off x="515880" y="5572080"/>
            <a:ext cx="4687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47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3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21"/>
          <p:cNvSpPr/>
          <p:nvPr/>
        </p:nvSpPr>
        <p:spPr>
          <a:xfrm>
            <a:off x="1050480" y="5628600"/>
            <a:ext cx="50616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470" spc="-1" strike="noStrike">
                <a:solidFill>
                  <a:srgbClr val="607d8b"/>
                </a:solidFill>
                <a:latin typeface="Liter"/>
                <a:ea typeface="Liter"/>
              </a:rPr>
              <a:t>Load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22"/>
          <p:cNvSpPr/>
          <p:nvPr/>
        </p:nvSpPr>
        <p:spPr>
          <a:xfrm>
            <a:off x="562680" y="6022440"/>
            <a:ext cx="652716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18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Insert processed data into target systems like data warehouses or lakes. Support both batch and real-time loading patterns.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23"/>
          <p:cNvSpPr/>
          <p:nvPr/>
        </p:nvSpPr>
        <p:spPr>
          <a:xfrm>
            <a:off x="7315560" y="2491200"/>
            <a:ext cx="4492080" cy="4210560"/>
          </a:xfrm>
          <a:custGeom>
            <a:avLst/>
            <a:gdLst>
              <a:gd name="textAreaLeft" fmla="*/ 0 w 4492080"/>
              <a:gd name="textAreaRight" fmla="*/ 4492440 w 4492080"/>
              <a:gd name="textAreaTop" fmla="*/ 0 h 4210560"/>
              <a:gd name="textAreaBottom" fmla="*/ 4210920 h 4210560"/>
            </a:gdLst>
            <a:ahLst/>
            <a:rect l="textAreaLeft" t="textAreaTop" r="textAreaRight" b="textAreaBottom"/>
            <a:pathLst>
              <a:path w="4492283" h="4210929">
                <a:moveTo>
                  <a:pt x="112558" y="0"/>
                </a:moveTo>
                <a:lnTo>
                  <a:pt x="4379725" y="0"/>
                </a:lnTo>
                <a:cubicBezTo>
                  <a:pt x="4441889" y="0"/>
                  <a:pt x="4492283" y="50394"/>
                  <a:pt x="4492283" y="112558"/>
                </a:cubicBezTo>
                <a:lnTo>
                  <a:pt x="4492283" y="4098371"/>
                </a:lnTo>
                <a:cubicBezTo>
                  <a:pt x="4492283" y="4160535"/>
                  <a:pt x="4441889" y="4210929"/>
                  <a:pt x="4379725" y="4210929"/>
                </a:cubicBezTo>
                <a:lnTo>
                  <a:pt x="112558" y="4210929"/>
                </a:lnTo>
                <a:cubicBezTo>
                  <a:pt x="50394" y="4210929"/>
                  <a:pt x="0" y="4160535"/>
                  <a:pt x="0" y="4098371"/>
                </a:cubicBezTo>
                <a:lnTo>
                  <a:pt x="0" y="112558"/>
                </a:lnTo>
                <a:cubicBezTo>
                  <a:pt x="0" y="50436"/>
                  <a:pt x="50436" y="0"/>
                  <a:pt x="112558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24"/>
          <p:cNvSpPr/>
          <p:nvPr/>
        </p:nvSpPr>
        <p:spPr>
          <a:xfrm>
            <a:off x="7465680" y="2683440"/>
            <a:ext cx="4191840" cy="2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1" lang="en-US" sz="1330" spc="-1" strike="noStrike">
                <a:solidFill>
                  <a:srgbClr val="4db6ac"/>
                </a:solidFill>
                <a:latin typeface="Liter"/>
                <a:ea typeface="Liter"/>
              </a:rPr>
              <a:t>ETL Process Flow</a:t>
            </a:r>
            <a:endParaRPr b="0" lang="en-US" sz="13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25"/>
          <p:cNvSpPr/>
          <p:nvPr/>
        </p:nvSpPr>
        <p:spPr>
          <a:xfrm>
            <a:off x="7517160" y="3068280"/>
            <a:ext cx="506160" cy="506160"/>
          </a:xfrm>
          <a:custGeom>
            <a:avLst/>
            <a:gdLst>
              <a:gd name="textAreaLeft" fmla="*/ 0 w 506160"/>
              <a:gd name="textAreaRight" fmla="*/ 506520 w 506160"/>
              <a:gd name="textAreaTop" fmla="*/ 0 h 506160"/>
              <a:gd name="textAreaBottom" fmla="*/ 506520 h 506160"/>
            </a:gdLst>
            <a:ahLst/>
            <a:rect l="textAreaLeft" t="textAreaTop" r="textAreaRight" b="textAreaBottom"/>
            <a:pathLst>
              <a:path w="506437" h="506437">
                <a:moveTo>
                  <a:pt x="75029" y="0"/>
                </a:moveTo>
                <a:lnTo>
                  <a:pt x="431408" y="0"/>
                </a:lnTo>
                <a:cubicBezTo>
                  <a:pt x="472845" y="0"/>
                  <a:pt x="506437" y="33591"/>
                  <a:pt x="506437" y="75029"/>
                </a:cubicBezTo>
                <a:lnTo>
                  <a:pt x="506437" y="431408"/>
                </a:lnTo>
                <a:cubicBezTo>
                  <a:pt x="506437" y="472845"/>
                  <a:pt x="472845" y="506437"/>
                  <a:pt x="431408" y="506437"/>
                </a:cubicBezTo>
                <a:lnTo>
                  <a:pt x="75029" y="506437"/>
                </a:lnTo>
                <a:cubicBezTo>
                  <a:pt x="33591" y="506437"/>
                  <a:pt x="0" y="472845"/>
                  <a:pt x="0" y="431408"/>
                </a:cubicBezTo>
                <a:lnTo>
                  <a:pt x="0" y="75029"/>
                </a:lnTo>
                <a:cubicBezTo>
                  <a:pt x="0" y="33591"/>
                  <a:pt x="33591" y="0"/>
                  <a:pt x="7502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25400">
            <a:solidFill>
              <a:srgbClr val="4db6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26"/>
          <p:cNvSpPr/>
          <p:nvPr/>
        </p:nvSpPr>
        <p:spPr>
          <a:xfrm>
            <a:off x="7688520" y="3227400"/>
            <a:ext cx="163800" cy="187200"/>
          </a:xfrm>
          <a:custGeom>
            <a:avLst/>
            <a:gdLst>
              <a:gd name="textAreaLeft" fmla="*/ 0 w 163800"/>
              <a:gd name="textAreaRight" fmla="*/ 164160 w 163800"/>
              <a:gd name="textAreaTop" fmla="*/ 0 h 187200"/>
              <a:gd name="textAreaBottom" fmla="*/ 187560 h 187200"/>
            </a:gdLst>
            <a:ahLst/>
            <a:rect l="textAreaLeft" t="textAreaTop" r="textAreaRight" b="textAreaBottom"/>
            <a:pathLst>
              <a:path w="164123" h="187569">
                <a:moveTo>
                  <a:pt x="164123" y="75394"/>
                </a:moveTo>
                <a:cubicBezTo>
                  <a:pt x="158701" y="78984"/>
                  <a:pt x="152473" y="81878"/>
                  <a:pt x="145989" y="84186"/>
                </a:cubicBezTo>
                <a:cubicBezTo>
                  <a:pt x="128771" y="90341"/>
                  <a:pt x="106167" y="93785"/>
                  <a:pt x="82062" y="93785"/>
                </a:cubicBezTo>
                <a:cubicBezTo>
                  <a:pt x="57956" y="93785"/>
                  <a:pt x="35316" y="90304"/>
                  <a:pt x="18134" y="84186"/>
                </a:cubicBezTo>
                <a:cubicBezTo>
                  <a:pt x="11686" y="81878"/>
                  <a:pt x="5422" y="78984"/>
                  <a:pt x="0" y="75394"/>
                </a:cubicBezTo>
                <a:lnTo>
                  <a:pt x="0" y="105508"/>
                </a:lnTo>
                <a:cubicBezTo>
                  <a:pt x="0" y="121700"/>
                  <a:pt x="36745" y="134815"/>
                  <a:pt x="82062" y="134815"/>
                </a:cubicBezTo>
                <a:cubicBezTo>
                  <a:pt x="127379" y="134815"/>
                  <a:pt x="164123" y="121700"/>
                  <a:pt x="164123" y="105508"/>
                </a:cubicBezTo>
                <a:lnTo>
                  <a:pt x="164123" y="75394"/>
                </a:lnTo>
                <a:close/>
                <a:moveTo>
                  <a:pt x="164123" y="46892"/>
                </a:moveTo>
                <a:lnTo>
                  <a:pt x="164123" y="29308"/>
                </a:lnTo>
                <a:cubicBezTo>
                  <a:pt x="164123" y="13115"/>
                  <a:pt x="127379" y="0"/>
                  <a:pt x="82062" y="0"/>
                </a:cubicBezTo>
                <a:cubicBezTo>
                  <a:pt x="36745" y="0"/>
                  <a:pt x="0" y="13115"/>
                  <a:pt x="0" y="29308"/>
                </a:cubicBezTo>
                <a:lnTo>
                  <a:pt x="0" y="46892"/>
                </a:lnTo>
                <a:cubicBezTo>
                  <a:pt x="0" y="63085"/>
                  <a:pt x="36745" y="76200"/>
                  <a:pt x="82062" y="76200"/>
                </a:cubicBezTo>
                <a:cubicBezTo>
                  <a:pt x="127379" y="76200"/>
                  <a:pt x="164123" y="63085"/>
                  <a:pt x="164123" y="46892"/>
                </a:cubicBezTo>
                <a:close/>
                <a:moveTo>
                  <a:pt x="145989" y="142802"/>
                </a:moveTo>
                <a:cubicBezTo>
                  <a:pt x="128807" y="148920"/>
                  <a:pt x="106204" y="152400"/>
                  <a:pt x="82062" y="152400"/>
                </a:cubicBezTo>
                <a:cubicBezTo>
                  <a:pt x="57919" y="152400"/>
                  <a:pt x="35316" y="148920"/>
                  <a:pt x="18134" y="142802"/>
                </a:cubicBezTo>
                <a:cubicBezTo>
                  <a:pt x="11686" y="140494"/>
                  <a:pt x="5422" y="137600"/>
                  <a:pt x="0" y="134009"/>
                </a:cubicBezTo>
                <a:lnTo>
                  <a:pt x="0" y="158262"/>
                </a:lnTo>
                <a:cubicBezTo>
                  <a:pt x="0" y="174454"/>
                  <a:pt x="36745" y="187569"/>
                  <a:pt x="82062" y="187569"/>
                </a:cubicBezTo>
                <a:cubicBezTo>
                  <a:pt x="127379" y="187569"/>
                  <a:pt x="164123" y="174454"/>
                  <a:pt x="164123" y="158262"/>
                </a:cubicBezTo>
                <a:lnTo>
                  <a:pt x="164123" y="134009"/>
                </a:lnTo>
                <a:cubicBezTo>
                  <a:pt x="158701" y="137600"/>
                  <a:pt x="152473" y="140494"/>
                  <a:pt x="145989" y="142802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27"/>
          <p:cNvSpPr/>
          <p:nvPr/>
        </p:nvSpPr>
        <p:spPr>
          <a:xfrm>
            <a:off x="8145720" y="3077640"/>
            <a:ext cx="3469680" cy="487440"/>
          </a:xfrm>
          <a:custGeom>
            <a:avLst/>
            <a:gdLst>
              <a:gd name="textAreaLeft" fmla="*/ 0 w 3469680"/>
              <a:gd name="textAreaRight" fmla="*/ 3470040 w 3469680"/>
              <a:gd name="textAreaTop" fmla="*/ 0 h 487440"/>
              <a:gd name="textAreaBottom" fmla="*/ 487800 h 487440"/>
            </a:gdLst>
            <a:ahLst/>
            <a:rect l="textAreaLeft" t="textAreaTop" r="textAreaRight" b="textAreaBottom"/>
            <a:pathLst>
              <a:path w="3470031" h="487680">
                <a:moveTo>
                  <a:pt x="75030" y="0"/>
                </a:moveTo>
                <a:lnTo>
                  <a:pt x="3395001" y="0"/>
                </a:lnTo>
                <a:cubicBezTo>
                  <a:pt x="3436439" y="0"/>
                  <a:pt x="3470031" y="33592"/>
                  <a:pt x="3470031" y="75030"/>
                </a:cubicBezTo>
                <a:lnTo>
                  <a:pt x="3470031" y="412650"/>
                </a:lnTo>
                <a:cubicBezTo>
                  <a:pt x="3470031" y="454088"/>
                  <a:pt x="3436439" y="487680"/>
                  <a:pt x="3395001" y="487680"/>
                </a:cubicBezTo>
                <a:lnTo>
                  <a:pt x="75030" y="487680"/>
                </a:lnTo>
                <a:cubicBezTo>
                  <a:pt x="33592" y="487680"/>
                  <a:pt x="0" y="454088"/>
                  <a:pt x="0" y="412650"/>
                </a:cubicBezTo>
                <a:lnTo>
                  <a:pt x="0" y="75030"/>
                </a:lnTo>
                <a:cubicBezTo>
                  <a:pt x="0" y="33592"/>
                  <a:pt x="33592" y="0"/>
                  <a:pt x="75030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28"/>
          <p:cNvSpPr/>
          <p:nvPr/>
        </p:nvSpPr>
        <p:spPr>
          <a:xfrm>
            <a:off x="8220600" y="3152520"/>
            <a:ext cx="3385440" cy="1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3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Data Sources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29"/>
          <p:cNvSpPr/>
          <p:nvPr/>
        </p:nvSpPr>
        <p:spPr>
          <a:xfrm>
            <a:off x="8220600" y="3340080"/>
            <a:ext cx="3375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0" lang="en-US" sz="88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DBs, APIs, Files, Streams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30"/>
          <p:cNvSpPr/>
          <p:nvPr/>
        </p:nvSpPr>
        <p:spPr>
          <a:xfrm>
            <a:off x="9477360" y="3696480"/>
            <a:ext cx="168480" cy="224640"/>
          </a:xfrm>
          <a:custGeom>
            <a:avLst/>
            <a:gdLst>
              <a:gd name="textAreaLeft" fmla="*/ 0 w 168480"/>
              <a:gd name="textAreaRight" fmla="*/ 168840 w 168480"/>
              <a:gd name="textAreaTop" fmla="*/ 0 h 224640"/>
              <a:gd name="textAreaBottom" fmla="*/ 225000 h 224640"/>
            </a:gdLst>
            <a:ahLst/>
            <a:rect l="textAreaLeft" t="textAreaTop" r="textAreaRight" b="textAreaBottom"/>
            <a:pathLst>
              <a:path w="168812" h="225083">
                <a:moveTo>
                  <a:pt x="74471" y="220951"/>
                </a:moveTo>
                <a:cubicBezTo>
                  <a:pt x="79966" y="226446"/>
                  <a:pt x="88890" y="226446"/>
                  <a:pt x="94385" y="220951"/>
                </a:cubicBezTo>
                <a:lnTo>
                  <a:pt x="164724" y="150612"/>
                </a:lnTo>
                <a:cubicBezTo>
                  <a:pt x="170219" y="145117"/>
                  <a:pt x="170219" y="136193"/>
                  <a:pt x="164724" y="130698"/>
                </a:cubicBezTo>
                <a:cubicBezTo>
                  <a:pt x="159229" y="125202"/>
                  <a:pt x="150305" y="125202"/>
                  <a:pt x="144809" y="130698"/>
                </a:cubicBezTo>
                <a:lnTo>
                  <a:pt x="98474" y="177033"/>
                </a:lnTo>
                <a:lnTo>
                  <a:pt x="98474" y="14068"/>
                </a:lnTo>
                <a:cubicBezTo>
                  <a:pt x="98474" y="6287"/>
                  <a:pt x="92187" y="0"/>
                  <a:pt x="84406" y="0"/>
                </a:cubicBezTo>
                <a:cubicBezTo>
                  <a:pt x="76625" y="0"/>
                  <a:pt x="70338" y="6287"/>
                  <a:pt x="70338" y="14068"/>
                </a:cubicBezTo>
                <a:lnTo>
                  <a:pt x="70338" y="177033"/>
                </a:lnTo>
                <a:lnTo>
                  <a:pt x="24003" y="130698"/>
                </a:lnTo>
                <a:cubicBezTo>
                  <a:pt x="18508" y="125202"/>
                  <a:pt x="9584" y="125202"/>
                  <a:pt x="4088" y="130698"/>
                </a:cubicBezTo>
                <a:cubicBezTo>
                  <a:pt x="-1407" y="136193"/>
                  <a:pt x="-1407" y="145117"/>
                  <a:pt x="4088" y="150612"/>
                </a:cubicBezTo>
                <a:lnTo>
                  <a:pt x="74427" y="220951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31"/>
          <p:cNvSpPr/>
          <p:nvPr/>
        </p:nvSpPr>
        <p:spPr>
          <a:xfrm>
            <a:off x="7517160" y="4043520"/>
            <a:ext cx="506160" cy="506160"/>
          </a:xfrm>
          <a:custGeom>
            <a:avLst/>
            <a:gdLst>
              <a:gd name="textAreaLeft" fmla="*/ 0 w 506160"/>
              <a:gd name="textAreaRight" fmla="*/ 506520 w 506160"/>
              <a:gd name="textAreaTop" fmla="*/ 0 h 506160"/>
              <a:gd name="textAreaBottom" fmla="*/ 506520 h 506160"/>
            </a:gdLst>
            <a:ahLst/>
            <a:rect l="textAreaLeft" t="textAreaTop" r="textAreaRight" b="textAreaBottom"/>
            <a:pathLst>
              <a:path w="506437" h="506437">
                <a:moveTo>
                  <a:pt x="75029" y="0"/>
                </a:moveTo>
                <a:lnTo>
                  <a:pt x="431408" y="0"/>
                </a:lnTo>
                <a:cubicBezTo>
                  <a:pt x="472845" y="0"/>
                  <a:pt x="506437" y="33591"/>
                  <a:pt x="506437" y="75029"/>
                </a:cubicBezTo>
                <a:lnTo>
                  <a:pt x="506437" y="431408"/>
                </a:lnTo>
                <a:cubicBezTo>
                  <a:pt x="506437" y="472845"/>
                  <a:pt x="472845" y="506437"/>
                  <a:pt x="431408" y="506437"/>
                </a:cubicBezTo>
                <a:lnTo>
                  <a:pt x="75029" y="506437"/>
                </a:lnTo>
                <a:cubicBezTo>
                  <a:pt x="33591" y="506437"/>
                  <a:pt x="0" y="472845"/>
                  <a:pt x="0" y="431408"/>
                </a:cubicBezTo>
                <a:lnTo>
                  <a:pt x="0" y="75029"/>
                </a:lnTo>
                <a:cubicBezTo>
                  <a:pt x="0" y="33591"/>
                  <a:pt x="33591" y="0"/>
                  <a:pt x="75029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25400">
            <a:solidFill>
              <a:srgbClr val="ff8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32"/>
          <p:cNvSpPr/>
          <p:nvPr/>
        </p:nvSpPr>
        <p:spPr>
          <a:xfrm>
            <a:off x="7653240" y="4203000"/>
            <a:ext cx="234000" cy="187200"/>
          </a:xfrm>
          <a:custGeom>
            <a:avLst/>
            <a:gdLst>
              <a:gd name="textAreaLeft" fmla="*/ 0 w 234000"/>
              <a:gd name="textAreaRight" fmla="*/ 234360 w 234000"/>
              <a:gd name="textAreaTop" fmla="*/ 0 h 187200"/>
              <a:gd name="textAreaBottom" fmla="*/ 187560 h 187200"/>
            </a:gdLst>
            <a:ahLst/>
            <a:rect l="textAreaLeft" t="textAreaTop" r="textAreaRight" b="textAreaBottom"/>
            <a:pathLst>
              <a:path w="234462" h="187569">
                <a:moveTo>
                  <a:pt x="152363" y="77116"/>
                </a:moveTo>
                <a:cubicBezTo>
                  <a:pt x="156833" y="75907"/>
                  <a:pt x="161522" y="78032"/>
                  <a:pt x="163537" y="82171"/>
                </a:cubicBezTo>
                <a:lnTo>
                  <a:pt x="170351" y="95946"/>
                </a:lnTo>
                <a:cubicBezTo>
                  <a:pt x="174124" y="96459"/>
                  <a:pt x="177824" y="97485"/>
                  <a:pt x="181305" y="98913"/>
                </a:cubicBezTo>
                <a:lnTo>
                  <a:pt x="194127" y="90378"/>
                </a:lnTo>
                <a:cubicBezTo>
                  <a:pt x="197973" y="87813"/>
                  <a:pt x="203066" y="88326"/>
                  <a:pt x="206326" y="91587"/>
                </a:cubicBezTo>
                <a:lnTo>
                  <a:pt x="213360" y="98620"/>
                </a:lnTo>
                <a:cubicBezTo>
                  <a:pt x="216620" y="101881"/>
                  <a:pt x="217133" y="107010"/>
                  <a:pt x="214569" y="110820"/>
                </a:cubicBezTo>
                <a:lnTo>
                  <a:pt x="206033" y="123605"/>
                </a:lnTo>
                <a:cubicBezTo>
                  <a:pt x="206729" y="125327"/>
                  <a:pt x="207352" y="127122"/>
                  <a:pt x="207865" y="128990"/>
                </a:cubicBezTo>
                <a:cubicBezTo>
                  <a:pt x="208378" y="130859"/>
                  <a:pt x="208707" y="132691"/>
                  <a:pt x="208964" y="134559"/>
                </a:cubicBezTo>
                <a:lnTo>
                  <a:pt x="222775" y="141373"/>
                </a:lnTo>
                <a:cubicBezTo>
                  <a:pt x="226915" y="143425"/>
                  <a:pt x="229040" y="148114"/>
                  <a:pt x="227831" y="152547"/>
                </a:cubicBezTo>
                <a:lnTo>
                  <a:pt x="225266" y="162145"/>
                </a:lnTo>
                <a:cubicBezTo>
                  <a:pt x="224057" y="166578"/>
                  <a:pt x="219918" y="169582"/>
                  <a:pt x="215302" y="169289"/>
                </a:cubicBezTo>
                <a:lnTo>
                  <a:pt x="199915" y="168299"/>
                </a:lnTo>
                <a:cubicBezTo>
                  <a:pt x="197607" y="171267"/>
                  <a:pt x="194933" y="174014"/>
                  <a:pt x="191892" y="176359"/>
                </a:cubicBezTo>
                <a:lnTo>
                  <a:pt x="192881" y="191709"/>
                </a:lnTo>
                <a:cubicBezTo>
                  <a:pt x="193174" y="196325"/>
                  <a:pt x="190170" y="200501"/>
                  <a:pt x="185738" y="201674"/>
                </a:cubicBezTo>
                <a:lnTo>
                  <a:pt x="176139" y="204238"/>
                </a:lnTo>
                <a:cubicBezTo>
                  <a:pt x="171670" y="205447"/>
                  <a:pt x="167017" y="203322"/>
                  <a:pt x="164966" y="199182"/>
                </a:cubicBezTo>
                <a:lnTo>
                  <a:pt x="158152" y="185408"/>
                </a:lnTo>
                <a:cubicBezTo>
                  <a:pt x="154378" y="184895"/>
                  <a:pt x="150678" y="183869"/>
                  <a:pt x="147198" y="182440"/>
                </a:cubicBezTo>
                <a:lnTo>
                  <a:pt x="134376" y="190976"/>
                </a:lnTo>
                <a:cubicBezTo>
                  <a:pt x="130529" y="193541"/>
                  <a:pt x="125437" y="193028"/>
                  <a:pt x="122176" y="189767"/>
                </a:cubicBezTo>
                <a:lnTo>
                  <a:pt x="115143" y="182733"/>
                </a:lnTo>
                <a:cubicBezTo>
                  <a:pt x="111882" y="179473"/>
                  <a:pt x="111369" y="174381"/>
                  <a:pt x="113934" y="170534"/>
                </a:cubicBezTo>
                <a:lnTo>
                  <a:pt x="122470" y="157712"/>
                </a:lnTo>
                <a:cubicBezTo>
                  <a:pt x="121773" y="155990"/>
                  <a:pt x="121151" y="154195"/>
                  <a:pt x="120638" y="152327"/>
                </a:cubicBezTo>
                <a:cubicBezTo>
                  <a:pt x="120125" y="150458"/>
                  <a:pt x="119795" y="148590"/>
                  <a:pt x="119539" y="146758"/>
                </a:cubicBezTo>
                <a:lnTo>
                  <a:pt x="105728" y="139944"/>
                </a:lnTo>
                <a:cubicBezTo>
                  <a:pt x="101588" y="137893"/>
                  <a:pt x="99500" y="133203"/>
                  <a:pt x="100672" y="128771"/>
                </a:cubicBezTo>
                <a:lnTo>
                  <a:pt x="103236" y="119172"/>
                </a:lnTo>
                <a:cubicBezTo>
                  <a:pt x="104445" y="114740"/>
                  <a:pt x="108585" y="111736"/>
                  <a:pt x="113201" y="112029"/>
                </a:cubicBezTo>
                <a:lnTo>
                  <a:pt x="128551" y="113018"/>
                </a:lnTo>
                <a:cubicBezTo>
                  <a:pt x="130859" y="110050"/>
                  <a:pt x="133533" y="107303"/>
                  <a:pt x="136574" y="104958"/>
                </a:cubicBezTo>
                <a:lnTo>
                  <a:pt x="135585" y="89645"/>
                </a:lnTo>
                <a:cubicBezTo>
                  <a:pt x="135292" y="85029"/>
                  <a:pt x="138296" y="80853"/>
                  <a:pt x="142728" y="79680"/>
                </a:cubicBezTo>
                <a:lnTo>
                  <a:pt x="152327" y="77116"/>
                </a:lnTo>
                <a:close/>
                <a:moveTo>
                  <a:pt x="164270" y="124558"/>
                </a:moveTo>
                <a:cubicBezTo>
                  <a:pt x="155373" y="124568"/>
                  <a:pt x="148159" y="131799"/>
                  <a:pt x="148169" y="140695"/>
                </a:cubicBezTo>
                <a:cubicBezTo>
                  <a:pt x="148179" y="149592"/>
                  <a:pt x="155410" y="156806"/>
                  <a:pt x="164306" y="156796"/>
                </a:cubicBezTo>
                <a:cubicBezTo>
                  <a:pt x="173203" y="156786"/>
                  <a:pt x="180417" y="149555"/>
                  <a:pt x="180407" y="140659"/>
                </a:cubicBezTo>
                <a:cubicBezTo>
                  <a:pt x="180397" y="131762"/>
                  <a:pt x="173166" y="124548"/>
                  <a:pt x="164270" y="124558"/>
                </a:cubicBezTo>
                <a:close/>
                <a:moveTo>
                  <a:pt x="82391" y="-16669"/>
                </a:moveTo>
                <a:lnTo>
                  <a:pt x="91990" y="-14104"/>
                </a:lnTo>
                <a:cubicBezTo>
                  <a:pt x="96422" y="-12895"/>
                  <a:pt x="99426" y="-8719"/>
                  <a:pt x="99133" y="-4140"/>
                </a:cubicBezTo>
                <a:lnTo>
                  <a:pt x="98144" y="11174"/>
                </a:lnTo>
                <a:cubicBezTo>
                  <a:pt x="101185" y="13518"/>
                  <a:pt x="103859" y="16229"/>
                  <a:pt x="106167" y="19233"/>
                </a:cubicBezTo>
                <a:lnTo>
                  <a:pt x="121554" y="18244"/>
                </a:lnTo>
                <a:cubicBezTo>
                  <a:pt x="126133" y="17951"/>
                  <a:pt x="130309" y="20955"/>
                  <a:pt x="131518" y="25388"/>
                </a:cubicBezTo>
                <a:lnTo>
                  <a:pt x="134083" y="34986"/>
                </a:lnTo>
                <a:cubicBezTo>
                  <a:pt x="135255" y="39419"/>
                  <a:pt x="133167" y="44108"/>
                  <a:pt x="129027" y="46160"/>
                </a:cubicBezTo>
                <a:lnTo>
                  <a:pt x="115216" y="52974"/>
                </a:lnTo>
                <a:cubicBezTo>
                  <a:pt x="114959" y="54842"/>
                  <a:pt x="114593" y="56710"/>
                  <a:pt x="114117" y="58542"/>
                </a:cubicBezTo>
                <a:cubicBezTo>
                  <a:pt x="113641" y="60374"/>
                  <a:pt x="112981" y="62206"/>
                  <a:pt x="112285" y="63927"/>
                </a:cubicBezTo>
                <a:lnTo>
                  <a:pt x="120821" y="76750"/>
                </a:lnTo>
                <a:cubicBezTo>
                  <a:pt x="123385" y="80596"/>
                  <a:pt x="122873" y="85688"/>
                  <a:pt x="119612" y="88949"/>
                </a:cubicBezTo>
                <a:lnTo>
                  <a:pt x="112578" y="95983"/>
                </a:lnTo>
                <a:cubicBezTo>
                  <a:pt x="109318" y="99243"/>
                  <a:pt x="104225" y="99756"/>
                  <a:pt x="100379" y="97192"/>
                </a:cubicBezTo>
                <a:lnTo>
                  <a:pt x="87557" y="88656"/>
                </a:lnTo>
                <a:cubicBezTo>
                  <a:pt x="84076" y="90085"/>
                  <a:pt x="80376" y="91110"/>
                  <a:pt x="76603" y="91623"/>
                </a:cubicBezTo>
                <a:lnTo>
                  <a:pt x="69789" y="105398"/>
                </a:lnTo>
                <a:cubicBezTo>
                  <a:pt x="67737" y="109538"/>
                  <a:pt x="63048" y="111626"/>
                  <a:pt x="58615" y="110453"/>
                </a:cubicBezTo>
                <a:lnTo>
                  <a:pt x="49017" y="107889"/>
                </a:lnTo>
                <a:cubicBezTo>
                  <a:pt x="44548" y="106680"/>
                  <a:pt x="41580" y="102504"/>
                  <a:pt x="41873" y="97924"/>
                </a:cubicBezTo>
                <a:lnTo>
                  <a:pt x="42863" y="82574"/>
                </a:lnTo>
                <a:cubicBezTo>
                  <a:pt x="39822" y="80230"/>
                  <a:pt x="37148" y="77519"/>
                  <a:pt x="34840" y="74515"/>
                </a:cubicBezTo>
                <a:lnTo>
                  <a:pt x="19453" y="75504"/>
                </a:lnTo>
                <a:cubicBezTo>
                  <a:pt x="14874" y="75797"/>
                  <a:pt x="10697" y="72793"/>
                  <a:pt x="9488" y="68360"/>
                </a:cubicBezTo>
                <a:lnTo>
                  <a:pt x="6924" y="58762"/>
                </a:lnTo>
                <a:cubicBezTo>
                  <a:pt x="5752" y="54329"/>
                  <a:pt x="7840" y="49640"/>
                  <a:pt x="11980" y="47588"/>
                </a:cubicBezTo>
                <a:lnTo>
                  <a:pt x="25791" y="40774"/>
                </a:lnTo>
                <a:cubicBezTo>
                  <a:pt x="26047" y="38906"/>
                  <a:pt x="26414" y="37074"/>
                  <a:pt x="26890" y="35206"/>
                </a:cubicBezTo>
                <a:cubicBezTo>
                  <a:pt x="27403" y="33338"/>
                  <a:pt x="27989" y="31542"/>
                  <a:pt x="28722" y="29821"/>
                </a:cubicBezTo>
                <a:lnTo>
                  <a:pt x="20186" y="17035"/>
                </a:lnTo>
                <a:cubicBezTo>
                  <a:pt x="17621" y="13188"/>
                  <a:pt x="18134" y="8096"/>
                  <a:pt x="21395" y="4836"/>
                </a:cubicBezTo>
                <a:lnTo>
                  <a:pt x="28428" y="-2198"/>
                </a:lnTo>
                <a:cubicBezTo>
                  <a:pt x="31689" y="-5459"/>
                  <a:pt x="36781" y="-5971"/>
                  <a:pt x="40628" y="-3407"/>
                </a:cubicBezTo>
                <a:lnTo>
                  <a:pt x="53450" y="5129"/>
                </a:lnTo>
                <a:cubicBezTo>
                  <a:pt x="56930" y="3700"/>
                  <a:pt x="60630" y="2674"/>
                  <a:pt x="64404" y="2161"/>
                </a:cubicBezTo>
                <a:lnTo>
                  <a:pt x="71218" y="-11613"/>
                </a:lnTo>
                <a:cubicBezTo>
                  <a:pt x="73269" y="-15753"/>
                  <a:pt x="77922" y="-17841"/>
                  <a:pt x="82391" y="-16669"/>
                </a:cubicBezTo>
                <a:close/>
                <a:moveTo>
                  <a:pt x="70485" y="30773"/>
                </a:moveTo>
                <a:cubicBezTo>
                  <a:pt x="61589" y="30773"/>
                  <a:pt x="54366" y="37996"/>
                  <a:pt x="54366" y="46892"/>
                </a:cubicBezTo>
                <a:cubicBezTo>
                  <a:pt x="54366" y="55789"/>
                  <a:pt x="61589" y="63012"/>
                  <a:pt x="70485" y="63012"/>
                </a:cubicBezTo>
                <a:cubicBezTo>
                  <a:pt x="79381" y="63012"/>
                  <a:pt x="86604" y="55789"/>
                  <a:pt x="86604" y="46892"/>
                </a:cubicBezTo>
                <a:cubicBezTo>
                  <a:pt x="86604" y="37996"/>
                  <a:pt x="79381" y="30773"/>
                  <a:pt x="70485" y="30773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33"/>
          <p:cNvSpPr/>
          <p:nvPr/>
        </p:nvSpPr>
        <p:spPr>
          <a:xfrm>
            <a:off x="8145720" y="4052880"/>
            <a:ext cx="3469680" cy="487440"/>
          </a:xfrm>
          <a:custGeom>
            <a:avLst/>
            <a:gdLst>
              <a:gd name="textAreaLeft" fmla="*/ 0 w 3469680"/>
              <a:gd name="textAreaRight" fmla="*/ 3470040 w 3469680"/>
              <a:gd name="textAreaTop" fmla="*/ 0 h 487440"/>
              <a:gd name="textAreaBottom" fmla="*/ 487800 h 487440"/>
            </a:gdLst>
            <a:ahLst/>
            <a:rect l="textAreaLeft" t="textAreaTop" r="textAreaRight" b="textAreaBottom"/>
            <a:pathLst>
              <a:path w="3470031" h="487680">
                <a:moveTo>
                  <a:pt x="75030" y="0"/>
                </a:moveTo>
                <a:lnTo>
                  <a:pt x="3395001" y="0"/>
                </a:lnTo>
                <a:cubicBezTo>
                  <a:pt x="3436439" y="0"/>
                  <a:pt x="3470031" y="33592"/>
                  <a:pt x="3470031" y="75030"/>
                </a:cubicBezTo>
                <a:lnTo>
                  <a:pt x="3470031" y="412650"/>
                </a:lnTo>
                <a:cubicBezTo>
                  <a:pt x="3470031" y="454088"/>
                  <a:pt x="3436439" y="487680"/>
                  <a:pt x="3395001" y="487680"/>
                </a:cubicBezTo>
                <a:lnTo>
                  <a:pt x="75030" y="487680"/>
                </a:lnTo>
                <a:cubicBezTo>
                  <a:pt x="33592" y="487680"/>
                  <a:pt x="0" y="454088"/>
                  <a:pt x="0" y="412650"/>
                </a:cubicBezTo>
                <a:lnTo>
                  <a:pt x="0" y="75030"/>
                </a:lnTo>
                <a:cubicBezTo>
                  <a:pt x="0" y="33592"/>
                  <a:pt x="33592" y="0"/>
                  <a:pt x="75030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34"/>
          <p:cNvSpPr/>
          <p:nvPr/>
        </p:nvSpPr>
        <p:spPr>
          <a:xfrm>
            <a:off x="8220600" y="4127760"/>
            <a:ext cx="3385440" cy="1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30" spc="-1" strike="noStrike">
                <a:solidFill>
                  <a:srgbClr val="ff8a65"/>
                </a:solidFill>
                <a:latin typeface="Quattrocento Sans"/>
                <a:ea typeface="Quattrocento Sans"/>
              </a:rPr>
              <a:t>Extract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35"/>
          <p:cNvSpPr/>
          <p:nvPr/>
        </p:nvSpPr>
        <p:spPr>
          <a:xfrm>
            <a:off x="8220600" y="4315320"/>
            <a:ext cx="3375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0" lang="en-US" sz="88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Pull &amp; Collect Raw Data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36"/>
          <p:cNvSpPr/>
          <p:nvPr/>
        </p:nvSpPr>
        <p:spPr>
          <a:xfrm>
            <a:off x="9477360" y="4671720"/>
            <a:ext cx="168480" cy="224640"/>
          </a:xfrm>
          <a:custGeom>
            <a:avLst/>
            <a:gdLst>
              <a:gd name="textAreaLeft" fmla="*/ 0 w 168480"/>
              <a:gd name="textAreaRight" fmla="*/ 168840 w 168480"/>
              <a:gd name="textAreaTop" fmla="*/ 0 h 224640"/>
              <a:gd name="textAreaBottom" fmla="*/ 225000 h 224640"/>
            </a:gdLst>
            <a:ahLst/>
            <a:rect l="textAreaLeft" t="textAreaTop" r="textAreaRight" b="textAreaBottom"/>
            <a:pathLst>
              <a:path w="168812" h="225083">
                <a:moveTo>
                  <a:pt x="74471" y="220951"/>
                </a:moveTo>
                <a:cubicBezTo>
                  <a:pt x="79966" y="226446"/>
                  <a:pt x="88890" y="226446"/>
                  <a:pt x="94385" y="220951"/>
                </a:cubicBezTo>
                <a:lnTo>
                  <a:pt x="164724" y="150612"/>
                </a:lnTo>
                <a:cubicBezTo>
                  <a:pt x="170219" y="145117"/>
                  <a:pt x="170219" y="136193"/>
                  <a:pt x="164724" y="130698"/>
                </a:cubicBezTo>
                <a:cubicBezTo>
                  <a:pt x="159229" y="125202"/>
                  <a:pt x="150305" y="125202"/>
                  <a:pt x="144809" y="130698"/>
                </a:cubicBezTo>
                <a:lnTo>
                  <a:pt x="98474" y="177033"/>
                </a:lnTo>
                <a:lnTo>
                  <a:pt x="98474" y="14068"/>
                </a:lnTo>
                <a:cubicBezTo>
                  <a:pt x="98474" y="6287"/>
                  <a:pt x="92187" y="0"/>
                  <a:pt x="84406" y="0"/>
                </a:cubicBezTo>
                <a:cubicBezTo>
                  <a:pt x="76625" y="0"/>
                  <a:pt x="70338" y="6287"/>
                  <a:pt x="70338" y="14068"/>
                </a:cubicBezTo>
                <a:lnTo>
                  <a:pt x="70338" y="177033"/>
                </a:lnTo>
                <a:lnTo>
                  <a:pt x="24003" y="130698"/>
                </a:lnTo>
                <a:cubicBezTo>
                  <a:pt x="18508" y="125202"/>
                  <a:pt x="9584" y="125202"/>
                  <a:pt x="4088" y="130698"/>
                </a:cubicBezTo>
                <a:cubicBezTo>
                  <a:pt x="-1407" y="136193"/>
                  <a:pt x="-1407" y="145117"/>
                  <a:pt x="4088" y="150612"/>
                </a:cubicBezTo>
                <a:lnTo>
                  <a:pt x="74427" y="220951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37"/>
          <p:cNvSpPr/>
          <p:nvPr/>
        </p:nvSpPr>
        <p:spPr>
          <a:xfrm>
            <a:off x="7517160" y="5018760"/>
            <a:ext cx="506160" cy="506160"/>
          </a:xfrm>
          <a:custGeom>
            <a:avLst/>
            <a:gdLst>
              <a:gd name="textAreaLeft" fmla="*/ 0 w 506160"/>
              <a:gd name="textAreaRight" fmla="*/ 506520 w 506160"/>
              <a:gd name="textAreaTop" fmla="*/ 0 h 506160"/>
              <a:gd name="textAreaBottom" fmla="*/ 506520 h 506160"/>
            </a:gdLst>
            <a:ahLst/>
            <a:rect l="textAreaLeft" t="textAreaTop" r="textAreaRight" b="textAreaBottom"/>
            <a:pathLst>
              <a:path w="506437" h="506437">
                <a:moveTo>
                  <a:pt x="75029" y="0"/>
                </a:moveTo>
                <a:lnTo>
                  <a:pt x="431408" y="0"/>
                </a:lnTo>
                <a:cubicBezTo>
                  <a:pt x="472845" y="0"/>
                  <a:pt x="506437" y="33591"/>
                  <a:pt x="506437" y="75029"/>
                </a:cubicBezTo>
                <a:lnTo>
                  <a:pt x="506437" y="431408"/>
                </a:lnTo>
                <a:cubicBezTo>
                  <a:pt x="506437" y="472845"/>
                  <a:pt x="472845" y="506437"/>
                  <a:pt x="431408" y="506437"/>
                </a:cubicBezTo>
                <a:lnTo>
                  <a:pt x="75029" y="506437"/>
                </a:lnTo>
                <a:cubicBezTo>
                  <a:pt x="33591" y="506437"/>
                  <a:pt x="0" y="472845"/>
                  <a:pt x="0" y="431408"/>
                </a:cubicBezTo>
                <a:lnTo>
                  <a:pt x="0" y="75029"/>
                </a:lnTo>
                <a:cubicBezTo>
                  <a:pt x="0" y="33591"/>
                  <a:pt x="33591" y="0"/>
                  <a:pt x="75029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25400">
            <a:solidFill>
              <a:srgbClr val="607d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38"/>
          <p:cNvSpPr/>
          <p:nvPr/>
        </p:nvSpPr>
        <p:spPr>
          <a:xfrm>
            <a:off x="7676640" y="5178240"/>
            <a:ext cx="187200" cy="187200"/>
          </a:xfrm>
          <a:custGeom>
            <a:avLst/>
            <a:gdLst>
              <a:gd name="textAreaLeft" fmla="*/ 0 w 187200"/>
              <a:gd name="textAreaRight" fmla="*/ 187560 w 187200"/>
              <a:gd name="textAreaTop" fmla="*/ 0 h 187200"/>
              <a:gd name="textAreaBottom" fmla="*/ 187560 h 187200"/>
            </a:gdLst>
            <a:ahLst/>
            <a:rect l="textAreaLeft" t="textAreaTop" r="textAreaRight" b="textAreaBottom"/>
            <a:pathLst>
              <a:path w="187569" h="187569">
                <a:moveTo>
                  <a:pt x="11723" y="23446"/>
                </a:moveTo>
                <a:cubicBezTo>
                  <a:pt x="6997" y="23446"/>
                  <a:pt x="2711" y="26304"/>
                  <a:pt x="879" y="30700"/>
                </a:cubicBezTo>
                <a:cubicBezTo>
                  <a:pt x="-953" y="35096"/>
                  <a:pt x="73" y="40115"/>
                  <a:pt x="3444" y="43449"/>
                </a:cubicBezTo>
                <a:lnTo>
                  <a:pt x="70338" y="110380"/>
                </a:lnTo>
                <a:lnTo>
                  <a:pt x="70338" y="152400"/>
                </a:lnTo>
                <a:cubicBezTo>
                  <a:pt x="70338" y="155514"/>
                  <a:pt x="71584" y="158481"/>
                  <a:pt x="73782" y="160679"/>
                </a:cubicBezTo>
                <a:lnTo>
                  <a:pt x="97228" y="184126"/>
                </a:lnTo>
                <a:cubicBezTo>
                  <a:pt x="100599" y="187496"/>
                  <a:pt x="105618" y="188485"/>
                  <a:pt x="110014" y="186653"/>
                </a:cubicBezTo>
                <a:cubicBezTo>
                  <a:pt x="114410" y="184822"/>
                  <a:pt x="117231" y="180572"/>
                  <a:pt x="117231" y="175846"/>
                </a:cubicBezTo>
                <a:lnTo>
                  <a:pt x="117231" y="110380"/>
                </a:lnTo>
                <a:lnTo>
                  <a:pt x="184126" y="43485"/>
                </a:lnTo>
                <a:cubicBezTo>
                  <a:pt x="187496" y="40115"/>
                  <a:pt x="188485" y="35096"/>
                  <a:pt x="186653" y="30700"/>
                </a:cubicBezTo>
                <a:cubicBezTo>
                  <a:pt x="184822" y="26304"/>
                  <a:pt x="180572" y="23446"/>
                  <a:pt x="175846" y="23446"/>
                </a:cubicBezTo>
                <a:lnTo>
                  <a:pt x="11723" y="23446"/>
                </a:ln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39"/>
          <p:cNvSpPr/>
          <p:nvPr/>
        </p:nvSpPr>
        <p:spPr>
          <a:xfrm>
            <a:off x="8145720" y="5028120"/>
            <a:ext cx="3469680" cy="487440"/>
          </a:xfrm>
          <a:custGeom>
            <a:avLst/>
            <a:gdLst>
              <a:gd name="textAreaLeft" fmla="*/ 0 w 3469680"/>
              <a:gd name="textAreaRight" fmla="*/ 3470040 w 3469680"/>
              <a:gd name="textAreaTop" fmla="*/ 0 h 487440"/>
              <a:gd name="textAreaBottom" fmla="*/ 487800 h 487440"/>
            </a:gdLst>
            <a:ahLst/>
            <a:rect l="textAreaLeft" t="textAreaTop" r="textAreaRight" b="textAreaBottom"/>
            <a:pathLst>
              <a:path w="3470031" h="487680">
                <a:moveTo>
                  <a:pt x="75030" y="0"/>
                </a:moveTo>
                <a:lnTo>
                  <a:pt x="3395001" y="0"/>
                </a:lnTo>
                <a:cubicBezTo>
                  <a:pt x="3436439" y="0"/>
                  <a:pt x="3470031" y="33592"/>
                  <a:pt x="3470031" y="75030"/>
                </a:cubicBezTo>
                <a:lnTo>
                  <a:pt x="3470031" y="412650"/>
                </a:lnTo>
                <a:cubicBezTo>
                  <a:pt x="3470031" y="454088"/>
                  <a:pt x="3436439" y="487680"/>
                  <a:pt x="3395001" y="487680"/>
                </a:cubicBezTo>
                <a:lnTo>
                  <a:pt x="75030" y="487680"/>
                </a:lnTo>
                <a:cubicBezTo>
                  <a:pt x="33592" y="487680"/>
                  <a:pt x="0" y="454088"/>
                  <a:pt x="0" y="412650"/>
                </a:cubicBezTo>
                <a:lnTo>
                  <a:pt x="0" y="75030"/>
                </a:lnTo>
                <a:cubicBezTo>
                  <a:pt x="0" y="33592"/>
                  <a:pt x="33592" y="0"/>
                  <a:pt x="75030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40"/>
          <p:cNvSpPr/>
          <p:nvPr/>
        </p:nvSpPr>
        <p:spPr>
          <a:xfrm>
            <a:off x="8220600" y="5103360"/>
            <a:ext cx="3385440" cy="1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30" spc="-1" strike="noStrike">
                <a:solidFill>
                  <a:srgbClr val="607d8b"/>
                </a:solidFill>
                <a:latin typeface="Quattrocento Sans"/>
                <a:ea typeface="Quattrocento Sans"/>
              </a:rPr>
              <a:t>Transform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41"/>
          <p:cNvSpPr/>
          <p:nvPr/>
        </p:nvSpPr>
        <p:spPr>
          <a:xfrm>
            <a:off x="8220600" y="5290920"/>
            <a:ext cx="3375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0" lang="en-US" sz="88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Clean, Validate, Structure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42"/>
          <p:cNvSpPr/>
          <p:nvPr/>
        </p:nvSpPr>
        <p:spPr>
          <a:xfrm>
            <a:off x="9477360" y="5647320"/>
            <a:ext cx="168480" cy="224640"/>
          </a:xfrm>
          <a:custGeom>
            <a:avLst/>
            <a:gdLst>
              <a:gd name="textAreaLeft" fmla="*/ 0 w 168480"/>
              <a:gd name="textAreaRight" fmla="*/ 168840 w 168480"/>
              <a:gd name="textAreaTop" fmla="*/ 0 h 224640"/>
              <a:gd name="textAreaBottom" fmla="*/ 225000 h 224640"/>
            </a:gdLst>
            <a:ahLst/>
            <a:rect l="textAreaLeft" t="textAreaTop" r="textAreaRight" b="textAreaBottom"/>
            <a:pathLst>
              <a:path w="168812" h="225083">
                <a:moveTo>
                  <a:pt x="74471" y="220951"/>
                </a:moveTo>
                <a:cubicBezTo>
                  <a:pt x="79966" y="226446"/>
                  <a:pt x="88890" y="226446"/>
                  <a:pt x="94385" y="220951"/>
                </a:cubicBezTo>
                <a:lnTo>
                  <a:pt x="164724" y="150612"/>
                </a:lnTo>
                <a:cubicBezTo>
                  <a:pt x="170219" y="145117"/>
                  <a:pt x="170219" y="136193"/>
                  <a:pt x="164724" y="130698"/>
                </a:cubicBezTo>
                <a:cubicBezTo>
                  <a:pt x="159229" y="125202"/>
                  <a:pt x="150305" y="125202"/>
                  <a:pt x="144809" y="130698"/>
                </a:cubicBezTo>
                <a:lnTo>
                  <a:pt x="98474" y="177033"/>
                </a:lnTo>
                <a:lnTo>
                  <a:pt x="98474" y="14068"/>
                </a:lnTo>
                <a:cubicBezTo>
                  <a:pt x="98474" y="6287"/>
                  <a:pt x="92187" y="0"/>
                  <a:pt x="84406" y="0"/>
                </a:cubicBezTo>
                <a:cubicBezTo>
                  <a:pt x="76625" y="0"/>
                  <a:pt x="70338" y="6287"/>
                  <a:pt x="70338" y="14068"/>
                </a:cubicBezTo>
                <a:lnTo>
                  <a:pt x="70338" y="177033"/>
                </a:lnTo>
                <a:lnTo>
                  <a:pt x="24003" y="130698"/>
                </a:lnTo>
                <a:cubicBezTo>
                  <a:pt x="18508" y="125202"/>
                  <a:pt x="9584" y="125202"/>
                  <a:pt x="4088" y="130698"/>
                </a:cubicBezTo>
                <a:cubicBezTo>
                  <a:pt x="-1407" y="136193"/>
                  <a:pt x="-1407" y="145117"/>
                  <a:pt x="4088" y="150612"/>
                </a:cubicBezTo>
                <a:lnTo>
                  <a:pt x="74427" y="220951"/>
                </a:ln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43"/>
          <p:cNvSpPr/>
          <p:nvPr/>
        </p:nvSpPr>
        <p:spPr>
          <a:xfrm>
            <a:off x="7517160" y="5994360"/>
            <a:ext cx="506160" cy="506160"/>
          </a:xfrm>
          <a:custGeom>
            <a:avLst/>
            <a:gdLst>
              <a:gd name="textAreaLeft" fmla="*/ 0 w 506160"/>
              <a:gd name="textAreaRight" fmla="*/ 506520 w 506160"/>
              <a:gd name="textAreaTop" fmla="*/ 0 h 506160"/>
              <a:gd name="textAreaBottom" fmla="*/ 506520 h 506160"/>
            </a:gdLst>
            <a:ahLst/>
            <a:rect l="textAreaLeft" t="textAreaTop" r="textAreaRight" b="textAreaBottom"/>
            <a:pathLst>
              <a:path w="506437" h="506437">
                <a:moveTo>
                  <a:pt x="75029" y="0"/>
                </a:moveTo>
                <a:lnTo>
                  <a:pt x="431408" y="0"/>
                </a:lnTo>
                <a:cubicBezTo>
                  <a:pt x="472845" y="0"/>
                  <a:pt x="506437" y="33591"/>
                  <a:pt x="506437" y="75029"/>
                </a:cubicBezTo>
                <a:lnTo>
                  <a:pt x="506437" y="431408"/>
                </a:lnTo>
                <a:cubicBezTo>
                  <a:pt x="506437" y="472845"/>
                  <a:pt x="472845" y="506437"/>
                  <a:pt x="431408" y="506437"/>
                </a:cubicBezTo>
                <a:lnTo>
                  <a:pt x="75029" y="506437"/>
                </a:lnTo>
                <a:cubicBezTo>
                  <a:pt x="33591" y="506437"/>
                  <a:pt x="0" y="472845"/>
                  <a:pt x="0" y="431408"/>
                </a:cubicBezTo>
                <a:lnTo>
                  <a:pt x="0" y="75029"/>
                </a:lnTo>
                <a:cubicBezTo>
                  <a:pt x="0" y="33591"/>
                  <a:pt x="33591" y="0"/>
                  <a:pt x="7502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25400">
            <a:solidFill>
              <a:srgbClr val="4db6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44"/>
          <p:cNvSpPr/>
          <p:nvPr/>
        </p:nvSpPr>
        <p:spPr>
          <a:xfrm>
            <a:off x="7688520" y="6153480"/>
            <a:ext cx="163800" cy="187200"/>
          </a:xfrm>
          <a:custGeom>
            <a:avLst/>
            <a:gdLst>
              <a:gd name="textAreaLeft" fmla="*/ 0 w 163800"/>
              <a:gd name="textAreaRight" fmla="*/ 164160 w 163800"/>
              <a:gd name="textAreaTop" fmla="*/ 0 h 187200"/>
              <a:gd name="textAreaBottom" fmla="*/ 187560 h 187200"/>
            </a:gdLst>
            <a:ahLst/>
            <a:rect l="textAreaLeft" t="textAreaTop" r="textAreaRight" b="textAreaBottom"/>
            <a:pathLst>
              <a:path w="164123" h="187569">
                <a:moveTo>
                  <a:pt x="23446" y="11723"/>
                </a:moveTo>
                <a:cubicBezTo>
                  <a:pt x="10514" y="11723"/>
                  <a:pt x="0" y="22237"/>
                  <a:pt x="0" y="35169"/>
                </a:cubicBezTo>
                <a:lnTo>
                  <a:pt x="0" y="58615"/>
                </a:lnTo>
                <a:cubicBezTo>
                  <a:pt x="0" y="71547"/>
                  <a:pt x="10514" y="82062"/>
                  <a:pt x="23446" y="82062"/>
                </a:cubicBezTo>
                <a:lnTo>
                  <a:pt x="140677" y="82062"/>
                </a:lnTo>
                <a:cubicBezTo>
                  <a:pt x="153609" y="82062"/>
                  <a:pt x="164123" y="71547"/>
                  <a:pt x="164123" y="58615"/>
                </a:cubicBezTo>
                <a:lnTo>
                  <a:pt x="164123" y="35169"/>
                </a:lnTo>
                <a:cubicBezTo>
                  <a:pt x="164123" y="22237"/>
                  <a:pt x="153609" y="11723"/>
                  <a:pt x="140677" y="11723"/>
                </a:cubicBezTo>
                <a:lnTo>
                  <a:pt x="23446" y="11723"/>
                </a:lnTo>
                <a:close/>
                <a:moveTo>
                  <a:pt x="102577" y="38100"/>
                </a:moveTo>
                <a:cubicBezTo>
                  <a:pt x="107430" y="38100"/>
                  <a:pt x="111369" y="42040"/>
                  <a:pt x="111369" y="46892"/>
                </a:cubicBezTo>
                <a:cubicBezTo>
                  <a:pt x="111369" y="51745"/>
                  <a:pt x="107430" y="55685"/>
                  <a:pt x="102577" y="55685"/>
                </a:cubicBezTo>
                <a:cubicBezTo>
                  <a:pt x="97724" y="55685"/>
                  <a:pt x="93785" y="51745"/>
                  <a:pt x="93785" y="46892"/>
                </a:cubicBezTo>
                <a:cubicBezTo>
                  <a:pt x="93785" y="42040"/>
                  <a:pt x="97724" y="38100"/>
                  <a:pt x="102577" y="38100"/>
                </a:cubicBezTo>
                <a:close/>
                <a:moveTo>
                  <a:pt x="123092" y="46892"/>
                </a:moveTo>
                <a:cubicBezTo>
                  <a:pt x="123092" y="42040"/>
                  <a:pt x="127032" y="38100"/>
                  <a:pt x="131885" y="38100"/>
                </a:cubicBezTo>
                <a:cubicBezTo>
                  <a:pt x="136737" y="38100"/>
                  <a:pt x="140677" y="42040"/>
                  <a:pt x="140677" y="46892"/>
                </a:cubicBezTo>
                <a:cubicBezTo>
                  <a:pt x="140677" y="51745"/>
                  <a:pt x="136737" y="55685"/>
                  <a:pt x="131885" y="55685"/>
                </a:cubicBezTo>
                <a:cubicBezTo>
                  <a:pt x="127032" y="55685"/>
                  <a:pt x="123092" y="51745"/>
                  <a:pt x="123092" y="46892"/>
                </a:cubicBezTo>
                <a:close/>
                <a:moveTo>
                  <a:pt x="23446" y="105508"/>
                </a:moveTo>
                <a:cubicBezTo>
                  <a:pt x="10514" y="105508"/>
                  <a:pt x="0" y="116022"/>
                  <a:pt x="0" y="128954"/>
                </a:cubicBezTo>
                <a:lnTo>
                  <a:pt x="0" y="152400"/>
                </a:lnTo>
                <a:cubicBezTo>
                  <a:pt x="0" y="165332"/>
                  <a:pt x="10514" y="175846"/>
                  <a:pt x="23446" y="175846"/>
                </a:cubicBezTo>
                <a:lnTo>
                  <a:pt x="140677" y="175846"/>
                </a:lnTo>
                <a:cubicBezTo>
                  <a:pt x="153609" y="175846"/>
                  <a:pt x="164123" y="165332"/>
                  <a:pt x="164123" y="152400"/>
                </a:cubicBezTo>
                <a:lnTo>
                  <a:pt x="164123" y="128954"/>
                </a:lnTo>
                <a:cubicBezTo>
                  <a:pt x="164123" y="116022"/>
                  <a:pt x="153609" y="105508"/>
                  <a:pt x="140677" y="105508"/>
                </a:cubicBezTo>
                <a:lnTo>
                  <a:pt x="23446" y="105508"/>
                </a:lnTo>
                <a:close/>
                <a:moveTo>
                  <a:pt x="102577" y="131885"/>
                </a:moveTo>
                <a:cubicBezTo>
                  <a:pt x="107430" y="131885"/>
                  <a:pt x="111369" y="135824"/>
                  <a:pt x="111369" y="140677"/>
                </a:cubicBezTo>
                <a:cubicBezTo>
                  <a:pt x="111369" y="145530"/>
                  <a:pt x="107430" y="149469"/>
                  <a:pt x="102577" y="149469"/>
                </a:cubicBezTo>
                <a:cubicBezTo>
                  <a:pt x="97724" y="149469"/>
                  <a:pt x="93785" y="145530"/>
                  <a:pt x="93785" y="140677"/>
                </a:cubicBezTo>
                <a:cubicBezTo>
                  <a:pt x="93785" y="135824"/>
                  <a:pt x="97724" y="131885"/>
                  <a:pt x="102577" y="131885"/>
                </a:cubicBezTo>
                <a:close/>
                <a:moveTo>
                  <a:pt x="123092" y="140677"/>
                </a:moveTo>
                <a:cubicBezTo>
                  <a:pt x="123092" y="135824"/>
                  <a:pt x="127032" y="131885"/>
                  <a:pt x="131885" y="131885"/>
                </a:cubicBezTo>
                <a:cubicBezTo>
                  <a:pt x="136737" y="131885"/>
                  <a:pt x="140677" y="135824"/>
                  <a:pt x="140677" y="140677"/>
                </a:cubicBezTo>
                <a:cubicBezTo>
                  <a:pt x="140677" y="145530"/>
                  <a:pt x="136737" y="149469"/>
                  <a:pt x="131885" y="149469"/>
                </a:cubicBezTo>
                <a:cubicBezTo>
                  <a:pt x="127032" y="149469"/>
                  <a:pt x="123092" y="145530"/>
                  <a:pt x="123092" y="140677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45"/>
          <p:cNvSpPr/>
          <p:nvPr/>
        </p:nvSpPr>
        <p:spPr>
          <a:xfrm>
            <a:off x="8145720" y="6003720"/>
            <a:ext cx="3469680" cy="487440"/>
          </a:xfrm>
          <a:custGeom>
            <a:avLst/>
            <a:gdLst>
              <a:gd name="textAreaLeft" fmla="*/ 0 w 3469680"/>
              <a:gd name="textAreaRight" fmla="*/ 3470040 w 3469680"/>
              <a:gd name="textAreaTop" fmla="*/ 0 h 487440"/>
              <a:gd name="textAreaBottom" fmla="*/ 487800 h 487440"/>
            </a:gdLst>
            <a:ahLst/>
            <a:rect l="textAreaLeft" t="textAreaTop" r="textAreaRight" b="textAreaBottom"/>
            <a:pathLst>
              <a:path w="3470031" h="487680">
                <a:moveTo>
                  <a:pt x="75030" y="0"/>
                </a:moveTo>
                <a:lnTo>
                  <a:pt x="3395001" y="0"/>
                </a:lnTo>
                <a:cubicBezTo>
                  <a:pt x="3436439" y="0"/>
                  <a:pt x="3470031" y="33592"/>
                  <a:pt x="3470031" y="75030"/>
                </a:cubicBezTo>
                <a:lnTo>
                  <a:pt x="3470031" y="412650"/>
                </a:lnTo>
                <a:cubicBezTo>
                  <a:pt x="3470031" y="454088"/>
                  <a:pt x="3436439" y="487680"/>
                  <a:pt x="3395001" y="487680"/>
                </a:cubicBezTo>
                <a:lnTo>
                  <a:pt x="75030" y="487680"/>
                </a:lnTo>
                <a:cubicBezTo>
                  <a:pt x="33592" y="487680"/>
                  <a:pt x="0" y="454088"/>
                  <a:pt x="0" y="412650"/>
                </a:cubicBezTo>
                <a:lnTo>
                  <a:pt x="0" y="75030"/>
                </a:lnTo>
                <a:cubicBezTo>
                  <a:pt x="0" y="33592"/>
                  <a:pt x="33592" y="0"/>
                  <a:pt x="75030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46"/>
          <p:cNvSpPr/>
          <p:nvPr/>
        </p:nvSpPr>
        <p:spPr>
          <a:xfrm>
            <a:off x="8220600" y="6078600"/>
            <a:ext cx="3385440" cy="1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3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Load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47"/>
          <p:cNvSpPr/>
          <p:nvPr/>
        </p:nvSpPr>
        <p:spPr>
          <a:xfrm>
            <a:off x="8220600" y="6266160"/>
            <a:ext cx="3375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0" lang="en-US" sz="88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Store in Warehouse/Lake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380880" y="380880"/>
            <a:ext cx="1150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58" strike="noStrike">
                <a:solidFill>
                  <a:srgbClr val="4db6ac"/>
                </a:solidFill>
                <a:latin typeface="Quattrocento Sans"/>
                <a:ea typeface="Quattrocento Sans"/>
              </a:rPr>
              <a:t>BUSINESS IMPACT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380880" y="685800"/>
            <a:ext cx="116010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700" spc="-1" strike="noStrike">
                <a:solidFill>
                  <a:srgbClr val="eceff1"/>
                </a:solidFill>
                <a:latin typeface="Liter"/>
                <a:ea typeface="Liter"/>
              </a:rPr>
              <a:t>Why ETL Pipelines Are Critical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380880" y="1143000"/>
            <a:ext cx="1151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3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The Backbone of Modern Data-Driven Organizations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385920" y="1566720"/>
            <a:ext cx="3695400" cy="2381040"/>
          </a:xfrm>
          <a:custGeom>
            <a:avLst/>
            <a:gdLst>
              <a:gd name="textAreaLeft" fmla="*/ 0 w 3695400"/>
              <a:gd name="textAreaRight" fmla="*/ 3695760 w 3695400"/>
              <a:gd name="textAreaTop" fmla="*/ 0 h 2381040"/>
              <a:gd name="textAreaBottom" fmla="*/ 2381400 h 2381040"/>
            </a:gdLst>
            <a:ahLst/>
            <a:rect l="textAreaLeft" t="textAreaTop" r="textAreaRight" b="textAreaBottom"/>
            <a:pathLst>
              <a:path w="3695700" h="2381250">
                <a:moveTo>
                  <a:pt x="114300" y="0"/>
                </a:moveTo>
                <a:lnTo>
                  <a:pt x="3581400" y="0"/>
                </a:lnTo>
                <a:cubicBezTo>
                  <a:pt x="3644484" y="0"/>
                  <a:pt x="3695700" y="51216"/>
                  <a:pt x="3695700" y="114300"/>
                </a:cubicBezTo>
                <a:lnTo>
                  <a:pt x="3695700" y="2266950"/>
                </a:lnTo>
                <a:cubicBezTo>
                  <a:pt x="3695700" y="2330034"/>
                  <a:pt x="3644484" y="2381250"/>
                  <a:pt x="3581400" y="2381250"/>
                </a:cubicBezTo>
                <a:lnTo>
                  <a:pt x="114300" y="2381250"/>
                </a:lnTo>
                <a:cubicBezTo>
                  <a:pt x="51216" y="2381250"/>
                  <a:pt x="0" y="2330034"/>
                  <a:pt x="0" y="22669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12700">
            <a:solidFill>
              <a:srgbClr val="4db6ac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4"/>
          <p:cNvSpPr/>
          <p:nvPr/>
        </p:nvSpPr>
        <p:spPr>
          <a:xfrm>
            <a:off x="581040" y="176220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5"/>
          <p:cNvSpPr/>
          <p:nvPr/>
        </p:nvSpPr>
        <p:spPr>
          <a:xfrm>
            <a:off x="695160" y="187632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1152360" y="1857240"/>
            <a:ext cx="1971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eceff1"/>
                </a:solidFill>
                <a:latin typeface="Liter"/>
                <a:ea typeface="Liter"/>
              </a:rPr>
              <a:t>Data-Driven Decisions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581040" y="2333520"/>
            <a:ext cx="338112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ETL pipelines enable organizations to consolidate data from disparate sources, creating a single source of truth that powers business intelligence, reporting, and strategic decision-making.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581040" y="3443400"/>
            <a:ext cx="3304800" cy="9000"/>
          </a:xfrm>
          <a:custGeom>
            <a:avLst/>
            <a:gdLst>
              <a:gd name="textAreaLeft" fmla="*/ 0 w 3304800"/>
              <a:gd name="textAreaRight" fmla="*/ 3305160 w 3304800"/>
              <a:gd name="textAreaTop" fmla="*/ 0 h 9000"/>
              <a:gd name="textAreaBottom" fmla="*/ 9360 h 9000"/>
            </a:gdLst>
            <a:ahLst/>
            <a:rect l="textAreaLeft" t="textAreaTop" r="textAreaRight" b="textAreaBottom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9"/>
          <p:cNvSpPr/>
          <p:nvPr/>
        </p:nvSpPr>
        <p:spPr>
          <a:xfrm>
            <a:off x="600120" y="3591000"/>
            <a:ext cx="132840" cy="132840"/>
          </a:xfrm>
          <a:custGeom>
            <a:avLst/>
            <a:gdLst>
              <a:gd name="textAreaLeft" fmla="*/ 0 w 132840"/>
              <a:gd name="textAreaRight" fmla="*/ 133200 w 132840"/>
              <a:gd name="textAreaTop" fmla="*/ 0 h 132840"/>
              <a:gd name="textAreaBottom" fmla="*/ 133200 h 132840"/>
            </a:gdLst>
            <a:ahLst/>
            <a:rect l="textAreaLeft" t="textAreaTop" r="textAreaRight" b="textAreaBottom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809640" y="3562200"/>
            <a:ext cx="31428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Unified analytics view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11"/>
          <p:cNvSpPr/>
          <p:nvPr/>
        </p:nvSpPr>
        <p:spPr>
          <a:xfrm>
            <a:off x="4246560" y="1566720"/>
            <a:ext cx="3695400" cy="2381040"/>
          </a:xfrm>
          <a:custGeom>
            <a:avLst/>
            <a:gdLst>
              <a:gd name="textAreaLeft" fmla="*/ 0 w 3695400"/>
              <a:gd name="textAreaRight" fmla="*/ 3695760 w 3695400"/>
              <a:gd name="textAreaTop" fmla="*/ 0 h 2381040"/>
              <a:gd name="textAreaBottom" fmla="*/ 2381400 h 2381040"/>
            </a:gdLst>
            <a:ahLst/>
            <a:rect l="textAreaLeft" t="textAreaTop" r="textAreaRight" b="textAreaBottom"/>
            <a:pathLst>
              <a:path w="3695700" h="2381250">
                <a:moveTo>
                  <a:pt x="114300" y="0"/>
                </a:moveTo>
                <a:lnTo>
                  <a:pt x="3581400" y="0"/>
                </a:lnTo>
                <a:cubicBezTo>
                  <a:pt x="3644484" y="0"/>
                  <a:pt x="3695700" y="51216"/>
                  <a:pt x="3695700" y="114300"/>
                </a:cubicBezTo>
                <a:lnTo>
                  <a:pt x="3695700" y="2266950"/>
                </a:lnTo>
                <a:cubicBezTo>
                  <a:pt x="3695700" y="2330034"/>
                  <a:pt x="3644484" y="2381250"/>
                  <a:pt x="3581400" y="2381250"/>
                </a:cubicBezTo>
                <a:lnTo>
                  <a:pt x="114300" y="2381250"/>
                </a:lnTo>
                <a:cubicBezTo>
                  <a:pt x="51216" y="2381250"/>
                  <a:pt x="0" y="2330034"/>
                  <a:pt x="0" y="22669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12700">
            <a:solidFill>
              <a:srgbClr val="ff8a65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4441680" y="176220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3"/>
          <p:cNvSpPr/>
          <p:nvPr/>
        </p:nvSpPr>
        <p:spPr>
          <a:xfrm>
            <a:off x="4556160" y="187632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5013360" y="1857240"/>
            <a:ext cx="2381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eceff1"/>
                </a:solidFill>
                <a:latin typeface="Liter"/>
                <a:ea typeface="Liter"/>
              </a:rPr>
              <a:t>Data Quality &amp; Consistency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4441680" y="2333520"/>
            <a:ext cx="338112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Through transformation processes, ETL ensures data is cleaned, validated, and standardized before reaching analysts, reducing errors and improving trust in data assets.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16"/>
          <p:cNvSpPr/>
          <p:nvPr/>
        </p:nvSpPr>
        <p:spPr>
          <a:xfrm>
            <a:off x="4441680" y="3443400"/>
            <a:ext cx="3304800" cy="9000"/>
          </a:xfrm>
          <a:custGeom>
            <a:avLst/>
            <a:gdLst>
              <a:gd name="textAreaLeft" fmla="*/ 0 w 3304800"/>
              <a:gd name="textAreaRight" fmla="*/ 3305160 w 3304800"/>
              <a:gd name="textAreaTop" fmla="*/ 0 h 9000"/>
              <a:gd name="textAreaBottom" fmla="*/ 9360 h 9000"/>
            </a:gdLst>
            <a:ahLst/>
            <a:rect l="textAreaLeft" t="textAreaTop" r="textAreaRight" b="textAreaBottom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7"/>
          <p:cNvSpPr/>
          <p:nvPr/>
        </p:nvSpPr>
        <p:spPr>
          <a:xfrm>
            <a:off x="4460760" y="3591000"/>
            <a:ext cx="132840" cy="132840"/>
          </a:xfrm>
          <a:custGeom>
            <a:avLst/>
            <a:gdLst>
              <a:gd name="textAreaLeft" fmla="*/ 0 w 132840"/>
              <a:gd name="textAreaRight" fmla="*/ 133200 w 132840"/>
              <a:gd name="textAreaTop" fmla="*/ 0 h 132840"/>
              <a:gd name="textAreaBottom" fmla="*/ 133200 h 132840"/>
            </a:gdLst>
            <a:ahLst/>
            <a:rect l="textAreaLeft" t="textAreaTop" r="textAreaRight" b="textAreaBottom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8"/>
          <p:cNvSpPr/>
          <p:nvPr/>
        </p:nvSpPr>
        <p:spPr>
          <a:xfrm>
            <a:off x="4670280" y="3562200"/>
            <a:ext cx="31428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ff8a65"/>
                </a:solidFill>
                <a:latin typeface="Quattrocento Sans"/>
                <a:ea typeface="Quattrocento Sans"/>
              </a:rPr>
              <a:t>Validated &amp; cleansed data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19"/>
          <p:cNvSpPr/>
          <p:nvPr/>
        </p:nvSpPr>
        <p:spPr>
          <a:xfrm>
            <a:off x="8107200" y="1566720"/>
            <a:ext cx="3695400" cy="2381040"/>
          </a:xfrm>
          <a:custGeom>
            <a:avLst/>
            <a:gdLst>
              <a:gd name="textAreaLeft" fmla="*/ 0 w 3695400"/>
              <a:gd name="textAreaRight" fmla="*/ 3695760 w 3695400"/>
              <a:gd name="textAreaTop" fmla="*/ 0 h 2381040"/>
              <a:gd name="textAreaBottom" fmla="*/ 2381400 h 2381040"/>
            </a:gdLst>
            <a:ahLst/>
            <a:rect l="textAreaLeft" t="textAreaTop" r="textAreaRight" b="textAreaBottom"/>
            <a:pathLst>
              <a:path w="3695700" h="2381250">
                <a:moveTo>
                  <a:pt x="114300" y="0"/>
                </a:moveTo>
                <a:lnTo>
                  <a:pt x="3581400" y="0"/>
                </a:lnTo>
                <a:cubicBezTo>
                  <a:pt x="3644484" y="0"/>
                  <a:pt x="3695700" y="51216"/>
                  <a:pt x="3695700" y="114300"/>
                </a:cubicBezTo>
                <a:lnTo>
                  <a:pt x="3695700" y="2266950"/>
                </a:lnTo>
                <a:cubicBezTo>
                  <a:pt x="3695700" y="2330034"/>
                  <a:pt x="3644484" y="2381250"/>
                  <a:pt x="3581400" y="2381250"/>
                </a:cubicBezTo>
                <a:lnTo>
                  <a:pt x="114300" y="2381250"/>
                </a:lnTo>
                <a:cubicBezTo>
                  <a:pt x="51216" y="2381250"/>
                  <a:pt x="0" y="2330034"/>
                  <a:pt x="0" y="22669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20"/>
          <p:cNvSpPr/>
          <p:nvPr/>
        </p:nvSpPr>
        <p:spPr>
          <a:xfrm>
            <a:off x="8302680" y="176220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21"/>
          <p:cNvSpPr/>
          <p:nvPr/>
        </p:nvSpPr>
        <p:spPr>
          <a:xfrm>
            <a:off x="8388360" y="1876320"/>
            <a:ext cx="285480" cy="228240"/>
          </a:xfrm>
          <a:custGeom>
            <a:avLst/>
            <a:gdLst>
              <a:gd name="textAreaLeft" fmla="*/ 0 w 285480"/>
              <a:gd name="textAreaRight" fmla="*/ 285840 w 28548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22"/>
          <p:cNvSpPr/>
          <p:nvPr/>
        </p:nvSpPr>
        <p:spPr>
          <a:xfrm>
            <a:off x="8874000" y="1857240"/>
            <a:ext cx="20476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eceff1"/>
                </a:solidFill>
                <a:latin typeface="Liter"/>
                <a:ea typeface="Liter"/>
              </a:rPr>
              <a:t>Regulatory Compliance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23"/>
          <p:cNvSpPr/>
          <p:nvPr/>
        </p:nvSpPr>
        <p:spPr>
          <a:xfrm>
            <a:off x="8302680" y="2333520"/>
            <a:ext cx="338112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ETL processes help organizations meet data governance requirements by tracking data lineage, applying security policies, and ensuring audit trails for sensitive information.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24"/>
          <p:cNvSpPr/>
          <p:nvPr/>
        </p:nvSpPr>
        <p:spPr>
          <a:xfrm>
            <a:off x="8302680" y="3443400"/>
            <a:ext cx="3304800" cy="9000"/>
          </a:xfrm>
          <a:custGeom>
            <a:avLst/>
            <a:gdLst>
              <a:gd name="textAreaLeft" fmla="*/ 0 w 3304800"/>
              <a:gd name="textAreaRight" fmla="*/ 3305160 w 3304800"/>
              <a:gd name="textAreaTop" fmla="*/ 0 h 9000"/>
              <a:gd name="textAreaBottom" fmla="*/ 9360 h 9000"/>
            </a:gdLst>
            <a:ahLst/>
            <a:rect l="textAreaLeft" t="textAreaTop" r="textAreaRight" b="textAreaBottom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607d8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25"/>
          <p:cNvSpPr/>
          <p:nvPr/>
        </p:nvSpPr>
        <p:spPr>
          <a:xfrm>
            <a:off x="8321400" y="3591000"/>
            <a:ext cx="132840" cy="132840"/>
          </a:xfrm>
          <a:custGeom>
            <a:avLst/>
            <a:gdLst>
              <a:gd name="textAreaLeft" fmla="*/ 0 w 132840"/>
              <a:gd name="textAreaRight" fmla="*/ 133200 w 132840"/>
              <a:gd name="textAreaTop" fmla="*/ 0 h 132840"/>
              <a:gd name="textAreaBottom" fmla="*/ 133200 h 132840"/>
            </a:gdLst>
            <a:ahLst/>
            <a:rect l="textAreaLeft" t="textAreaTop" r="textAreaRight" b="textAreaBottom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26"/>
          <p:cNvSpPr/>
          <p:nvPr/>
        </p:nvSpPr>
        <p:spPr>
          <a:xfrm>
            <a:off x="8531280" y="3562200"/>
            <a:ext cx="31428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607d8b"/>
                </a:solidFill>
                <a:latin typeface="Quattrocento Sans"/>
                <a:ea typeface="Quattrocento Sans"/>
              </a:rPr>
              <a:t>GDPR, HIPAA, SOX ready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27"/>
          <p:cNvSpPr/>
          <p:nvPr/>
        </p:nvSpPr>
        <p:spPr>
          <a:xfrm>
            <a:off x="385920" y="4110120"/>
            <a:ext cx="3695400" cy="2381040"/>
          </a:xfrm>
          <a:custGeom>
            <a:avLst/>
            <a:gdLst>
              <a:gd name="textAreaLeft" fmla="*/ 0 w 3695400"/>
              <a:gd name="textAreaRight" fmla="*/ 3695760 w 3695400"/>
              <a:gd name="textAreaTop" fmla="*/ 0 h 2381040"/>
              <a:gd name="textAreaBottom" fmla="*/ 2381400 h 2381040"/>
            </a:gdLst>
            <a:ahLst/>
            <a:rect l="textAreaLeft" t="textAreaTop" r="textAreaRight" b="textAreaBottom"/>
            <a:pathLst>
              <a:path w="3695700" h="2381250">
                <a:moveTo>
                  <a:pt x="114300" y="0"/>
                </a:moveTo>
                <a:lnTo>
                  <a:pt x="3581400" y="0"/>
                </a:lnTo>
                <a:cubicBezTo>
                  <a:pt x="3644484" y="0"/>
                  <a:pt x="3695700" y="51216"/>
                  <a:pt x="3695700" y="114300"/>
                </a:cubicBezTo>
                <a:lnTo>
                  <a:pt x="3695700" y="2266950"/>
                </a:lnTo>
                <a:cubicBezTo>
                  <a:pt x="3695700" y="2330034"/>
                  <a:pt x="3644484" y="2381250"/>
                  <a:pt x="3581400" y="2381250"/>
                </a:cubicBezTo>
                <a:lnTo>
                  <a:pt x="114300" y="2381250"/>
                </a:lnTo>
                <a:cubicBezTo>
                  <a:pt x="51216" y="2381250"/>
                  <a:pt x="0" y="2330034"/>
                  <a:pt x="0" y="22669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12700">
            <a:solidFill>
              <a:srgbClr val="4db6ac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28"/>
          <p:cNvSpPr/>
          <p:nvPr/>
        </p:nvSpPr>
        <p:spPr>
          <a:xfrm>
            <a:off x="581040" y="430524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29"/>
          <p:cNvSpPr/>
          <p:nvPr/>
        </p:nvSpPr>
        <p:spPr>
          <a:xfrm>
            <a:off x="666720" y="4419720"/>
            <a:ext cx="285480" cy="228240"/>
          </a:xfrm>
          <a:custGeom>
            <a:avLst/>
            <a:gdLst>
              <a:gd name="textAreaLeft" fmla="*/ 0 w 285480"/>
              <a:gd name="textAreaRight" fmla="*/ 285840 w 28548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30"/>
          <p:cNvSpPr/>
          <p:nvPr/>
        </p:nvSpPr>
        <p:spPr>
          <a:xfrm>
            <a:off x="1152360" y="4400640"/>
            <a:ext cx="21427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eceff1"/>
                </a:solidFill>
                <a:latin typeface="Liter"/>
                <a:ea typeface="Liter"/>
              </a:rPr>
              <a:t>Automation &amp; Efficiency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31"/>
          <p:cNvSpPr/>
          <p:nvPr/>
        </p:nvSpPr>
        <p:spPr>
          <a:xfrm>
            <a:off x="581040" y="4876920"/>
            <a:ext cx="338112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Automated pipelines eliminate manual data processing, reducing human error and freeing data teams to focus on high-value analysis rather than repetitive extraction tasks.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32"/>
          <p:cNvSpPr/>
          <p:nvPr/>
        </p:nvSpPr>
        <p:spPr>
          <a:xfrm>
            <a:off x="581040" y="5986440"/>
            <a:ext cx="3304800" cy="9000"/>
          </a:xfrm>
          <a:custGeom>
            <a:avLst/>
            <a:gdLst>
              <a:gd name="textAreaLeft" fmla="*/ 0 w 3304800"/>
              <a:gd name="textAreaRight" fmla="*/ 3305160 w 3304800"/>
              <a:gd name="textAreaTop" fmla="*/ 0 h 9000"/>
              <a:gd name="textAreaBottom" fmla="*/ 9360 h 9000"/>
            </a:gdLst>
            <a:ahLst/>
            <a:rect l="textAreaLeft" t="textAreaTop" r="textAreaRight" b="textAreaBottom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33"/>
          <p:cNvSpPr/>
          <p:nvPr/>
        </p:nvSpPr>
        <p:spPr>
          <a:xfrm>
            <a:off x="600120" y="6134040"/>
            <a:ext cx="132840" cy="132840"/>
          </a:xfrm>
          <a:custGeom>
            <a:avLst/>
            <a:gdLst>
              <a:gd name="textAreaLeft" fmla="*/ 0 w 132840"/>
              <a:gd name="textAreaRight" fmla="*/ 133200 w 132840"/>
              <a:gd name="textAreaTop" fmla="*/ 0 h 132840"/>
              <a:gd name="textAreaBottom" fmla="*/ 133200 h 132840"/>
            </a:gdLst>
            <a:ahLst/>
            <a:rect l="textAreaLeft" t="textAreaTop" r="textAreaRight" b="textAreaBottom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34"/>
          <p:cNvSpPr/>
          <p:nvPr/>
        </p:nvSpPr>
        <p:spPr>
          <a:xfrm>
            <a:off x="809640" y="6105600"/>
            <a:ext cx="31428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80% time savings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35"/>
          <p:cNvSpPr/>
          <p:nvPr/>
        </p:nvSpPr>
        <p:spPr>
          <a:xfrm>
            <a:off x="4246560" y="4110120"/>
            <a:ext cx="3695400" cy="2381040"/>
          </a:xfrm>
          <a:custGeom>
            <a:avLst/>
            <a:gdLst>
              <a:gd name="textAreaLeft" fmla="*/ 0 w 3695400"/>
              <a:gd name="textAreaRight" fmla="*/ 3695760 w 3695400"/>
              <a:gd name="textAreaTop" fmla="*/ 0 h 2381040"/>
              <a:gd name="textAreaBottom" fmla="*/ 2381400 h 2381040"/>
            </a:gdLst>
            <a:ahLst/>
            <a:rect l="textAreaLeft" t="textAreaTop" r="textAreaRight" b="textAreaBottom"/>
            <a:pathLst>
              <a:path w="3695700" h="2381250">
                <a:moveTo>
                  <a:pt x="114300" y="0"/>
                </a:moveTo>
                <a:lnTo>
                  <a:pt x="3581400" y="0"/>
                </a:lnTo>
                <a:cubicBezTo>
                  <a:pt x="3644484" y="0"/>
                  <a:pt x="3695700" y="51216"/>
                  <a:pt x="3695700" y="114300"/>
                </a:cubicBezTo>
                <a:lnTo>
                  <a:pt x="3695700" y="2266950"/>
                </a:lnTo>
                <a:cubicBezTo>
                  <a:pt x="3695700" y="2330034"/>
                  <a:pt x="3644484" y="2381250"/>
                  <a:pt x="3581400" y="2381250"/>
                </a:cubicBezTo>
                <a:lnTo>
                  <a:pt x="114300" y="2381250"/>
                </a:lnTo>
                <a:cubicBezTo>
                  <a:pt x="51216" y="2381250"/>
                  <a:pt x="0" y="2330034"/>
                  <a:pt x="0" y="22669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12700">
            <a:solidFill>
              <a:srgbClr val="ff8a65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36"/>
          <p:cNvSpPr/>
          <p:nvPr/>
        </p:nvSpPr>
        <p:spPr>
          <a:xfrm>
            <a:off x="4441680" y="430524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37"/>
          <p:cNvSpPr/>
          <p:nvPr/>
        </p:nvSpPr>
        <p:spPr>
          <a:xfrm>
            <a:off x="4556160" y="441972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28600" h="228600">
                <a:moveTo>
                  <a:pt x="100013" y="0"/>
                </a:moveTo>
                <a:cubicBezTo>
                  <a:pt x="115773" y="0"/>
                  <a:pt x="128588" y="9599"/>
                  <a:pt x="128588" y="21431"/>
                </a:cubicBezTo>
                <a:cubicBezTo>
                  <a:pt x="128588" y="26075"/>
                  <a:pt x="126623" y="30361"/>
                  <a:pt x="123230" y="33888"/>
                </a:cubicBezTo>
                <a:cubicBezTo>
                  <a:pt x="120283" y="36969"/>
                  <a:pt x="117872" y="40719"/>
                  <a:pt x="117872" y="45006"/>
                </a:cubicBezTo>
                <a:cubicBezTo>
                  <a:pt x="117872" y="51703"/>
                  <a:pt x="123319" y="57150"/>
                  <a:pt x="130016" y="57150"/>
                </a:cubicBezTo>
                <a:lnTo>
                  <a:pt x="150019" y="57150"/>
                </a:lnTo>
                <a:cubicBezTo>
                  <a:pt x="161851" y="57150"/>
                  <a:pt x="171450" y="66749"/>
                  <a:pt x="171450" y="78581"/>
                </a:cubicBezTo>
                <a:lnTo>
                  <a:pt x="171450" y="98584"/>
                </a:lnTo>
                <a:cubicBezTo>
                  <a:pt x="171450" y="105281"/>
                  <a:pt x="176897" y="110728"/>
                  <a:pt x="183594" y="110728"/>
                </a:cubicBezTo>
                <a:cubicBezTo>
                  <a:pt x="187836" y="110728"/>
                  <a:pt x="191631" y="108317"/>
                  <a:pt x="194712" y="105370"/>
                </a:cubicBezTo>
                <a:cubicBezTo>
                  <a:pt x="198239" y="102022"/>
                  <a:pt x="202525" y="100013"/>
                  <a:pt x="207169" y="100013"/>
                </a:cubicBezTo>
                <a:cubicBezTo>
                  <a:pt x="219001" y="100013"/>
                  <a:pt x="228600" y="112827"/>
                  <a:pt x="228600" y="128588"/>
                </a:cubicBezTo>
                <a:cubicBezTo>
                  <a:pt x="228600" y="144348"/>
                  <a:pt x="219001" y="157163"/>
                  <a:pt x="207169" y="157163"/>
                </a:cubicBezTo>
                <a:cubicBezTo>
                  <a:pt x="202525" y="157163"/>
                  <a:pt x="198194" y="155198"/>
                  <a:pt x="194712" y="151805"/>
                </a:cubicBezTo>
                <a:cubicBezTo>
                  <a:pt x="191631" y="148858"/>
                  <a:pt x="187881" y="146447"/>
                  <a:pt x="183594" y="146447"/>
                </a:cubicBezTo>
                <a:cubicBezTo>
                  <a:pt x="176897" y="146447"/>
                  <a:pt x="171450" y="151894"/>
                  <a:pt x="171450" y="158591"/>
                </a:cubicBezTo>
                <a:lnTo>
                  <a:pt x="171450" y="207169"/>
                </a:lnTo>
                <a:cubicBezTo>
                  <a:pt x="171450" y="219001"/>
                  <a:pt x="161851" y="228600"/>
                  <a:pt x="150019" y="228600"/>
                </a:cubicBezTo>
                <a:lnTo>
                  <a:pt x="124658" y="228600"/>
                </a:lnTo>
                <a:cubicBezTo>
                  <a:pt x="118943" y="228600"/>
                  <a:pt x="114300" y="223957"/>
                  <a:pt x="114300" y="218242"/>
                </a:cubicBezTo>
                <a:cubicBezTo>
                  <a:pt x="114300" y="214134"/>
                  <a:pt x="116890" y="210517"/>
                  <a:pt x="120194" y="208062"/>
                </a:cubicBezTo>
                <a:cubicBezTo>
                  <a:pt x="125373" y="204177"/>
                  <a:pt x="128588" y="198819"/>
                  <a:pt x="128588" y="192881"/>
                </a:cubicBezTo>
                <a:cubicBezTo>
                  <a:pt x="128588" y="181049"/>
                  <a:pt x="115773" y="171450"/>
                  <a:pt x="100013" y="171450"/>
                </a:cubicBezTo>
                <a:cubicBezTo>
                  <a:pt x="84252" y="171450"/>
                  <a:pt x="71438" y="181049"/>
                  <a:pt x="71438" y="192881"/>
                </a:cubicBezTo>
                <a:cubicBezTo>
                  <a:pt x="71438" y="198819"/>
                  <a:pt x="74652" y="204177"/>
                  <a:pt x="79831" y="208062"/>
                </a:cubicBezTo>
                <a:cubicBezTo>
                  <a:pt x="83135" y="210517"/>
                  <a:pt x="85725" y="214089"/>
                  <a:pt x="85725" y="218242"/>
                </a:cubicBezTo>
                <a:cubicBezTo>
                  <a:pt x="85725" y="223957"/>
                  <a:pt x="81082" y="228600"/>
                  <a:pt x="75367" y="228600"/>
                </a:cubicBezTo>
                <a:lnTo>
                  <a:pt x="21431" y="228600"/>
                </a:lnTo>
                <a:cubicBezTo>
                  <a:pt x="9599" y="228600"/>
                  <a:pt x="0" y="219001"/>
                  <a:pt x="0" y="207169"/>
                </a:cubicBezTo>
                <a:lnTo>
                  <a:pt x="0" y="153233"/>
                </a:lnTo>
                <a:cubicBezTo>
                  <a:pt x="0" y="147518"/>
                  <a:pt x="4643" y="142875"/>
                  <a:pt x="10358" y="142875"/>
                </a:cubicBezTo>
                <a:cubicBezTo>
                  <a:pt x="14466" y="142875"/>
                  <a:pt x="18083" y="145465"/>
                  <a:pt x="20538" y="148769"/>
                </a:cubicBezTo>
                <a:cubicBezTo>
                  <a:pt x="24423" y="153948"/>
                  <a:pt x="29781" y="157163"/>
                  <a:pt x="35719" y="157163"/>
                </a:cubicBezTo>
                <a:cubicBezTo>
                  <a:pt x="47551" y="157163"/>
                  <a:pt x="57150" y="144348"/>
                  <a:pt x="57150" y="128588"/>
                </a:cubicBezTo>
                <a:cubicBezTo>
                  <a:pt x="57150" y="112827"/>
                  <a:pt x="47551" y="100013"/>
                  <a:pt x="35719" y="100013"/>
                </a:cubicBezTo>
                <a:cubicBezTo>
                  <a:pt x="29781" y="100013"/>
                  <a:pt x="24423" y="103227"/>
                  <a:pt x="20538" y="108406"/>
                </a:cubicBezTo>
                <a:cubicBezTo>
                  <a:pt x="18083" y="111710"/>
                  <a:pt x="14511" y="114300"/>
                  <a:pt x="10358" y="114300"/>
                </a:cubicBezTo>
                <a:cubicBezTo>
                  <a:pt x="4643" y="114300"/>
                  <a:pt x="0" y="109657"/>
                  <a:pt x="0" y="103942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70009" y="57150"/>
                </a:lnTo>
                <a:cubicBezTo>
                  <a:pt x="76706" y="57150"/>
                  <a:pt x="82153" y="51703"/>
                  <a:pt x="82153" y="45006"/>
                </a:cubicBezTo>
                <a:cubicBezTo>
                  <a:pt x="82153" y="40764"/>
                  <a:pt x="79742" y="36969"/>
                  <a:pt x="76795" y="33888"/>
                </a:cubicBezTo>
                <a:cubicBezTo>
                  <a:pt x="73447" y="30361"/>
                  <a:pt x="71438" y="26075"/>
                  <a:pt x="71438" y="21431"/>
                </a:cubicBezTo>
                <a:cubicBezTo>
                  <a:pt x="71438" y="9599"/>
                  <a:pt x="84252" y="0"/>
                  <a:pt x="100013" y="0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38"/>
          <p:cNvSpPr/>
          <p:nvPr/>
        </p:nvSpPr>
        <p:spPr>
          <a:xfrm>
            <a:off x="5013360" y="4400640"/>
            <a:ext cx="1685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eceff1"/>
                </a:solidFill>
                <a:latin typeface="Liter"/>
                <a:ea typeface="Liter"/>
              </a:rPr>
              <a:t>System Integration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39"/>
          <p:cNvSpPr/>
          <p:nvPr/>
        </p:nvSpPr>
        <p:spPr>
          <a:xfrm>
            <a:off x="4441680" y="4876920"/>
            <a:ext cx="338112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ETL bridges the gap between legacy systems, modern SaaS applications, and cloud platforms, enabling seamless data flow across the entire technology stack.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40"/>
          <p:cNvSpPr/>
          <p:nvPr/>
        </p:nvSpPr>
        <p:spPr>
          <a:xfrm>
            <a:off x="4441680" y="5986440"/>
            <a:ext cx="3304800" cy="9000"/>
          </a:xfrm>
          <a:custGeom>
            <a:avLst/>
            <a:gdLst>
              <a:gd name="textAreaLeft" fmla="*/ 0 w 3304800"/>
              <a:gd name="textAreaRight" fmla="*/ 3305160 w 3304800"/>
              <a:gd name="textAreaTop" fmla="*/ 0 h 9000"/>
              <a:gd name="textAreaBottom" fmla="*/ 9360 h 9000"/>
            </a:gdLst>
            <a:ahLst/>
            <a:rect l="textAreaLeft" t="textAreaTop" r="textAreaRight" b="textAreaBottom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41"/>
          <p:cNvSpPr/>
          <p:nvPr/>
        </p:nvSpPr>
        <p:spPr>
          <a:xfrm>
            <a:off x="4460760" y="6134040"/>
            <a:ext cx="132840" cy="132840"/>
          </a:xfrm>
          <a:custGeom>
            <a:avLst/>
            <a:gdLst>
              <a:gd name="textAreaLeft" fmla="*/ 0 w 132840"/>
              <a:gd name="textAreaRight" fmla="*/ 133200 w 132840"/>
              <a:gd name="textAreaTop" fmla="*/ 0 h 132840"/>
              <a:gd name="textAreaBottom" fmla="*/ 133200 h 132840"/>
            </a:gdLst>
            <a:ahLst/>
            <a:rect l="textAreaLeft" t="textAreaTop" r="textAreaRight" b="textAreaBottom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42"/>
          <p:cNvSpPr/>
          <p:nvPr/>
        </p:nvSpPr>
        <p:spPr>
          <a:xfrm>
            <a:off x="4670280" y="6105600"/>
            <a:ext cx="31428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ff8a65"/>
                </a:solidFill>
                <a:latin typeface="Quattrocento Sans"/>
                <a:ea typeface="Quattrocento Sans"/>
              </a:rPr>
              <a:t>Connect 100+ sources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43"/>
          <p:cNvSpPr/>
          <p:nvPr/>
        </p:nvSpPr>
        <p:spPr>
          <a:xfrm>
            <a:off x="8107200" y="4110120"/>
            <a:ext cx="3695400" cy="2381040"/>
          </a:xfrm>
          <a:custGeom>
            <a:avLst/>
            <a:gdLst>
              <a:gd name="textAreaLeft" fmla="*/ 0 w 3695400"/>
              <a:gd name="textAreaRight" fmla="*/ 3695760 w 3695400"/>
              <a:gd name="textAreaTop" fmla="*/ 0 h 2381040"/>
              <a:gd name="textAreaBottom" fmla="*/ 2381400 h 2381040"/>
            </a:gdLst>
            <a:ahLst/>
            <a:rect l="textAreaLeft" t="textAreaTop" r="textAreaRight" b="textAreaBottom"/>
            <a:pathLst>
              <a:path w="3695700" h="2381250">
                <a:moveTo>
                  <a:pt x="114300" y="0"/>
                </a:moveTo>
                <a:lnTo>
                  <a:pt x="3581400" y="0"/>
                </a:lnTo>
                <a:cubicBezTo>
                  <a:pt x="3644484" y="0"/>
                  <a:pt x="3695700" y="51216"/>
                  <a:pt x="3695700" y="114300"/>
                </a:cubicBezTo>
                <a:lnTo>
                  <a:pt x="3695700" y="2266950"/>
                </a:lnTo>
                <a:cubicBezTo>
                  <a:pt x="3695700" y="2330034"/>
                  <a:pt x="3644484" y="2381250"/>
                  <a:pt x="3581400" y="2381250"/>
                </a:cubicBezTo>
                <a:lnTo>
                  <a:pt x="114300" y="2381250"/>
                </a:lnTo>
                <a:cubicBezTo>
                  <a:pt x="51216" y="2381250"/>
                  <a:pt x="0" y="2330034"/>
                  <a:pt x="0" y="22669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44"/>
          <p:cNvSpPr/>
          <p:nvPr/>
        </p:nvSpPr>
        <p:spPr>
          <a:xfrm>
            <a:off x="8302680" y="430524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45"/>
          <p:cNvSpPr/>
          <p:nvPr/>
        </p:nvSpPr>
        <p:spPr>
          <a:xfrm>
            <a:off x="8416800" y="441972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46"/>
          <p:cNvSpPr/>
          <p:nvPr/>
        </p:nvSpPr>
        <p:spPr>
          <a:xfrm>
            <a:off x="8874000" y="4400640"/>
            <a:ext cx="2266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eceff1"/>
                </a:solidFill>
                <a:latin typeface="Liter"/>
                <a:ea typeface="Liter"/>
              </a:rPr>
              <a:t>Scalability &amp; Performance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47"/>
          <p:cNvSpPr/>
          <p:nvPr/>
        </p:nvSpPr>
        <p:spPr>
          <a:xfrm>
            <a:off x="8302680" y="4876920"/>
            <a:ext cx="338112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Modern ETL architectures handle massive data volumes with horizontal scaling, ensuring pipelines perform efficiently as data grows from gigabytes to petabytes.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48"/>
          <p:cNvSpPr/>
          <p:nvPr/>
        </p:nvSpPr>
        <p:spPr>
          <a:xfrm>
            <a:off x="8302680" y="5986440"/>
            <a:ext cx="3304800" cy="9000"/>
          </a:xfrm>
          <a:custGeom>
            <a:avLst/>
            <a:gdLst>
              <a:gd name="textAreaLeft" fmla="*/ 0 w 3304800"/>
              <a:gd name="textAreaRight" fmla="*/ 3305160 w 3304800"/>
              <a:gd name="textAreaTop" fmla="*/ 0 h 9000"/>
              <a:gd name="textAreaBottom" fmla="*/ 9360 h 9000"/>
            </a:gdLst>
            <a:ahLst/>
            <a:rect l="textAreaLeft" t="textAreaTop" r="textAreaRight" b="textAreaBottom"/>
            <a:pathLst>
              <a:path w="3305175" h="9525">
                <a:moveTo>
                  <a:pt x="0" y="0"/>
                </a:moveTo>
                <a:lnTo>
                  <a:pt x="3305175" y="0"/>
                </a:lnTo>
                <a:lnTo>
                  <a:pt x="33051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607d8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49"/>
          <p:cNvSpPr/>
          <p:nvPr/>
        </p:nvSpPr>
        <p:spPr>
          <a:xfrm>
            <a:off x="8321400" y="6134040"/>
            <a:ext cx="132840" cy="132840"/>
          </a:xfrm>
          <a:custGeom>
            <a:avLst/>
            <a:gdLst>
              <a:gd name="textAreaLeft" fmla="*/ 0 w 132840"/>
              <a:gd name="textAreaRight" fmla="*/ 133200 w 132840"/>
              <a:gd name="textAreaTop" fmla="*/ 0 h 132840"/>
              <a:gd name="textAreaBottom" fmla="*/ 133200 h 132840"/>
            </a:gdLst>
            <a:ahLst/>
            <a:rect l="textAreaLeft" t="textAreaTop" r="textAreaRight" b="textAreaBottom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50"/>
          <p:cNvSpPr/>
          <p:nvPr/>
        </p:nvSpPr>
        <p:spPr>
          <a:xfrm>
            <a:off x="8531280" y="6105600"/>
            <a:ext cx="31428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607d8b"/>
                </a:solidFill>
                <a:latin typeface="Quattrocento Sans"/>
                <a:ea typeface="Quattrocento Sans"/>
              </a:rPr>
              <a:t>Petabyte-scale ready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380880" y="380880"/>
            <a:ext cx="1150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58" strike="noStrike">
                <a:solidFill>
                  <a:srgbClr val="4db6ac"/>
                </a:solidFill>
                <a:latin typeface="Quattrocento Sans"/>
                <a:ea typeface="Quattrocento Sans"/>
              </a:rPr>
              <a:t>ARCHITECTURE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380880" y="685800"/>
            <a:ext cx="116010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700" spc="-1" strike="noStrike">
                <a:solidFill>
                  <a:srgbClr val="eceff1"/>
                </a:solidFill>
                <a:latin typeface="Liter"/>
                <a:ea typeface="Liter"/>
              </a:rPr>
              <a:t>ETL Pipeline Architecture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380880" y="1143000"/>
            <a:ext cx="1151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3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End-to-End Data Flow from Source to Insights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3"/>
          <p:cNvSpPr/>
          <p:nvPr/>
        </p:nvSpPr>
        <p:spPr>
          <a:xfrm>
            <a:off x="385920" y="1566720"/>
            <a:ext cx="11420280" cy="4905000"/>
          </a:xfrm>
          <a:custGeom>
            <a:avLst/>
            <a:gdLst>
              <a:gd name="textAreaLeft" fmla="*/ 0 w 11420280"/>
              <a:gd name="textAreaRight" fmla="*/ 11420640 w 11420280"/>
              <a:gd name="textAreaTop" fmla="*/ 0 h 4905000"/>
              <a:gd name="textAreaBottom" fmla="*/ 4905360 h 4905000"/>
            </a:gdLst>
            <a:ahLst/>
            <a:rect l="textAreaLeft" t="textAreaTop" r="textAreaRight" b="textAreaBottom"/>
            <a:pathLst>
              <a:path w="11420475" h="4905375">
                <a:moveTo>
                  <a:pt x="114295" y="0"/>
                </a:moveTo>
                <a:lnTo>
                  <a:pt x="11306180" y="0"/>
                </a:lnTo>
                <a:cubicBezTo>
                  <a:pt x="11369303" y="0"/>
                  <a:pt x="11420475" y="51172"/>
                  <a:pt x="11420475" y="114295"/>
                </a:cubicBezTo>
                <a:lnTo>
                  <a:pt x="11420475" y="4791080"/>
                </a:lnTo>
                <a:cubicBezTo>
                  <a:pt x="11420475" y="4854203"/>
                  <a:pt x="11369303" y="4905375"/>
                  <a:pt x="11306180" y="4905375"/>
                </a:cubicBezTo>
                <a:lnTo>
                  <a:pt x="114295" y="4905375"/>
                </a:lnTo>
                <a:cubicBezTo>
                  <a:pt x="51172" y="4905375"/>
                  <a:pt x="0" y="4854203"/>
                  <a:pt x="0" y="479108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4"/>
          <p:cNvSpPr/>
          <p:nvPr/>
        </p:nvSpPr>
        <p:spPr>
          <a:xfrm>
            <a:off x="625680" y="2619360"/>
            <a:ext cx="742680" cy="742680"/>
          </a:xfrm>
          <a:custGeom>
            <a:avLst/>
            <a:gdLst>
              <a:gd name="textAreaLeft" fmla="*/ 0 w 742680"/>
              <a:gd name="textAreaRight" fmla="*/ 743040 w 742680"/>
              <a:gd name="textAreaTop" fmla="*/ 0 h 742680"/>
              <a:gd name="textAreaBottom" fmla="*/ 743040 h 742680"/>
            </a:gdLst>
            <a:ahLst/>
            <a:rect l="textAreaLeft" t="textAreaTop" r="textAreaRight" b="textAreaBottom"/>
            <a:pathLst>
              <a:path w="742950" h="742950">
                <a:moveTo>
                  <a:pt x="114303" y="0"/>
                </a:moveTo>
                <a:lnTo>
                  <a:pt x="628647" y="0"/>
                </a:lnTo>
                <a:cubicBezTo>
                  <a:pt x="691733" y="0"/>
                  <a:pt x="742950" y="51217"/>
                  <a:pt x="742950" y="114303"/>
                </a:cubicBezTo>
                <a:lnTo>
                  <a:pt x="742950" y="628647"/>
                </a:lnTo>
                <a:cubicBezTo>
                  <a:pt x="742950" y="691733"/>
                  <a:pt x="691733" y="742950"/>
                  <a:pt x="628647" y="742950"/>
                </a:cubicBezTo>
                <a:lnTo>
                  <a:pt x="114303" y="742950"/>
                </a:lnTo>
                <a:cubicBezTo>
                  <a:pt x="51217" y="742950"/>
                  <a:pt x="0" y="691733"/>
                  <a:pt x="0" y="6286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25400">
            <a:solidFill>
              <a:srgbClr val="4db6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5"/>
          <p:cNvSpPr/>
          <p:nvPr/>
        </p:nvSpPr>
        <p:spPr>
          <a:xfrm>
            <a:off x="874800" y="2847960"/>
            <a:ext cx="249840" cy="285480"/>
          </a:xfrm>
          <a:custGeom>
            <a:avLst/>
            <a:gdLst>
              <a:gd name="textAreaLeft" fmla="*/ 0 w 249840"/>
              <a:gd name="textAreaRight" fmla="*/ 250200 w 249840"/>
              <a:gd name="textAreaTop" fmla="*/ 0 h 285480"/>
              <a:gd name="textAreaBottom" fmla="*/ 285840 h 285480"/>
            </a:gdLst>
            <a:ahLst/>
            <a:rect l="textAreaLeft" t="textAreaTop" r="textAreaRight" b="textAreaBottom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542880" y="3448080"/>
            <a:ext cx="904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Data Sources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547560" y="3905280"/>
            <a:ext cx="8949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DBs, APIs, Files, Streams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8"/>
          <p:cNvSpPr/>
          <p:nvPr/>
        </p:nvSpPr>
        <p:spPr>
          <a:xfrm>
            <a:off x="1718640" y="329580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9"/>
          <p:cNvSpPr/>
          <p:nvPr/>
        </p:nvSpPr>
        <p:spPr>
          <a:xfrm>
            <a:off x="1527840" y="3562200"/>
            <a:ext cx="609120" cy="37800"/>
          </a:xfrm>
          <a:custGeom>
            <a:avLst/>
            <a:gdLst>
              <a:gd name="textAreaLeft" fmla="*/ 0 w 609120"/>
              <a:gd name="textAreaRight" fmla="*/ 609480 w 609120"/>
              <a:gd name="textAreaTop" fmla="*/ 0 h 37800"/>
              <a:gd name="textAreaBottom" fmla="*/ 38160 h 37800"/>
            </a:gdLst>
            <a:ahLst/>
            <a:rect l="textAreaLeft" t="textAreaTop" r="textAreaRight" b="textAreaBottom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10"/>
          <p:cNvSpPr/>
          <p:nvPr/>
        </p:nvSpPr>
        <p:spPr>
          <a:xfrm>
            <a:off x="2296800" y="2828880"/>
            <a:ext cx="742680" cy="742680"/>
          </a:xfrm>
          <a:custGeom>
            <a:avLst/>
            <a:gdLst>
              <a:gd name="textAreaLeft" fmla="*/ 0 w 742680"/>
              <a:gd name="textAreaRight" fmla="*/ 743040 w 742680"/>
              <a:gd name="textAreaTop" fmla="*/ 0 h 742680"/>
              <a:gd name="textAreaBottom" fmla="*/ 743040 h 742680"/>
            </a:gdLst>
            <a:ahLst/>
            <a:rect l="textAreaLeft" t="textAreaTop" r="textAreaRight" b="textAreaBottom"/>
            <a:pathLst>
              <a:path w="742950" h="742950">
                <a:moveTo>
                  <a:pt x="114303" y="0"/>
                </a:moveTo>
                <a:lnTo>
                  <a:pt x="628647" y="0"/>
                </a:lnTo>
                <a:cubicBezTo>
                  <a:pt x="691733" y="0"/>
                  <a:pt x="742950" y="51217"/>
                  <a:pt x="742950" y="114303"/>
                </a:cubicBezTo>
                <a:lnTo>
                  <a:pt x="742950" y="628647"/>
                </a:lnTo>
                <a:cubicBezTo>
                  <a:pt x="742950" y="691733"/>
                  <a:pt x="691733" y="742950"/>
                  <a:pt x="628647" y="742950"/>
                </a:cubicBezTo>
                <a:lnTo>
                  <a:pt x="114303" y="742950"/>
                </a:lnTo>
                <a:cubicBezTo>
                  <a:pt x="51217" y="742950"/>
                  <a:pt x="0" y="691733"/>
                  <a:pt x="0" y="6286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25400">
            <a:solidFill>
              <a:srgbClr val="ff8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1"/>
          <p:cNvSpPr/>
          <p:nvPr/>
        </p:nvSpPr>
        <p:spPr>
          <a:xfrm>
            <a:off x="2545560" y="3057480"/>
            <a:ext cx="249840" cy="285480"/>
          </a:xfrm>
          <a:custGeom>
            <a:avLst/>
            <a:gdLst>
              <a:gd name="textAreaLeft" fmla="*/ 0 w 249840"/>
              <a:gd name="textAreaRight" fmla="*/ 250200 w 249840"/>
              <a:gd name="textAreaTop" fmla="*/ 0 h 285480"/>
              <a:gd name="textAreaBottom" fmla="*/ 285840 h 285480"/>
            </a:gdLst>
            <a:ahLst/>
            <a:rect l="textAreaLeft" t="textAreaTop" r="textAreaRight" b="textAreaBottom"/>
            <a:pathLst>
              <a:path w="250031" h="285750">
                <a:moveTo>
                  <a:pt x="142875" y="17859"/>
                </a:moveTo>
                <a:cubicBezTo>
                  <a:pt x="142875" y="7981"/>
                  <a:pt x="134894" y="0"/>
                  <a:pt x="125016" y="0"/>
                </a:cubicBezTo>
                <a:cubicBezTo>
                  <a:pt x="115137" y="0"/>
                  <a:pt x="107156" y="7981"/>
                  <a:pt x="107156" y="17859"/>
                </a:cubicBezTo>
                <a:lnTo>
                  <a:pt x="107156" y="135452"/>
                </a:lnTo>
                <a:lnTo>
                  <a:pt x="84051" y="112347"/>
                </a:lnTo>
                <a:cubicBezTo>
                  <a:pt x="77074" y="105370"/>
                  <a:pt x="65745" y="105370"/>
                  <a:pt x="58769" y="112347"/>
                </a:cubicBezTo>
                <a:cubicBezTo>
                  <a:pt x="51792" y="119323"/>
                  <a:pt x="51792" y="130652"/>
                  <a:pt x="58769" y="137629"/>
                </a:cubicBezTo>
                <a:lnTo>
                  <a:pt x="112347" y="191207"/>
                </a:lnTo>
                <a:cubicBezTo>
                  <a:pt x="119323" y="198183"/>
                  <a:pt x="130652" y="198183"/>
                  <a:pt x="137629" y="191207"/>
                </a:cubicBezTo>
                <a:lnTo>
                  <a:pt x="191207" y="137629"/>
                </a:lnTo>
                <a:cubicBezTo>
                  <a:pt x="198183" y="130652"/>
                  <a:pt x="198183" y="119323"/>
                  <a:pt x="191207" y="112347"/>
                </a:cubicBezTo>
                <a:cubicBezTo>
                  <a:pt x="184231" y="105370"/>
                  <a:pt x="172901" y="105370"/>
                  <a:pt x="165925" y="112347"/>
                </a:cubicBezTo>
                <a:lnTo>
                  <a:pt x="142875" y="135452"/>
                </a:lnTo>
                <a:lnTo>
                  <a:pt x="142875" y="17859"/>
                </a:lnTo>
                <a:close/>
                <a:moveTo>
                  <a:pt x="35719" y="178594"/>
                </a:moveTo>
                <a:cubicBezTo>
                  <a:pt x="16018" y="178594"/>
                  <a:pt x="0" y="194611"/>
                  <a:pt x="0" y="21431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214313"/>
                </a:lnTo>
                <a:cubicBezTo>
                  <a:pt x="250031" y="194611"/>
                  <a:pt x="234014" y="178594"/>
                  <a:pt x="214313" y="178594"/>
                </a:cubicBezTo>
                <a:lnTo>
                  <a:pt x="188137" y="178594"/>
                </a:lnTo>
                <a:lnTo>
                  <a:pt x="156549" y="210183"/>
                </a:lnTo>
                <a:cubicBezTo>
                  <a:pt x="139136" y="227595"/>
                  <a:pt x="110840" y="227595"/>
                  <a:pt x="93427" y="210183"/>
                </a:cubicBezTo>
                <a:lnTo>
                  <a:pt x="61894" y="178594"/>
                </a:lnTo>
                <a:lnTo>
                  <a:pt x="35719" y="178594"/>
                </a:lnTo>
                <a:close/>
                <a:moveTo>
                  <a:pt x="205383" y="209848"/>
                </a:moveTo>
                <a:cubicBezTo>
                  <a:pt x="212775" y="209848"/>
                  <a:pt x="218777" y="215850"/>
                  <a:pt x="218777" y="223242"/>
                </a:cubicBezTo>
                <a:cubicBezTo>
                  <a:pt x="218777" y="230635"/>
                  <a:pt x="212775" y="236637"/>
                  <a:pt x="205383" y="236637"/>
                </a:cubicBezTo>
                <a:cubicBezTo>
                  <a:pt x="197990" y="236637"/>
                  <a:pt x="191988" y="230635"/>
                  <a:pt x="191988" y="223242"/>
                </a:cubicBezTo>
                <a:cubicBezTo>
                  <a:pt x="191988" y="215850"/>
                  <a:pt x="197990" y="209848"/>
                  <a:pt x="205383" y="209848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2246760" y="3657600"/>
            <a:ext cx="847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Extraction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2251440" y="3886200"/>
            <a:ext cx="8377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Pull &amp; Collect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14"/>
          <p:cNvSpPr/>
          <p:nvPr/>
        </p:nvSpPr>
        <p:spPr>
          <a:xfrm>
            <a:off x="3389400" y="329580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5"/>
          <p:cNvSpPr/>
          <p:nvPr/>
        </p:nvSpPr>
        <p:spPr>
          <a:xfrm>
            <a:off x="3198600" y="3562200"/>
            <a:ext cx="609120" cy="37800"/>
          </a:xfrm>
          <a:custGeom>
            <a:avLst/>
            <a:gdLst>
              <a:gd name="textAreaLeft" fmla="*/ 0 w 609120"/>
              <a:gd name="textAreaRight" fmla="*/ 609480 w 609120"/>
              <a:gd name="textAreaTop" fmla="*/ 0 h 37800"/>
              <a:gd name="textAreaBottom" fmla="*/ 38160 h 37800"/>
            </a:gdLst>
            <a:ahLst/>
            <a:rect l="textAreaLeft" t="textAreaTop" r="textAreaRight" b="textAreaBottom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6"/>
          <p:cNvSpPr/>
          <p:nvPr/>
        </p:nvSpPr>
        <p:spPr>
          <a:xfrm>
            <a:off x="3967560" y="2733840"/>
            <a:ext cx="742680" cy="742680"/>
          </a:xfrm>
          <a:custGeom>
            <a:avLst/>
            <a:gdLst>
              <a:gd name="textAreaLeft" fmla="*/ 0 w 742680"/>
              <a:gd name="textAreaRight" fmla="*/ 743040 w 742680"/>
              <a:gd name="textAreaTop" fmla="*/ 0 h 742680"/>
              <a:gd name="textAreaBottom" fmla="*/ 743040 h 742680"/>
            </a:gdLst>
            <a:ahLst/>
            <a:rect l="textAreaLeft" t="textAreaTop" r="textAreaRight" b="textAreaBottom"/>
            <a:pathLst>
              <a:path w="742950" h="742950">
                <a:moveTo>
                  <a:pt x="114303" y="0"/>
                </a:moveTo>
                <a:lnTo>
                  <a:pt x="628647" y="0"/>
                </a:lnTo>
                <a:cubicBezTo>
                  <a:pt x="691733" y="0"/>
                  <a:pt x="742950" y="51217"/>
                  <a:pt x="742950" y="114303"/>
                </a:cubicBezTo>
                <a:lnTo>
                  <a:pt x="742950" y="628647"/>
                </a:lnTo>
                <a:cubicBezTo>
                  <a:pt x="742950" y="691733"/>
                  <a:pt x="691733" y="742950"/>
                  <a:pt x="628647" y="742950"/>
                </a:cubicBezTo>
                <a:lnTo>
                  <a:pt x="114303" y="742950"/>
                </a:lnTo>
                <a:cubicBezTo>
                  <a:pt x="51217" y="742950"/>
                  <a:pt x="0" y="691733"/>
                  <a:pt x="0" y="6286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25400">
            <a:solidFill>
              <a:srgbClr val="607d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17"/>
          <p:cNvSpPr/>
          <p:nvPr/>
        </p:nvSpPr>
        <p:spPr>
          <a:xfrm>
            <a:off x="4216320" y="2962440"/>
            <a:ext cx="249840" cy="285480"/>
          </a:xfrm>
          <a:custGeom>
            <a:avLst/>
            <a:gdLst>
              <a:gd name="textAreaLeft" fmla="*/ 0 w 249840"/>
              <a:gd name="textAreaRight" fmla="*/ 250200 w 249840"/>
              <a:gd name="textAreaTop" fmla="*/ 0 h 285480"/>
              <a:gd name="textAreaBottom" fmla="*/ 285840 h 285480"/>
            </a:gdLst>
            <a:ahLst/>
            <a:rect l="textAreaLeft" t="textAreaTop" r="textAreaRight" b="textAreaBottom"/>
            <a:pathLst>
              <a:path w="250031" h="285750">
                <a:moveTo>
                  <a:pt x="206164" y="71438"/>
                </a:moveTo>
                <a:lnTo>
                  <a:pt x="187021" y="44648"/>
                </a:lnTo>
                <a:lnTo>
                  <a:pt x="63066" y="44648"/>
                </a:lnTo>
                <a:lnTo>
                  <a:pt x="43923" y="71438"/>
                </a:lnTo>
                <a:lnTo>
                  <a:pt x="206164" y="71438"/>
                </a:lnTo>
                <a:close/>
                <a:moveTo>
                  <a:pt x="0" y="82879"/>
                </a:moveTo>
                <a:cubicBezTo>
                  <a:pt x="0" y="75456"/>
                  <a:pt x="2344" y="68200"/>
                  <a:pt x="6641" y="62117"/>
                </a:cubicBezTo>
                <a:lnTo>
                  <a:pt x="33989" y="23887"/>
                </a:lnTo>
                <a:cubicBezTo>
                  <a:pt x="40686" y="14511"/>
                  <a:pt x="51513" y="8930"/>
                  <a:pt x="63010" y="8930"/>
                </a:cubicBezTo>
                <a:lnTo>
                  <a:pt x="186965" y="8930"/>
                </a:lnTo>
                <a:cubicBezTo>
                  <a:pt x="198518" y="8930"/>
                  <a:pt x="209345" y="14511"/>
                  <a:pt x="216043" y="23887"/>
                </a:cubicBezTo>
                <a:lnTo>
                  <a:pt x="243334" y="62117"/>
                </a:lnTo>
                <a:cubicBezTo>
                  <a:pt x="247687" y="68200"/>
                  <a:pt x="249975" y="75456"/>
                  <a:pt x="249975" y="82879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82879"/>
                </a:ln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18"/>
          <p:cNvSpPr/>
          <p:nvPr/>
        </p:nvSpPr>
        <p:spPr>
          <a:xfrm>
            <a:off x="3884400" y="3562200"/>
            <a:ext cx="904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Staging Area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19"/>
          <p:cNvSpPr/>
          <p:nvPr/>
        </p:nvSpPr>
        <p:spPr>
          <a:xfrm>
            <a:off x="3889440" y="3790800"/>
            <a:ext cx="8949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Raw Data Storage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20"/>
          <p:cNvSpPr/>
          <p:nvPr/>
        </p:nvSpPr>
        <p:spPr>
          <a:xfrm>
            <a:off x="5060160" y="329580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21"/>
          <p:cNvSpPr/>
          <p:nvPr/>
        </p:nvSpPr>
        <p:spPr>
          <a:xfrm>
            <a:off x="4869720" y="3562200"/>
            <a:ext cx="609120" cy="37800"/>
          </a:xfrm>
          <a:custGeom>
            <a:avLst/>
            <a:gdLst>
              <a:gd name="textAreaLeft" fmla="*/ 0 w 609120"/>
              <a:gd name="textAreaRight" fmla="*/ 609480 w 609120"/>
              <a:gd name="textAreaTop" fmla="*/ 0 h 37800"/>
              <a:gd name="textAreaBottom" fmla="*/ 38160 h 37800"/>
            </a:gdLst>
            <a:ahLst/>
            <a:rect l="textAreaLeft" t="textAreaTop" r="textAreaRight" b="textAreaBottom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22"/>
          <p:cNvSpPr/>
          <p:nvPr/>
        </p:nvSpPr>
        <p:spPr>
          <a:xfrm>
            <a:off x="5724360" y="2733840"/>
            <a:ext cx="742680" cy="742680"/>
          </a:xfrm>
          <a:custGeom>
            <a:avLst/>
            <a:gdLst>
              <a:gd name="textAreaLeft" fmla="*/ 0 w 742680"/>
              <a:gd name="textAreaRight" fmla="*/ 743040 w 742680"/>
              <a:gd name="textAreaTop" fmla="*/ 0 h 742680"/>
              <a:gd name="textAreaBottom" fmla="*/ 743040 h 742680"/>
            </a:gdLst>
            <a:ahLst/>
            <a:rect l="textAreaLeft" t="textAreaTop" r="textAreaRight" b="textAreaBottom"/>
            <a:pathLst>
              <a:path w="742950" h="742950">
                <a:moveTo>
                  <a:pt x="114303" y="0"/>
                </a:moveTo>
                <a:lnTo>
                  <a:pt x="628647" y="0"/>
                </a:lnTo>
                <a:cubicBezTo>
                  <a:pt x="691733" y="0"/>
                  <a:pt x="742950" y="51217"/>
                  <a:pt x="742950" y="114303"/>
                </a:cubicBezTo>
                <a:lnTo>
                  <a:pt x="742950" y="628647"/>
                </a:lnTo>
                <a:cubicBezTo>
                  <a:pt x="742950" y="691733"/>
                  <a:pt x="691733" y="742950"/>
                  <a:pt x="628647" y="742950"/>
                </a:cubicBezTo>
                <a:lnTo>
                  <a:pt x="114303" y="742950"/>
                </a:lnTo>
                <a:cubicBezTo>
                  <a:pt x="51217" y="742950"/>
                  <a:pt x="0" y="691733"/>
                  <a:pt x="0" y="6286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25400">
            <a:solidFill>
              <a:srgbClr val="4db6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23"/>
          <p:cNvSpPr/>
          <p:nvPr/>
        </p:nvSpPr>
        <p:spPr>
          <a:xfrm>
            <a:off x="5919480" y="2962440"/>
            <a:ext cx="356760" cy="285480"/>
          </a:xfrm>
          <a:custGeom>
            <a:avLst/>
            <a:gdLst>
              <a:gd name="textAreaLeft" fmla="*/ 0 w 356760"/>
              <a:gd name="textAreaRight" fmla="*/ 357120 w 356760"/>
              <a:gd name="textAreaTop" fmla="*/ 0 h 285480"/>
              <a:gd name="textAreaBottom" fmla="*/ 285840 h 285480"/>
            </a:gdLst>
            <a:ahLst/>
            <a:rect l="textAreaLeft" t="textAreaTop" r="textAreaRight" b="textAreaBottom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24"/>
          <p:cNvSpPr/>
          <p:nvPr/>
        </p:nvSpPr>
        <p:spPr>
          <a:xfrm>
            <a:off x="5555520" y="3562200"/>
            <a:ext cx="107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Transformation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25"/>
          <p:cNvSpPr/>
          <p:nvPr/>
        </p:nvSpPr>
        <p:spPr>
          <a:xfrm>
            <a:off x="5560200" y="3790800"/>
            <a:ext cx="10663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Clean &amp; Structure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26"/>
          <p:cNvSpPr/>
          <p:nvPr/>
        </p:nvSpPr>
        <p:spPr>
          <a:xfrm>
            <a:off x="6903000" y="329580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27"/>
          <p:cNvSpPr/>
          <p:nvPr/>
        </p:nvSpPr>
        <p:spPr>
          <a:xfrm>
            <a:off x="6712560" y="3562200"/>
            <a:ext cx="609120" cy="37800"/>
          </a:xfrm>
          <a:custGeom>
            <a:avLst/>
            <a:gdLst>
              <a:gd name="textAreaLeft" fmla="*/ 0 w 609120"/>
              <a:gd name="textAreaRight" fmla="*/ 609480 w 609120"/>
              <a:gd name="textAreaTop" fmla="*/ 0 h 37800"/>
              <a:gd name="textAreaBottom" fmla="*/ 38160 h 37800"/>
            </a:gdLst>
            <a:ahLst/>
            <a:rect l="textAreaLeft" t="textAreaTop" r="textAreaRight" b="textAreaBottom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28"/>
          <p:cNvSpPr/>
          <p:nvPr/>
        </p:nvSpPr>
        <p:spPr>
          <a:xfrm>
            <a:off x="7481160" y="2733840"/>
            <a:ext cx="742680" cy="742680"/>
          </a:xfrm>
          <a:custGeom>
            <a:avLst/>
            <a:gdLst>
              <a:gd name="textAreaLeft" fmla="*/ 0 w 742680"/>
              <a:gd name="textAreaRight" fmla="*/ 743040 w 742680"/>
              <a:gd name="textAreaTop" fmla="*/ 0 h 742680"/>
              <a:gd name="textAreaBottom" fmla="*/ 743040 h 742680"/>
            </a:gdLst>
            <a:ahLst/>
            <a:rect l="textAreaLeft" t="textAreaTop" r="textAreaRight" b="textAreaBottom"/>
            <a:pathLst>
              <a:path w="742950" h="742950">
                <a:moveTo>
                  <a:pt x="114303" y="0"/>
                </a:moveTo>
                <a:lnTo>
                  <a:pt x="628647" y="0"/>
                </a:lnTo>
                <a:cubicBezTo>
                  <a:pt x="691733" y="0"/>
                  <a:pt x="742950" y="51217"/>
                  <a:pt x="742950" y="114303"/>
                </a:cubicBezTo>
                <a:lnTo>
                  <a:pt x="742950" y="628647"/>
                </a:lnTo>
                <a:cubicBezTo>
                  <a:pt x="742950" y="691733"/>
                  <a:pt x="691733" y="742950"/>
                  <a:pt x="628647" y="742950"/>
                </a:cubicBezTo>
                <a:lnTo>
                  <a:pt x="114303" y="742950"/>
                </a:lnTo>
                <a:cubicBezTo>
                  <a:pt x="51217" y="742950"/>
                  <a:pt x="0" y="691733"/>
                  <a:pt x="0" y="6286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25400">
            <a:solidFill>
              <a:srgbClr val="ff8a6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9"/>
          <p:cNvSpPr/>
          <p:nvPr/>
        </p:nvSpPr>
        <p:spPr>
          <a:xfrm>
            <a:off x="7730280" y="2962440"/>
            <a:ext cx="249840" cy="285480"/>
          </a:xfrm>
          <a:custGeom>
            <a:avLst/>
            <a:gdLst>
              <a:gd name="textAreaLeft" fmla="*/ 0 w 249840"/>
              <a:gd name="textAreaRight" fmla="*/ 250200 w 249840"/>
              <a:gd name="textAreaTop" fmla="*/ 0 h 285480"/>
              <a:gd name="textAreaBottom" fmla="*/ 285840 h 285480"/>
            </a:gdLst>
            <a:ahLst/>
            <a:rect l="textAreaLeft" t="textAreaTop" r="textAreaRight" b="textAreaBottom"/>
            <a:pathLst>
              <a:path w="250031" h="285750">
                <a:moveTo>
                  <a:pt x="142875" y="61001"/>
                </a:moveTo>
                <a:lnTo>
                  <a:pt x="142875" y="178594"/>
                </a:lnTo>
                <a:cubicBezTo>
                  <a:pt x="142875" y="188472"/>
                  <a:pt x="134894" y="196453"/>
                  <a:pt x="125016" y="196453"/>
                </a:cubicBezTo>
                <a:cubicBezTo>
                  <a:pt x="115137" y="196453"/>
                  <a:pt x="107156" y="188472"/>
                  <a:pt x="107156" y="178594"/>
                </a:cubicBezTo>
                <a:lnTo>
                  <a:pt x="107156" y="61001"/>
                </a:lnTo>
                <a:lnTo>
                  <a:pt x="84051" y="84106"/>
                </a:lnTo>
                <a:cubicBezTo>
                  <a:pt x="77074" y="91083"/>
                  <a:pt x="65745" y="91083"/>
                  <a:pt x="58769" y="84106"/>
                </a:cubicBezTo>
                <a:cubicBezTo>
                  <a:pt x="51792" y="77130"/>
                  <a:pt x="51792" y="65801"/>
                  <a:pt x="58769" y="58824"/>
                </a:cubicBezTo>
                <a:lnTo>
                  <a:pt x="112347" y="5246"/>
                </a:lnTo>
                <a:cubicBezTo>
                  <a:pt x="119323" y="-1730"/>
                  <a:pt x="130652" y="-1730"/>
                  <a:pt x="137629" y="5246"/>
                </a:cubicBezTo>
                <a:lnTo>
                  <a:pt x="191207" y="58824"/>
                </a:lnTo>
                <a:cubicBezTo>
                  <a:pt x="198183" y="65801"/>
                  <a:pt x="198183" y="77130"/>
                  <a:pt x="191207" y="84106"/>
                </a:cubicBezTo>
                <a:cubicBezTo>
                  <a:pt x="184231" y="91083"/>
                  <a:pt x="172901" y="91083"/>
                  <a:pt x="165925" y="84106"/>
                </a:cubicBezTo>
                <a:lnTo>
                  <a:pt x="142875" y="61001"/>
                </a:lnTo>
                <a:close/>
                <a:moveTo>
                  <a:pt x="125016" y="223242"/>
                </a:moveTo>
                <a:cubicBezTo>
                  <a:pt x="149684" y="223242"/>
                  <a:pt x="169664" y="203262"/>
                  <a:pt x="169664" y="178594"/>
                </a:cubicBezTo>
                <a:lnTo>
                  <a:pt x="214313" y="178594"/>
                </a:lnTo>
                <a:cubicBezTo>
                  <a:pt x="234014" y="178594"/>
                  <a:pt x="250031" y="194611"/>
                  <a:pt x="250031" y="214313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214313"/>
                </a:lnTo>
                <a:cubicBezTo>
                  <a:pt x="0" y="194611"/>
                  <a:pt x="16018" y="178594"/>
                  <a:pt x="35719" y="178594"/>
                </a:cubicBezTo>
                <a:lnTo>
                  <a:pt x="80367" y="178594"/>
                </a:lnTo>
                <a:cubicBezTo>
                  <a:pt x="80367" y="203262"/>
                  <a:pt x="100347" y="223242"/>
                  <a:pt x="125016" y="223242"/>
                </a:cubicBezTo>
                <a:close/>
                <a:moveTo>
                  <a:pt x="205383" y="236637"/>
                </a:moveTo>
                <a:cubicBezTo>
                  <a:pt x="212775" y="236637"/>
                  <a:pt x="218777" y="230635"/>
                  <a:pt x="218777" y="223242"/>
                </a:cubicBezTo>
                <a:cubicBezTo>
                  <a:pt x="218777" y="215850"/>
                  <a:pt x="212775" y="209848"/>
                  <a:pt x="205383" y="209848"/>
                </a:cubicBezTo>
                <a:cubicBezTo>
                  <a:pt x="197990" y="209848"/>
                  <a:pt x="191988" y="215850"/>
                  <a:pt x="191988" y="223242"/>
                </a:cubicBezTo>
                <a:cubicBezTo>
                  <a:pt x="191988" y="230635"/>
                  <a:pt x="197990" y="236637"/>
                  <a:pt x="205383" y="236637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30"/>
          <p:cNvSpPr/>
          <p:nvPr/>
        </p:nvSpPr>
        <p:spPr>
          <a:xfrm>
            <a:off x="7398360" y="3562200"/>
            <a:ext cx="904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Loading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31"/>
          <p:cNvSpPr/>
          <p:nvPr/>
        </p:nvSpPr>
        <p:spPr>
          <a:xfrm>
            <a:off x="7403040" y="3790800"/>
            <a:ext cx="8949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Insert to Target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32"/>
          <p:cNvSpPr/>
          <p:nvPr/>
        </p:nvSpPr>
        <p:spPr>
          <a:xfrm>
            <a:off x="8574120" y="329580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33"/>
          <p:cNvSpPr/>
          <p:nvPr/>
        </p:nvSpPr>
        <p:spPr>
          <a:xfrm>
            <a:off x="8383320" y="3562200"/>
            <a:ext cx="609120" cy="37800"/>
          </a:xfrm>
          <a:custGeom>
            <a:avLst/>
            <a:gdLst>
              <a:gd name="textAreaLeft" fmla="*/ 0 w 609120"/>
              <a:gd name="textAreaRight" fmla="*/ 609480 w 609120"/>
              <a:gd name="textAreaTop" fmla="*/ 0 h 37800"/>
              <a:gd name="textAreaBottom" fmla="*/ 38160 h 37800"/>
            </a:gdLst>
            <a:ahLst/>
            <a:rect l="textAreaLeft" t="textAreaTop" r="textAreaRight" b="textAreaBottom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34"/>
          <p:cNvSpPr/>
          <p:nvPr/>
        </p:nvSpPr>
        <p:spPr>
          <a:xfrm>
            <a:off x="9152280" y="2619360"/>
            <a:ext cx="742680" cy="742680"/>
          </a:xfrm>
          <a:custGeom>
            <a:avLst/>
            <a:gdLst>
              <a:gd name="textAreaLeft" fmla="*/ 0 w 742680"/>
              <a:gd name="textAreaRight" fmla="*/ 743040 w 742680"/>
              <a:gd name="textAreaTop" fmla="*/ 0 h 742680"/>
              <a:gd name="textAreaBottom" fmla="*/ 743040 h 742680"/>
            </a:gdLst>
            <a:ahLst/>
            <a:rect l="textAreaLeft" t="textAreaTop" r="textAreaRight" b="textAreaBottom"/>
            <a:pathLst>
              <a:path w="742950" h="742950">
                <a:moveTo>
                  <a:pt x="114303" y="0"/>
                </a:moveTo>
                <a:lnTo>
                  <a:pt x="628647" y="0"/>
                </a:lnTo>
                <a:cubicBezTo>
                  <a:pt x="691733" y="0"/>
                  <a:pt x="742950" y="51217"/>
                  <a:pt x="742950" y="114303"/>
                </a:cubicBezTo>
                <a:lnTo>
                  <a:pt x="742950" y="628647"/>
                </a:lnTo>
                <a:cubicBezTo>
                  <a:pt x="742950" y="691733"/>
                  <a:pt x="691733" y="742950"/>
                  <a:pt x="628647" y="742950"/>
                </a:cubicBezTo>
                <a:lnTo>
                  <a:pt x="114303" y="742950"/>
                </a:lnTo>
                <a:cubicBezTo>
                  <a:pt x="51217" y="742950"/>
                  <a:pt x="0" y="691733"/>
                  <a:pt x="0" y="6286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25400">
            <a:solidFill>
              <a:srgbClr val="607d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35"/>
          <p:cNvSpPr/>
          <p:nvPr/>
        </p:nvSpPr>
        <p:spPr>
          <a:xfrm>
            <a:off x="9401040" y="2847960"/>
            <a:ext cx="249840" cy="285480"/>
          </a:xfrm>
          <a:custGeom>
            <a:avLst/>
            <a:gdLst>
              <a:gd name="textAreaLeft" fmla="*/ 0 w 249840"/>
              <a:gd name="textAreaRight" fmla="*/ 250200 w 249840"/>
              <a:gd name="textAreaTop" fmla="*/ 0 h 285480"/>
              <a:gd name="textAreaBottom" fmla="*/ 285840 h 285480"/>
            </a:gdLst>
            <a:ahLst/>
            <a:rect l="textAreaLeft" t="textAreaTop" r="textAreaRight" b="textAreaBottom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89297"/>
                </a:lnTo>
                <a:cubicBezTo>
                  <a:pt x="0" y="108998"/>
                  <a:pt x="16018" y="125016"/>
                  <a:pt x="35719" y="125016"/>
                </a:cubicBezTo>
                <a:lnTo>
                  <a:pt x="214313" y="125016"/>
                </a:lnTo>
                <a:cubicBezTo>
                  <a:pt x="234014" y="125016"/>
                  <a:pt x="250031" y="108998"/>
                  <a:pt x="250031" y="89297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156270" y="58043"/>
                </a:moveTo>
                <a:cubicBezTo>
                  <a:pt x="163662" y="58043"/>
                  <a:pt x="169664" y="64045"/>
                  <a:pt x="169664" y="71438"/>
                </a:cubicBezTo>
                <a:cubicBezTo>
                  <a:pt x="169664" y="78830"/>
                  <a:pt x="163662" y="84832"/>
                  <a:pt x="156270" y="84832"/>
                </a:cubicBezTo>
                <a:cubicBezTo>
                  <a:pt x="148877" y="84832"/>
                  <a:pt x="142875" y="78830"/>
                  <a:pt x="142875" y="71438"/>
                </a:cubicBezTo>
                <a:cubicBezTo>
                  <a:pt x="142875" y="64045"/>
                  <a:pt x="148877" y="58043"/>
                  <a:pt x="156270" y="58043"/>
                </a:cubicBezTo>
                <a:close/>
                <a:moveTo>
                  <a:pt x="187523" y="71438"/>
                </a:moveTo>
                <a:cubicBezTo>
                  <a:pt x="187523" y="64045"/>
                  <a:pt x="193525" y="58043"/>
                  <a:pt x="200918" y="58043"/>
                </a:cubicBezTo>
                <a:cubicBezTo>
                  <a:pt x="208311" y="58043"/>
                  <a:pt x="214313" y="64045"/>
                  <a:pt x="214313" y="71438"/>
                </a:cubicBezTo>
                <a:cubicBezTo>
                  <a:pt x="214313" y="78830"/>
                  <a:pt x="208311" y="84832"/>
                  <a:pt x="200918" y="84832"/>
                </a:cubicBezTo>
                <a:cubicBezTo>
                  <a:pt x="193525" y="84832"/>
                  <a:pt x="187523" y="78830"/>
                  <a:pt x="187523" y="71438"/>
                </a:cubicBezTo>
                <a:close/>
                <a:moveTo>
                  <a:pt x="35719" y="160734"/>
                </a:move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lose/>
                <a:moveTo>
                  <a:pt x="156270" y="200918"/>
                </a:moveTo>
                <a:cubicBezTo>
                  <a:pt x="163662" y="200918"/>
                  <a:pt x="169664" y="206920"/>
                  <a:pt x="169664" y="214313"/>
                </a:cubicBezTo>
                <a:cubicBezTo>
                  <a:pt x="169664" y="221705"/>
                  <a:pt x="163662" y="227707"/>
                  <a:pt x="156270" y="227707"/>
                </a:cubicBezTo>
                <a:cubicBezTo>
                  <a:pt x="148877" y="227707"/>
                  <a:pt x="142875" y="221705"/>
                  <a:pt x="142875" y="214313"/>
                </a:cubicBezTo>
                <a:cubicBezTo>
                  <a:pt x="142875" y="206920"/>
                  <a:pt x="148877" y="200918"/>
                  <a:pt x="156270" y="200918"/>
                </a:cubicBezTo>
                <a:close/>
                <a:moveTo>
                  <a:pt x="187523" y="214313"/>
                </a:moveTo>
                <a:cubicBezTo>
                  <a:pt x="187523" y="206920"/>
                  <a:pt x="193525" y="200918"/>
                  <a:pt x="200918" y="200918"/>
                </a:cubicBezTo>
                <a:cubicBezTo>
                  <a:pt x="208311" y="200918"/>
                  <a:pt x="214313" y="206920"/>
                  <a:pt x="214313" y="214313"/>
                </a:cubicBezTo>
                <a:cubicBezTo>
                  <a:pt x="214313" y="221705"/>
                  <a:pt x="208311" y="227707"/>
                  <a:pt x="200918" y="227707"/>
                </a:cubicBezTo>
                <a:cubicBezTo>
                  <a:pt x="193525" y="227707"/>
                  <a:pt x="187523" y="221705"/>
                  <a:pt x="187523" y="214313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36"/>
          <p:cNvSpPr/>
          <p:nvPr/>
        </p:nvSpPr>
        <p:spPr>
          <a:xfrm>
            <a:off x="9069120" y="3448080"/>
            <a:ext cx="904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Data Warehouse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37"/>
          <p:cNvSpPr/>
          <p:nvPr/>
        </p:nvSpPr>
        <p:spPr>
          <a:xfrm>
            <a:off x="9074160" y="3905280"/>
            <a:ext cx="8949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Centralized Storage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38"/>
          <p:cNvSpPr/>
          <p:nvPr/>
        </p:nvSpPr>
        <p:spPr>
          <a:xfrm>
            <a:off x="10244880" y="3295800"/>
            <a:ext cx="228240" cy="228240"/>
          </a:xfrm>
          <a:custGeom>
            <a:avLst/>
            <a:gdLst>
              <a:gd name="textAreaLeft" fmla="*/ 0 w 228240"/>
              <a:gd name="textAreaRight" fmla="*/ 228600 w 22824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39"/>
          <p:cNvSpPr/>
          <p:nvPr/>
        </p:nvSpPr>
        <p:spPr>
          <a:xfrm>
            <a:off x="10054440" y="3562200"/>
            <a:ext cx="609120" cy="37800"/>
          </a:xfrm>
          <a:custGeom>
            <a:avLst/>
            <a:gdLst>
              <a:gd name="textAreaLeft" fmla="*/ 0 w 609120"/>
              <a:gd name="textAreaRight" fmla="*/ 609480 w 609120"/>
              <a:gd name="textAreaTop" fmla="*/ 0 h 37800"/>
              <a:gd name="textAreaBottom" fmla="*/ 38160 h 37800"/>
            </a:gdLst>
            <a:ahLst/>
            <a:rect l="textAreaLeft" t="textAreaTop" r="textAreaRight" b="textAreaBottom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40"/>
          <p:cNvSpPr/>
          <p:nvPr/>
        </p:nvSpPr>
        <p:spPr>
          <a:xfrm>
            <a:off x="10823040" y="2828880"/>
            <a:ext cx="742680" cy="742680"/>
          </a:xfrm>
          <a:custGeom>
            <a:avLst/>
            <a:gdLst>
              <a:gd name="textAreaLeft" fmla="*/ 0 w 742680"/>
              <a:gd name="textAreaRight" fmla="*/ 743040 w 742680"/>
              <a:gd name="textAreaTop" fmla="*/ 0 h 742680"/>
              <a:gd name="textAreaBottom" fmla="*/ 743040 h 742680"/>
            </a:gdLst>
            <a:ahLst/>
            <a:rect l="textAreaLeft" t="textAreaTop" r="textAreaRight" b="textAreaBottom"/>
            <a:pathLst>
              <a:path w="742950" h="742950">
                <a:moveTo>
                  <a:pt x="114303" y="0"/>
                </a:moveTo>
                <a:lnTo>
                  <a:pt x="628647" y="0"/>
                </a:lnTo>
                <a:cubicBezTo>
                  <a:pt x="691733" y="0"/>
                  <a:pt x="742950" y="51217"/>
                  <a:pt x="742950" y="114303"/>
                </a:cubicBezTo>
                <a:lnTo>
                  <a:pt x="742950" y="628647"/>
                </a:lnTo>
                <a:cubicBezTo>
                  <a:pt x="742950" y="691733"/>
                  <a:pt x="691733" y="742950"/>
                  <a:pt x="628647" y="742950"/>
                </a:cubicBezTo>
                <a:lnTo>
                  <a:pt x="114303" y="742950"/>
                </a:lnTo>
                <a:cubicBezTo>
                  <a:pt x="51217" y="742950"/>
                  <a:pt x="0" y="691733"/>
                  <a:pt x="0" y="6286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25400">
            <a:solidFill>
              <a:srgbClr val="4db6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41"/>
          <p:cNvSpPr/>
          <p:nvPr/>
        </p:nvSpPr>
        <p:spPr>
          <a:xfrm>
            <a:off x="11054160" y="3057480"/>
            <a:ext cx="285480" cy="285480"/>
          </a:xfrm>
          <a:custGeom>
            <a:avLst/>
            <a:gdLst>
              <a:gd name="textAreaLeft" fmla="*/ 0 w 285480"/>
              <a:gd name="textAreaRight" fmla="*/ 285840 w 285480"/>
              <a:gd name="textAreaTop" fmla="*/ 0 h 285480"/>
              <a:gd name="textAreaBottom" fmla="*/ 285840 h 285480"/>
            </a:gdLst>
            <a:ahLst/>
            <a:rect l="textAreaLeft" t="textAreaTop" r="textAreaRight" b="textAreaBottom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42"/>
          <p:cNvSpPr/>
          <p:nvPr/>
        </p:nvSpPr>
        <p:spPr>
          <a:xfrm>
            <a:off x="10741680" y="3657600"/>
            <a:ext cx="904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Analytics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43"/>
          <p:cNvSpPr/>
          <p:nvPr/>
        </p:nvSpPr>
        <p:spPr>
          <a:xfrm>
            <a:off x="10746360" y="3886200"/>
            <a:ext cx="8949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BI &amp; Reporting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44"/>
          <p:cNvSpPr/>
          <p:nvPr/>
        </p:nvSpPr>
        <p:spPr>
          <a:xfrm>
            <a:off x="600120" y="5286240"/>
            <a:ext cx="3552480" cy="990360"/>
          </a:xfrm>
          <a:custGeom>
            <a:avLst/>
            <a:gdLst>
              <a:gd name="textAreaLeft" fmla="*/ 0 w 3552480"/>
              <a:gd name="textAreaRight" fmla="*/ 3552840 w 3552480"/>
              <a:gd name="textAreaTop" fmla="*/ 0 h 990360"/>
              <a:gd name="textAreaBottom" fmla="*/ 990720 h 990360"/>
            </a:gdLst>
            <a:ahLst/>
            <a:rect l="textAreaLeft" t="textAreaTop" r="textAreaRight" b="textAreaBottom"/>
            <a:pathLst>
              <a:path w="3552825" h="990600">
                <a:moveTo>
                  <a:pt x="38100" y="0"/>
                </a:moveTo>
                <a:lnTo>
                  <a:pt x="3476628" y="0"/>
                </a:lnTo>
                <a:cubicBezTo>
                  <a:pt x="3518710" y="0"/>
                  <a:pt x="3552825" y="34115"/>
                  <a:pt x="3552825" y="76197"/>
                </a:cubicBezTo>
                <a:lnTo>
                  <a:pt x="3552825" y="914403"/>
                </a:lnTo>
                <a:cubicBezTo>
                  <a:pt x="3552825" y="956485"/>
                  <a:pt x="3518710" y="990600"/>
                  <a:pt x="3476628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45"/>
          <p:cNvSpPr/>
          <p:nvPr/>
        </p:nvSpPr>
        <p:spPr>
          <a:xfrm>
            <a:off x="600120" y="5286240"/>
            <a:ext cx="37800" cy="990360"/>
          </a:xfrm>
          <a:custGeom>
            <a:avLst/>
            <a:gdLst>
              <a:gd name="textAreaLeft" fmla="*/ 0 w 37800"/>
              <a:gd name="textAreaRight" fmla="*/ 38160 w 37800"/>
              <a:gd name="textAreaTop" fmla="*/ 0 h 990360"/>
              <a:gd name="textAreaBottom" fmla="*/ 990720 h 990360"/>
            </a:gdLst>
            <a:ahLst/>
            <a:rect l="textAreaLeft" t="textAreaTop" r="textAreaRight" b="textAreaBottom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46"/>
          <p:cNvSpPr/>
          <p:nvPr/>
        </p:nvSpPr>
        <p:spPr>
          <a:xfrm>
            <a:off x="790560" y="5477040"/>
            <a:ext cx="151920" cy="151920"/>
          </a:xfrm>
          <a:custGeom>
            <a:avLst/>
            <a:gdLst>
              <a:gd name="textAreaLeft" fmla="*/ 0 w 151920"/>
              <a:gd name="textAreaRight" fmla="*/ 152280 w 15192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47"/>
          <p:cNvSpPr/>
          <p:nvPr/>
        </p:nvSpPr>
        <p:spPr>
          <a:xfrm>
            <a:off x="1019160" y="5438880"/>
            <a:ext cx="3057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4db6ac"/>
                </a:solidFill>
                <a:latin typeface="Liter"/>
                <a:ea typeface="Liter"/>
              </a:rPr>
              <a:t>Layer 1: Ingestion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48"/>
          <p:cNvSpPr/>
          <p:nvPr/>
        </p:nvSpPr>
        <p:spPr>
          <a:xfrm>
            <a:off x="771480" y="5743440"/>
            <a:ext cx="3295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Connectors, APIs, CDC (Change Data Capture), batch &amp; streaming ingestion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49"/>
          <p:cNvSpPr/>
          <p:nvPr/>
        </p:nvSpPr>
        <p:spPr>
          <a:xfrm>
            <a:off x="4327560" y="5286240"/>
            <a:ext cx="3552480" cy="990360"/>
          </a:xfrm>
          <a:custGeom>
            <a:avLst/>
            <a:gdLst>
              <a:gd name="textAreaLeft" fmla="*/ 0 w 3552480"/>
              <a:gd name="textAreaRight" fmla="*/ 3552840 w 3552480"/>
              <a:gd name="textAreaTop" fmla="*/ 0 h 990360"/>
              <a:gd name="textAreaBottom" fmla="*/ 990720 h 990360"/>
            </a:gdLst>
            <a:ahLst/>
            <a:rect l="textAreaLeft" t="textAreaTop" r="textAreaRight" b="textAreaBottom"/>
            <a:pathLst>
              <a:path w="3552825" h="990600">
                <a:moveTo>
                  <a:pt x="38100" y="0"/>
                </a:moveTo>
                <a:lnTo>
                  <a:pt x="3476628" y="0"/>
                </a:lnTo>
                <a:cubicBezTo>
                  <a:pt x="3518710" y="0"/>
                  <a:pt x="3552825" y="34115"/>
                  <a:pt x="3552825" y="76197"/>
                </a:cubicBezTo>
                <a:lnTo>
                  <a:pt x="3552825" y="914403"/>
                </a:lnTo>
                <a:cubicBezTo>
                  <a:pt x="3552825" y="956485"/>
                  <a:pt x="3518710" y="990600"/>
                  <a:pt x="3476628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50"/>
          <p:cNvSpPr/>
          <p:nvPr/>
        </p:nvSpPr>
        <p:spPr>
          <a:xfrm>
            <a:off x="4327560" y="5286240"/>
            <a:ext cx="37800" cy="990360"/>
          </a:xfrm>
          <a:custGeom>
            <a:avLst/>
            <a:gdLst>
              <a:gd name="textAreaLeft" fmla="*/ 0 w 37800"/>
              <a:gd name="textAreaRight" fmla="*/ 38160 w 37800"/>
              <a:gd name="textAreaTop" fmla="*/ 0 h 990360"/>
              <a:gd name="textAreaBottom" fmla="*/ 990720 h 990360"/>
            </a:gdLst>
            <a:ahLst/>
            <a:rect l="textAreaLeft" t="textAreaTop" r="textAreaRight" b="textAreaBottom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51"/>
          <p:cNvSpPr/>
          <p:nvPr/>
        </p:nvSpPr>
        <p:spPr>
          <a:xfrm>
            <a:off x="4518000" y="5477040"/>
            <a:ext cx="151920" cy="151920"/>
          </a:xfrm>
          <a:custGeom>
            <a:avLst/>
            <a:gdLst>
              <a:gd name="textAreaLeft" fmla="*/ 0 w 151920"/>
              <a:gd name="textAreaRight" fmla="*/ 152280 w 15192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52400" h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52"/>
          <p:cNvSpPr/>
          <p:nvPr/>
        </p:nvSpPr>
        <p:spPr>
          <a:xfrm>
            <a:off x="4746600" y="5438880"/>
            <a:ext cx="3057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ff8a65"/>
                </a:solidFill>
                <a:latin typeface="Liter"/>
                <a:ea typeface="Liter"/>
              </a:rPr>
              <a:t>Layer 2: Processing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53"/>
          <p:cNvSpPr/>
          <p:nvPr/>
        </p:nvSpPr>
        <p:spPr>
          <a:xfrm>
            <a:off x="4498920" y="5743440"/>
            <a:ext cx="3295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Data validation, cleansing, enrichment, aggregation, business logic application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54"/>
          <p:cNvSpPr/>
          <p:nvPr/>
        </p:nvSpPr>
        <p:spPr>
          <a:xfrm>
            <a:off x="8055000" y="5286240"/>
            <a:ext cx="3552480" cy="990360"/>
          </a:xfrm>
          <a:custGeom>
            <a:avLst/>
            <a:gdLst>
              <a:gd name="textAreaLeft" fmla="*/ 0 w 3552480"/>
              <a:gd name="textAreaRight" fmla="*/ 3552840 w 3552480"/>
              <a:gd name="textAreaTop" fmla="*/ 0 h 990360"/>
              <a:gd name="textAreaBottom" fmla="*/ 990720 h 990360"/>
            </a:gdLst>
            <a:ahLst/>
            <a:rect l="textAreaLeft" t="textAreaTop" r="textAreaRight" b="textAreaBottom"/>
            <a:pathLst>
              <a:path w="3552825" h="990600">
                <a:moveTo>
                  <a:pt x="38100" y="0"/>
                </a:moveTo>
                <a:lnTo>
                  <a:pt x="3476628" y="0"/>
                </a:lnTo>
                <a:cubicBezTo>
                  <a:pt x="3518710" y="0"/>
                  <a:pt x="3552825" y="34115"/>
                  <a:pt x="3552825" y="76197"/>
                </a:cubicBezTo>
                <a:lnTo>
                  <a:pt x="3552825" y="914403"/>
                </a:lnTo>
                <a:cubicBezTo>
                  <a:pt x="3552825" y="956485"/>
                  <a:pt x="3518710" y="990600"/>
                  <a:pt x="3476628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55"/>
          <p:cNvSpPr/>
          <p:nvPr/>
        </p:nvSpPr>
        <p:spPr>
          <a:xfrm>
            <a:off x="8055000" y="5286240"/>
            <a:ext cx="37800" cy="990360"/>
          </a:xfrm>
          <a:custGeom>
            <a:avLst/>
            <a:gdLst>
              <a:gd name="textAreaLeft" fmla="*/ 0 w 37800"/>
              <a:gd name="textAreaRight" fmla="*/ 38160 w 37800"/>
              <a:gd name="textAreaTop" fmla="*/ 0 h 990360"/>
              <a:gd name="textAreaBottom" fmla="*/ 990720 h 990360"/>
            </a:gdLst>
            <a:ahLst/>
            <a:rect l="textAreaLeft" t="textAreaTop" r="textAreaRight" b="textAreaBottom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56"/>
          <p:cNvSpPr/>
          <p:nvPr/>
        </p:nvSpPr>
        <p:spPr>
          <a:xfrm>
            <a:off x="8235720" y="5477040"/>
            <a:ext cx="171000" cy="151920"/>
          </a:xfrm>
          <a:custGeom>
            <a:avLst/>
            <a:gdLst>
              <a:gd name="textAreaLeft" fmla="*/ 0 w 171000"/>
              <a:gd name="textAreaRight" fmla="*/ 171360 w 17100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71450" h="152400">
                <a:moveTo>
                  <a:pt x="0" y="42297"/>
                </a:moveTo>
                <a:lnTo>
                  <a:pt x="0" y="142875"/>
                </a:lnTo>
                <a:cubicBezTo>
                  <a:pt x="0" y="148144"/>
                  <a:pt x="4256" y="152400"/>
                  <a:pt x="9525" y="152400"/>
                </a:cubicBezTo>
                <a:cubicBezTo>
                  <a:pt x="14794" y="152400"/>
                  <a:pt x="19050" y="148144"/>
                  <a:pt x="19050" y="142875"/>
                </a:cubicBezTo>
                <a:lnTo>
                  <a:pt x="19050" y="71438"/>
                </a:lnTo>
                <a:cubicBezTo>
                  <a:pt x="19050" y="66169"/>
                  <a:pt x="23306" y="61912"/>
                  <a:pt x="28575" y="61912"/>
                </a:cubicBezTo>
                <a:lnTo>
                  <a:pt x="142875" y="61912"/>
                </a:lnTo>
                <a:cubicBezTo>
                  <a:pt x="148144" y="61912"/>
                  <a:pt x="152400" y="66169"/>
                  <a:pt x="152400" y="71438"/>
                </a:cubicBezTo>
                <a:lnTo>
                  <a:pt x="152400" y="142875"/>
                </a:lnTo>
                <a:cubicBezTo>
                  <a:pt x="152400" y="148144"/>
                  <a:pt x="156656" y="152400"/>
                  <a:pt x="161925" y="152400"/>
                </a:cubicBezTo>
                <a:cubicBezTo>
                  <a:pt x="167194" y="152400"/>
                  <a:pt x="171450" y="148144"/>
                  <a:pt x="171450" y="142875"/>
                </a:cubicBezTo>
                <a:lnTo>
                  <a:pt x="171450" y="42297"/>
                </a:lnTo>
                <a:cubicBezTo>
                  <a:pt x="171450" y="34111"/>
                  <a:pt x="166211" y="26819"/>
                  <a:pt x="158413" y="24229"/>
                </a:cubicBezTo>
                <a:lnTo>
                  <a:pt x="90249" y="1518"/>
                </a:lnTo>
                <a:cubicBezTo>
                  <a:pt x="87303" y="536"/>
                  <a:pt x="84147" y="536"/>
                  <a:pt x="81201" y="1518"/>
                </a:cubicBezTo>
                <a:lnTo>
                  <a:pt x="13037" y="24229"/>
                </a:lnTo>
                <a:cubicBezTo>
                  <a:pt x="5239" y="26819"/>
                  <a:pt x="0" y="34111"/>
                  <a:pt x="0" y="42297"/>
                </a:cubicBezTo>
                <a:close/>
                <a:moveTo>
                  <a:pt x="138113" y="76200"/>
                </a:moveTo>
                <a:lnTo>
                  <a:pt x="33338" y="76200"/>
                </a:lnTo>
                <a:lnTo>
                  <a:pt x="33338" y="95250"/>
                </a:lnTo>
                <a:lnTo>
                  <a:pt x="138113" y="95250"/>
                </a:lnTo>
                <a:lnTo>
                  <a:pt x="138113" y="76200"/>
                </a:lnTo>
                <a:close/>
                <a:moveTo>
                  <a:pt x="33338" y="123825"/>
                </a:moveTo>
                <a:lnTo>
                  <a:pt x="138113" y="123825"/>
                </a:lnTo>
                <a:lnTo>
                  <a:pt x="138113" y="104775"/>
                </a:lnTo>
                <a:lnTo>
                  <a:pt x="33338" y="104775"/>
                </a:lnTo>
                <a:lnTo>
                  <a:pt x="33338" y="123825"/>
                </a:lnTo>
                <a:close/>
                <a:moveTo>
                  <a:pt x="138113" y="133350"/>
                </a:moveTo>
                <a:lnTo>
                  <a:pt x="33338" y="133350"/>
                </a:lnTo>
                <a:lnTo>
                  <a:pt x="33338" y="152400"/>
                </a:lnTo>
                <a:lnTo>
                  <a:pt x="138113" y="152400"/>
                </a:lnTo>
                <a:lnTo>
                  <a:pt x="138113" y="133350"/>
                </a:ln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57"/>
          <p:cNvSpPr/>
          <p:nvPr/>
        </p:nvSpPr>
        <p:spPr>
          <a:xfrm>
            <a:off x="8474040" y="5438880"/>
            <a:ext cx="3057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607d8b"/>
                </a:solidFill>
                <a:latin typeface="Liter"/>
                <a:ea typeface="Liter"/>
              </a:rPr>
              <a:t>Layer 3: Storage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58"/>
          <p:cNvSpPr/>
          <p:nvPr/>
        </p:nvSpPr>
        <p:spPr>
          <a:xfrm>
            <a:off x="8226360" y="5743440"/>
            <a:ext cx="3295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Data warehouses, lakes, marts; optimized for query performance &amp; analytics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0"/>
          <p:cNvSpPr/>
          <p:nvPr/>
        </p:nvSpPr>
        <p:spPr>
          <a:xfrm>
            <a:off x="380880" y="380880"/>
            <a:ext cx="1150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58" strike="noStrike">
                <a:solidFill>
                  <a:srgbClr val="4db6ac"/>
                </a:solidFill>
                <a:latin typeface="Quattrocento Sans"/>
                <a:ea typeface="Quattrocento Sans"/>
              </a:rPr>
              <a:t>TECHNOLOGY STACK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380880" y="685800"/>
            <a:ext cx="116010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700" spc="-1" strike="noStrike">
                <a:solidFill>
                  <a:srgbClr val="eceff1"/>
                </a:solidFill>
                <a:latin typeface="Liter"/>
                <a:ea typeface="Liter"/>
              </a:rPr>
              <a:t>Tools &amp; Technologies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2"/>
          <p:cNvSpPr/>
          <p:nvPr/>
        </p:nvSpPr>
        <p:spPr>
          <a:xfrm>
            <a:off x="380880" y="1143000"/>
            <a:ext cx="1151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3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Extraction &amp; Transformation Layer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3"/>
          <p:cNvSpPr/>
          <p:nvPr/>
        </p:nvSpPr>
        <p:spPr>
          <a:xfrm>
            <a:off x="385920" y="1566720"/>
            <a:ext cx="5609880" cy="3895200"/>
          </a:xfrm>
          <a:custGeom>
            <a:avLst/>
            <a:gdLst>
              <a:gd name="textAreaLeft" fmla="*/ 0 w 5609880"/>
              <a:gd name="textAreaRight" fmla="*/ 5610240 w 5609880"/>
              <a:gd name="textAreaTop" fmla="*/ 0 h 3895200"/>
              <a:gd name="textAreaBottom" fmla="*/ 3895560 h 3895200"/>
            </a:gdLst>
            <a:ahLst/>
            <a:rect l="textAreaLeft" t="textAreaTop" r="textAreaRight" b="textAreaBottom"/>
            <a:pathLst>
              <a:path w="5610225" h="3895725">
                <a:moveTo>
                  <a:pt x="114301" y="0"/>
                </a:moveTo>
                <a:lnTo>
                  <a:pt x="5495924" y="0"/>
                </a:lnTo>
                <a:cubicBezTo>
                  <a:pt x="5559051" y="0"/>
                  <a:pt x="5610225" y="51174"/>
                  <a:pt x="5610225" y="114301"/>
                </a:cubicBezTo>
                <a:lnTo>
                  <a:pt x="5610225" y="3781424"/>
                </a:lnTo>
                <a:cubicBezTo>
                  <a:pt x="5610225" y="3844551"/>
                  <a:pt x="5559051" y="3895725"/>
                  <a:pt x="5495924" y="3895725"/>
                </a:cubicBezTo>
                <a:lnTo>
                  <a:pt x="114301" y="3895725"/>
                </a:lnTo>
                <a:cubicBezTo>
                  <a:pt x="51174" y="3895725"/>
                  <a:pt x="0" y="3844551"/>
                  <a:pt x="0" y="37814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12700">
            <a:solidFill>
              <a:srgbClr val="4db6ac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4"/>
          <p:cNvSpPr/>
          <p:nvPr/>
        </p:nvSpPr>
        <p:spPr>
          <a:xfrm>
            <a:off x="581040" y="176220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5"/>
          <p:cNvSpPr/>
          <p:nvPr/>
        </p:nvSpPr>
        <p:spPr>
          <a:xfrm>
            <a:off x="709560" y="1876320"/>
            <a:ext cx="199800" cy="228240"/>
          </a:xfrm>
          <a:custGeom>
            <a:avLst/>
            <a:gdLst>
              <a:gd name="textAreaLeft" fmla="*/ 0 w 199800"/>
              <a:gd name="textAreaRight" fmla="*/ 200160 w 19980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00025" h="228600">
                <a:moveTo>
                  <a:pt x="114300" y="14288"/>
                </a:moveTo>
                <a:cubicBezTo>
                  <a:pt x="114300" y="6385"/>
                  <a:pt x="107915" y="0"/>
                  <a:pt x="100013" y="0"/>
                </a:cubicBezTo>
                <a:cubicBezTo>
                  <a:pt x="92110" y="0"/>
                  <a:pt x="85725" y="6385"/>
                  <a:pt x="85725" y="14288"/>
                </a:cubicBezTo>
                <a:lnTo>
                  <a:pt x="85725" y="108362"/>
                </a:lnTo>
                <a:lnTo>
                  <a:pt x="67241" y="89877"/>
                </a:lnTo>
                <a:cubicBezTo>
                  <a:pt x="61659" y="84296"/>
                  <a:pt x="52596" y="84296"/>
                  <a:pt x="47015" y="89877"/>
                </a:cubicBezTo>
                <a:cubicBezTo>
                  <a:pt x="41434" y="95458"/>
                  <a:pt x="41434" y="104522"/>
                  <a:pt x="47015" y="110103"/>
                </a:cubicBezTo>
                <a:lnTo>
                  <a:pt x="89877" y="152966"/>
                </a:lnTo>
                <a:cubicBezTo>
                  <a:pt x="95458" y="158547"/>
                  <a:pt x="104522" y="158547"/>
                  <a:pt x="110103" y="152966"/>
                </a:cubicBezTo>
                <a:lnTo>
                  <a:pt x="152966" y="110103"/>
                </a:lnTo>
                <a:cubicBezTo>
                  <a:pt x="158547" y="104522"/>
                  <a:pt x="158547" y="95458"/>
                  <a:pt x="152966" y="89877"/>
                </a:cubicBezTo>
                <a:cubicBezTo>
                  <a:pt x="147384" y="84296"/>
                  <a:pt x="138321" y="84296"/>
                  <a:pt x="132740" y="89877"/>
                </a:cubicBezTo>
                <a:lnTo>
                  <a:pt x="114300" y="108362"/>
                </a:lnTo>
                <a:lnTo>
                  <a:pt x="114300" y="14288"/>
                </a:lnTo>
                <a:close/>
                <a:moveTo>
                  <a:pt x="28575" y="142875"/>
                </a:moveTo>
                <a:cubicBezTo>
                  <a:pt x="12814" y="142875"/>
                  <a:pt x="0" y="155689"/>
                  <a:pt x="0" y="171450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71450"/>
                </a:lnTo>
                <a:cubicBezTo>
                  <a:pt x="200025" y="155689"/>
                  <a:pt x="187211" y="142875"/>
                  <a:pt x="171450" y="142875"/>
                </a:cubicBezTo>
                <a:lnTo>
                  <a:pt x="150510" y="142875"/>
                </a:lnTo>
                <a:lnTo>
                  <a:pt x="125239" y="168146"/>
                </a:lnTo>
                <a:cubicBezTo>
                  <a:pt x="111309" y="182076"/>
                  <a:pt x="88672" y="182076"/>
                  <a:pt x="74741" y="168146"/>
                </a:cubicBezTo>
                <a:lnTo>
                  <a:pt x="49515" y="142875"/>
                </a:lnTo>
                <a:lnTo>
                  <a:pt x="28575" y="142875"/>
                </a:lnTo>
                <a:close/>
                <a:moveTo>
                  <a:pt x="164306" y="167878"/>
                </a:moveTo>
                <a:cubicBezTo>
                  <a:pt x="170220" y="167878"/>
                  <a:pt x="175022" y="172680"/>
                  <a:pt x="175022" y="178594"/>
                </a:cubicBezTo>
                <a:cubicBezTo>
                  <a:pt x="175022" y="184508"/>
                  <a:pt x="170220" y="189309"/>
                  <a:pt x="164306" y="189309"/>
                </a:cubicBezTo>
                <a:cubicBezTo>
                  <a:pt x="158392" y="189309"/>
                  <a:pt x="153591" y="184508"/>
                  <a:pt x="153591" y="178594"/>
                </a:cubicBezTo>
                <a:cubicBezTo>
                  <a:pt x="153591" y="172680"/>
                  <a:pt x="158392" y="167878"/>
                  <a:pt x="164306" y="167878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6"/>
          <p:cNvSpPr/>
          <p:nvPr/>
        </p:nvSpPr>
        <p:spPr>
          <a:xfrm>
            <a:off x="1152360" y="1838160"/>
            <a:ext cx="17427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4db6ac"/>
                </a:solidFill>
                <a:latin typeface="Liter"/>
                <a:ea typeface="Liter"/>
              </a:rPr>
              <a:t>Extraction Tools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7"/>
          <p:cNvSpPr/>
          <p:nvPr/>
        </p:nvSpPr>
        <p:spPr>
          <a:xfrm>
            <a:off x="581040" y="2519280"/>
            <a:ext cx="304560" cy="3045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4560"/>
              <a:gd name="textAreaBottom" fmla="*/ 304920 h 304560"/>
            </a:gdLst>
            <a:ahLst/>
            <a:rect l="textAreaLeft" t="textAreaTop" r="textAreaRight" b="textAreaBottom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8"/>
          <p:cNvSpPr/>
          <p:nvPr/>
        </p:nvSpPr>
        <p:spPr>
          <a:xfrm>
            <a:off x="647640" y="2595600"/>
            <a:ext cx="171000" cy="151920"/>
          </a:xfrm>
          <a:custGeom>
            <a:avLst/>
            <a:gdLst>
              <a:gd name="textAreaLeft" fmla="*/ 0 w 171000"/>
              <a:gd name="textAreaRight" fmla="*/ 171360 w 17100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9"/>
          <p:cNvSpPr/>
          <p:nvPr/>
        </p:nvSpPr>
        <p:spPr>
          <a:xfrm>
            <a:off x="1000080" y="2481120"/>
            <a:ext cx="448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APIs &amp; SQL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0"/>
          <p:cNvSpPr/>
          <p:nvPr/>
        </p:nvSpPr>
        <p:spPr>
          <a:xfrm>
            <a:off x="1000080" y="2709720"/>
            <a:ext cx="4943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Direct database connections and REST API integrations for custom extraction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11"/>
          <p:cNvSpPr/>
          <p:nvPr/>
        </p:nvSpPr>
        <p:spPr>
          <a:xfrm>
            <a:off x="581040" y="3271680"/>
            <a:ext cx="304560" cy="3045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4560"/>
              <a:gd name="textAreaBottom" fmla="*/ 304920 h 304560"/>
            </a:gdLst>
            <a:ahLst/>
            <a:rect l="textAreaLeft" t="textAreaTop" r="textAreaRight" b="textAreaBottom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12"/>
          <p:cNvSpPr/>
          <p:nvPr/>
        </p:nvSpPr>
        <p:spPr>
          <a:xfrm>
            <a:off x="666720" y="3348000"/>
            <a:ext cx="132840" cy="151920"/>
          </a:xfrm>
          <a:custGeom>
            <a:avLst/>
            <a:gdLst>
              <a:gd name="textAreaLeft" fmla="*/ 0 w 132840"/>
              <a:gd name="textAreaRight" fmla="*/ 133200 w 13284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33350" h="152400">
                <a:moveTo>
                  <a:pt x="130909" y="59680"/>
                </a:moveTo>
                <a:cubicBezTo>
                  <a:pt x="128617" y="50483"/>
                  <a:pt x="124271" y="43547"/>
                  <a:pt x="115014" y="43547"/>
                </a:cubicBezTo>
                <a:lnTo>
                  <a:pt x="103078" y="43547"/>
                </a:lnTo>
                <a:lnTo>
                  <a:pt x="103078" y="57656"/>
                </a:lnTo>
                <a:cubicBezTo>
                  <a:pt x="103078" y="68610"/>
                  <a:pt x="93791" y="77837"/>
                  <a:pt x="83195" y="77837"/>
                </a:cubicBezTo>
                <a:lnTo>
                  <a:pt x="51405" y="77837"/>
                </a:lnTo>
                <a:cubicBezTo>
                  <a:pt x="42714" y="77837"/>
                  <a:pt x="35510" y="85279"/>
                  <a:pt x="35510" y="94000"/>
                </a:cubicBezTo>
                <a:lnTo>
                  <a:pt x="35510" y="124301"/>
                </a:lnTo>
                <a:cubicBezTo>
                  <a:pt x="35510" y="132933"/>
                  <a:pt x="43011" y="137993"/>
                  <a:pt x="51405" y="140464"/>
                </a:cubicBezTo>
                <a:cubicBezTo>
                  <a:pt x="61466" y="143411"/>
                  <a:pt x="71140" y="143947"/>
                  <a:pt x="83195" y="140464"/>
                </a:cubicBezTo>
                <a:cubicBezTo>
                  <a:pt x="91202" y="138142"/>
                  <a:pt x="99090" y="133469"/>
                  <a:pt x="99090" y="124301"/>
                </a:cubicBezTo>
                <a:lnTo>
                  <a:pt x="99090" y="112187"/>
                </a:lnTo>
                <a:lnTo>
                  <a:pt x="67330" y="112187"/>
                </a:lnTo>
                <a:lnTo>
                  <a:pt x="67330" y="108139"/>
                </a:lnTo>
                <a:lnTo>
                  <a:pt x="115014" y="108139"/>
                </a:lnTo>
                <a:cubicBezTo>
                  <a:pt x="124271" y="108139"/>
                  <a:pt x="127695" y="101679"/>
                  <a:pt x="130909" y="92006"/>
                </a:cubicBezTo>
                <a:cubicBezTo>
                  <a:pt x="134243" y="82034"/>
                  <a:pt x="134094" y="72450"/>
                  <a:pt x="130909" y="59680"/>
                </a:cubicBezTo>
                <a:close/>
                <a:moveTo>
                  <a:pt x="85189" y="132368"/>
                </a:moveTo>
                <a:cubicBezTo>
                  <a:pt x="82924" y="132527"/>
                  <a:pt x="80759" y="131408"/>
                  <a:pt x="79578" y="129468"/>
                </a:cubicBezTo>
                <a:cubicBezTo>
                  <a:pt x="78397" y="127529"/>
                  <a:pt x="78397" y="125092"/>
                  <a:pt x="79578" y="123152"/>
                </a:cubicBezTo>
                <a:cubicBezTo>
                  <a:pt x="80759" y="121213"/>
                  <a:pt x="82924" y="120094"/>
                  <a:pt x="85189" y="120253"/>
                </a:cubicBezTo>
                <a:cubicBezTo>
                  <a:pt x="87455" y="120094"/>
                  <a:pt x="89619" y="121213"/>
                  <a:pt x="90800" y="123152"/>
                </a:cubicBezTo>
                <a:cubicBezTo>
                  <a:pt x="91982" y="125092"/>
                  <a:pt x="91982" y="127529"/>
                  <a:pt x="90800" y="129468"/>
                </a:cubicBezTo>
                <a:cubicBezTo>
                  <a:pt x="89619" y="131408"/>
                  <a:pt x="87455" y="132527"/>
                  <a:pt x="85189" y="132368"/>
                </a:cubicBezTo>
                <a:close/>
                <a:moveTo>
                  <a:pt x="49947" y="73849"/>
                </a:moveTo>
                <a:lnTo>
                  <a:pt x="81736" y="73849"/>
                </a:lnTo>
                <a:cubicBezTo>
                  <a:pt x="90577" y="73849"/>
                  <a:pt x="97631" y="66556"/>
                  <a:pt x="97631" y="57686"/>
                </a:cubicBezTo>
                <a:lnTo>
                  <a:pt x="97631" y="27355"/>
                </a:lnTo>
                <a:cubicBezTo>
                  <a:pt x="97631" y="18723"/>
                  <a:pt x="90368" y="12263"/>
                  <a:pt x="81736" y="10805"/>
                </a:cubicBezTo>
                <a:cubicBezTo>
                  <a:pt x="71080" y="9049"/>
                  <a:pt x="59501" y="9138"/>
                  <a:pt x="49947" y="10835"/>
                </a:cubicBezTo>
                <a:cubicBezTo>
                  <a:pt x="36493" y="13216"/>
                  <a:pt x="34052" y="18187"/>
                  <a:pt x="34052" y="27384"/>
                </a:cubicBezTo>
                <a:lnTo>
                  <a:pt x="34052" y="39499"/>
                </a:lnTo>
                <a:lnTo>
                  <a:pt x="65871" y="39499"/>
                </a:lnTo>
                <a:lnTo>
                  <a:pt x="65871" y="43547"/>
                </a:lnTo>
                <a:lnTo>
                  <a:pt x="22116" y="43547"/>
                </a:lnTo>
                <a:cubicBezTo>
                  <a:pt x="12859" y="43547"/>
                  <a:pt x="4763" y="49113"/>
                  <a:pt x="2232" y="59680"/>
                </a:cubicBezTo>
                <a:cubicBezTo>
                  <a:pt x="-685" y="71795"/>
                  <a:pt x="-804" y="79355"/>
                  <a:pt x="2232" y="92006"/>
                </a:cubicBezTo>
                <a:cubicBezTo>
                  <a:pt x="4495" y="101411"/>
                  <a:pt x="9882" y="108139"/>
                  <a:pt x="19139" y="108139"/>
                </a:cubicBezTo>
                <a:lnTo>
                  <a:pt x="30063" y="108139"/>
                </a:lnTo>
                <a:lnTo>
                  <a:pt x="30063" y="93613"/>
                </a:lnTo>
                <a:cubicBezTo>
                  <a:pt x="30063" y="83106"/>
                  <a:pt x="39142" y="73849"/>
                  <a:pt x="49947" y="73849"/>
                </a:cubicBezTo>
                <a:close/>
                <a:moveTo>
                  <a:pt x="47982" y="19258"/>
                </a:moveTo>
                <a:cubicBezTo>
                  <a:pt x="51334" y="19258"/>
                  <a:pt x="54054" y="21979"/>
                  <a:pt x="54054" y="25331"/>
                </a:cubicBezTo>
                <a:cubicBezTo>
                  <a:pt x="54054" y="28682"/>
                  <a:pt x="51334" y="31403"/>
                  <a:pt x="47982" y="31403"/>
                </a:cubicBezTo>
                <a:cubicBezTo>
                  <a:pt x="44631" y="31403"/>
                  <a:pt x="41910" y="28682"/>
                  <a:pt x="41910" y="25331"/>
                </a:cubicBezTo>
                <a:cubicBezTo>
                  <a:pt x="41910" y="21979"/>
                  <a:pt x="44631" y="19258"/>
                  <a:pt x="47982" y="19258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13"/>
          <p:cNvSpPr/>
          <p:nvPr/>
        </p:nvSpPr>
        <p:spPr>
          <a:xfrm>
            <a:off x="1000080" y="3233880"/>
            <a:ext cx="436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Python (Pandas)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14"/>
          <p:cNvSpPr/>
          <p:nvPr/>
        </p:nvSpPr>
        <p:spPr>
          <a:xfrm>
            <a:off x="1000080" y="3462480"/>
            <a:ext cx="5172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Programmatic data extraction with flexible scripting and data manipulation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15"/>
          <p:cNvSpPr/>
          <p:nvPr/>
        </p:nvSpPr>
        <p:spPr>
          <a:xfrm>
            <a:off x="581040" y="4024440"/>
            <a:ext cx="304560" cy="3045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4560"/>
              <a:gd name="textAreaBottom" fmla="*/ 304920 h 304560"/>
            </a:gdLst>
            <a:ahLst/>
            <a:rect l="textAreaLeft" t="textAreaTop" r="textAreaRight" b="textAreaBottom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16"/>
          <p:cNvSpPr/>
          <p:nvPr/>
        </p:nvSpPr>
        <p:spPr>
          <a:xfrm>
            <a:off x="647640" y="4100400"/>
            <a:ext cx="171000" cy="151920"/>
          </a:xfrm>
          <a:custGeom>
            <a:avLst/>
            <a:gdLst>
              <a:gd name="textAreaLeft" fmla="*/ 0 w 171000"/>
              <a:gd name="textAreaRight" fmla="*/ 171360 w 17100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71450" h="152400">
                <a:moveTo>
                  <a:pt x="154781" y="59531"/>
                </a:moveTo>
                <a:cubicBezTo>
                  <a:pt x="163979" y="59531"/>
                  <a:pt x="171450" y="67002"/>
                  <a:pt x="171450" y="76200"/>
                </a:cubicBezTo>
                <a:cubicBezTo>
                  <a:pt x="171450" y="85398"/>
                  <a:pt x="163979" y="92869"/>
                  <a:pt x="154781" y="92869"/>
                </a:cubicBezTo>
                <a:lnTo>
                  <a:pt x="116890" y="92869"/>
                </a:lnTo>
                <a:lnTo>
                  <a:pt x="69503" y="144542"/>
                </a:lnTo>
                <a:cubicBezTo>
                  <a:pt x="67687" y="146506"/>
                  <a:pt x="65157" y="147638"/>
                  <a:pt x="62478" y="147638"/>
                </a:cubicBezTo>
                <a:lnTo>
                  <a:pt x="49470" y="147638"/>
                </a:lnTo>
                <a:cubicBezTo>
                  <a:pt x="46226" y="147638"/>
                  <a:pt x="43934" y="144453"/>
                  <a:pt x="44946" y="141357"/>
                </a:cubicBezTo>
                <a:lnTo>
                  <a:pt x="61109" y="92869"/>
                </a:lnTo>
                <a:lnTo>
                  <a:pt x="31433" y="92869"/>
                </a:lnTo>
                <a:lnTo>
                  <a:pt x="15716" y="112514"/>
                </a:lnTo>
                <a:cubicBezTo>
                  <a:pt x="14823" y="113645"/>
                  <a:pt x="13454" y="114300"/>
                  <a:pt x="11996" y="114300"/>
                </a:cubicBezTo>
                <a:lnTo>
                  <a:pt x="6102" y="114300"/>
                </a:lnTo>
                <a:cubicBezTo>
                  <a:pt x="3006" y="114300"/>
                  <a:pt x="744" y="111383"/>
                  <a:pt x="1488" y="108377"/>
                </a:cubicBezTo>
                <a:lnTo>
                  <a:pt x="9525" y="76200"/>
                </a:lnTo>
                <a:lnTo>
                  <a:pt x="1488" y="44023"/>
                </a:lnTo>
                <a:cubicBezTo>
                  <a:pt x="714" y="41017"/>
                  <a:pt x="3006" y="38100"/>
                  <a:pt x="6102" y="38100"/>
                </a:cubicBezTo>
                <a:lnTo>
                  <a:pt x="11996" y="38100"/>
                </a:lnTo>
                <a:cubicBezTo>
                  <a:pt x="13454" y="38100"/>
                  <a:pt x="14823" y="38755"/>
                  <a:pt x="15716" y="39886"/>
                </a:cubicBezTo>
                <a:lnTo>
                  <a:pt x="31432" y="59531"/>
                </a:lnTo>
                <a:lnTo>
                  <a:pt x="61109" y="59531"/>
                </a:lnTo>
                <a:lnTo>
                  <a:pt x="44946" y="11043"/>
                </a:lnTo>
                <a:cubicBezTo>
                  <a:pt x="43934" y="7947"/>
                  <a:pt x="46226" y="4763"/>
                  <a:pt x="49470" y="4763"/>
                </a:cubicBezTo>
                <a:lnTo>
                  <a:pt x="62478" y="4763"/>
                </a:lnTo>
                <a:cubicBezTo>
                  <a:pt x="65157" y="4763"/>
                  <a:pt x="67687" y="5894"/>
                  <a:pt x="69503" y="7858"/>
                </a:cubicBezTo>
                <a:lnTo>
                  <a:pt x="116890" y="59531"/>
                </a:lnTo>
                <a:lnTo>
                  <a:pt x="154781" y="59531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17"/>
          <p:cNvSpPr/>
          <p:nvPr/>
        </p:nvSpPr>
        <p:spPr>
          <a:xfrm>
            <a:off x="1000080" y="3986280"/>
            <a:ext cx="3552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Airbyte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18"/>
          <p:cNvSpPr/>
          <p:nvPr/>
        </p:nvSpPr>
        <p:spPr>
          <a:xfrm>
            <a:off x="1000080" y="4214880"/>
            <a:ext cx="4943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Open-source EL(T) platform with 300+ pre-built connectors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19"/>
          <p:cNvSpPr/>
          <p:nvPr/>
        </p:nvSpPr>
        <p:spPr>
          <a:xfrm>
            <a:off x="581040" y="4776840"/>
            <a:ext cx="304560" cy="3045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4560"/>
              <a:gd name="textAreaBottom" fmla="*/ 304920 h 304560"/>
            </a:gdLst>
            <a:ahLst/>
            <a:rect l="textAreaLeft" t="textAreaTop" r="textAreaRight" b="textAreaBottom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20"/>
          <p:cNvSpPr/>
          <p:nvPr/>
        </p:nvSpPr>
        <p:spPr>
          <a:xfrm>
            <a:off x="666720" y="4853160"/>
            <a:ext cx="132840" cy="151920"/>
          </a:xfrm>
          <a:custGeom>
            <a:avLst/>
            <a:gdLst>
              <a:gd name="textAreaLeft" fmla="*/ 0 w 132840"/>
              <a:gd name="textAreaRight" fmla="*/ 133200 w 13284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21"/>
          <p:cNvSpPr/>
          <p:nvPr/>
        </p:nvSpPr>
        <p:spPr>
          <a:xfrm>
            <a:off x="1000080" y="4738680"/>
            <a:ext cx="4057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Fivetran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22"/>
          <p:cNvSpPr/>
          <p:nvPr/>
        </p:nvSpPr>
        <p:spPr>
          <a:xfrm>
            <a:off x="1000080" y="4967280"/>
            <a:ext cx="4943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Fully managed automated data integration with schema drift handling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23"/>
          <p:cNvSpPr/>
          <p:nvPr/>
        </p:nvSpPr>
        <p:spPr>
          <a:xfrm>
            <a:off x="385920" y="5624640"/>
            <a:ext cx="5609880" cy="999720"/>
          </a:xfrm>
          <a:custGeom>
            <a:avLst/>
            <a:gdLst>
              <a:gd name="textAreaLeft" fmla="*/ 0 w 5609880"/>
              <a:gd name="textAreaRight" fmla="*/ 5610240 w 5609880"/>
              <a:gd name="textAreaTop" fmla="*/ 0 h 999720"/>
              <a:gd name="textAreaBottom" fmla="*/ 1000080 h 999720"/>
            </a:gdLst>
            <a:ahLst/>
            <a:rect l="textAreaLeft" t="textAreaTop" r="textAreaRight" b="textAreaBottom"/>
            <a:pathLst>
              <a:path w="5610225" h="1000125">
                <a:moveTo>
                  <a:pt x="114304" y="0"/>
                </a:moveTo>
                <a:lnTo>
                  <a:pt x="5495921" y="0"/>
                </a:lnTo>
                <a:cubicBezTo>
                  <a:pt x="5559049" y="0"/>
                  <a:pt x="5610225" y="51176"/>
                  <a:pt x="5610225" y="114304"/>
                </a:cubicBezTo>
                <a:lnTo>
                  <a:pt x="5610225" y="885821"/>
                </a:lnTo>
                <a:cubicBezTo>
                  <a:pt x="5610225" y="948949"/>
                  <a:pt x="5559049" y="1000125"/>
                  <a:pt x="549592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24"/>
          <p:cNvSpPr/>
          <p:nvPr/>
        </p:nvSpPr>
        <p:spPr>
          <a:xfrm>
            <a:off x="581040" y="5819760"/>
            <a:ext cx="114120" cy="151920"/>
          </a:xfrm>
          <a:custGeom>
            <a:avLst/>
            <a:gdLst>
              <a:gd name="textAreaLeft" fmla="*/ 0 w 114120"/>
              <a:gd name="textAreaRight" fmla="*/ 114480 w 11412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25"/>
          <p:cNvSpPr/>
          <p:nvPr/>
        </p:nvSpPr>
        <p:spPr>
          <a:xfrm>
            <a:off x="790560" y="5781600"/>
            <a:ext cx="512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4db6ac"/>
                </a:solidFill>
                <a:latin typeface="Liter"/>
                <a:ea typeface="Liter"/>
              </a:rPr>
              <a:t>When to Use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26"/>
          <p:cNvSpPr/>
          <p:nvPr/>
        </p:nvSpPr>
        <p:spPr>
          <a:xfrm>
            <a:off x="542880" y="6086520"/>
            <a:ext cx="53622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Custom:</a:t>
            </a:r>
            <a:r>
              <a:rPr b="0" lang="en-US" sz="10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 APIs/SQL/Python for unique sources. </a:t>
            </a:r>
            <a:r>
              <a:rPr b="1" lang="en-US" sz="105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Managed:</a:t>
            </a:r>
            <a:r>
              <a:rPr b="0" lang="en-US" sz="10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 Airbyte/Fivetran for standard sources with minimal setup.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27"/>
          <p:cNvSpPr/>
          <p:nvPr/>
        </p:nvSpPr>
        <p:spPr>
          <a:xfrm>
            <a:off x="6195960" y="1566720"/>
            <a:ext cx="5609880" cy="3018960"/>
          </a:xfrm>
          <a:custGeom>
            <a:avLst/>
            <a:gdLst>
              <a:gd name="textAreaLeft" fmla="*/ 0 w 5609880"/>
              <a:gd name="textAreaRight" fmla="*/ 5610240 w 5609880"/>
              <a:gd name="textAreaTop" fmla="*/ 0 h 3018960"/>
              <a:gd name="textAreaBottom" fmla="*/ 3019320 h 3018960"/>
            </a:gdLst>
            <a:ahLst/>
            <a:rect l="textAreaLeft" t="textAreaTop" r="textAreaRight" b="textAreaBottom"/>
            <a:pathLst>
              <a:path w="5610225" h="3019425">
                <a:moveTo>
                  <a:pt x="114285" y="0"/>
                </a:moveTo>
                <a:lnTo>
                  <a:pt x="5495940" y="0"/>
                </a:lnTo>
                <a:cubicBezTo>
                  <a:pt x="5559058" y="0"/>
                  <a:pt x="5610225" y="51167"/>
                  <a:pt x="5610225" y="114285"/>
                </a:cubicBezTo>
                <a:lnTo>
                  <a:pt x="5610225" y="2905140"/>
                </a:lnTo>
                <a:cubicBezTo>
                  <a:pt x="5610225" y="2968258"/>
                  <a:pt x="5559058" y="3019425"/>
                  <a:pt x="5495940" y="3019425"/>
                </a:cubicBezTo>
                <a:lnTo>
                  <a:pt x="114285" y="3019425"/>
                </a:lnTo>
                <a:cubicBezTo>
                  <a:pt x="51167" y="3019425"/>
                  <a:pt x="0" y="2968258"/>
                  <a:pt x="0" y="2905140"/>
                </a:cubicBezTo>
                <a:lnTo>
                  <a:pt x="0" y="114285"/>
                </a:lnTo>
                <a:cubicBezTo>
                  <a:pt x="0" y="51167"/>
                  <a:pt x="51167" y="0"/>
                  <a:pt x="114285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12700">
            <a:solidFill>
              <a:srgbClr val="ff8a65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28"/>
          <p:cNvSpPr/>
          <p:nvPr/>
        </p:nvSpPr>
        <p:spPr>
          <a:xfrm>
            <a:off x="6391440" y="176220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9"/>
          <p:cNvSpPr/>
          <p:nvPr/>
        </p:nvSpPr>
        <p:spPr>
          <a:xfrm>
            <a:off x="6477120" y="1876320"/>
            <a:ext cx="285480" cy="228240"/>
          </a:xfrm>
          <a:custGeom>
            <a:avLst/>
            <a:gdLst>
              <a:gd name="textAreaLeft" fmla="*/ 0 w 285480"/>
              <a:gd name="textAreaRight" fmla="*/ 285840 w 285480"/>
              <a:gd name="textAreaTop" fmla="*/ 0 h 228240"/>
              <a:gd name="textAreaBottom" fmla="*/ 228600 h 228240"/>
            </a:gdLst>
            <a:ahLst/>
            <a:rect l="textAreaLeft" t="textAreaTop" r="textAreaRight" b="textAreaBottom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30"/>
          <p:cNvSpPr/>
          <p:nvPr/>
        </p:nvSpPr>
        <p:spPr>
          <a:xfrm>
            <a:off x="6962760" y="1838160"/>
            <a:ext cx="2266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ff8a65"/>
                </a:solidFill>
                <a:latin typeface="Liter"/>
                <a:ea typeface="Liter"/>
              </a:rPr>
              <a:t>Transformation Tools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31"/>
          <p:cNvSpPr/>
          <p:nvPr/>
        </p:nvSpPr>
        <p:spPr>
          <a:xfrm>
            <a:off x="6391440" y="2409840"/>
            <a:ext cx="304560" cy="3045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4560"/>
              <a:gd name="textAreaBottom" fmla="*/ 304920 h 304560"/>
            </a:gdLst>
            <a:ahLst/>
            <a:rect l="textAreaLeft" t="textAreaTop" r="textAreaRight" b="textAreaBottom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32"/>
          <p:cNvSpPr/>
          <p:nvPr/>
        </p:nvSpPr>
        <p:spPr>
          <a:xfrm>
            <a:off x="6467400" y="2486160"/>
            <a:ext cx="151920" cy="151920"/>
          </a:xfrm>
          <a:custGeom>
            <a:avLst/>
            <a:gdLst>
              <a:gd name="textAreaLeft" fmla="*/ 0 w 151920"/>
              <a:gd name="textAreaRight" fmla="*/ 152280 w 15192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52400" h="152400">
                <a:moveTo>
                  <a:pt x="66764" y="-744"/>
                </a:moveTo>
                <a:cubicBezTo>
                  <a:pt x="72658" y="-4137"/>
                  <a:pt x="79921" y="-4137"/>
                  <a:pt x="85814" y="-744"/>
                </a:cubicBezTo>
                <a:lnTo>
                  <a:pt x="138172" y="29468"/>
                </a:lnTo>
                <a:cubicBezTo>
                  <a:pt x="144066" y="32861"/>
                  <a:pt x="147697" y="39172"/>
                  <a:pt x="147697" y="45958"/>
                </a:cubicBezTo>
                <a:lnTo>
                  <a:pt x="147697" y="106382"/>
                </a:lnTo>
                <a:cubicBezTo>
                  <a:pt x="147697" y="113199"/>
                  <a:pt x="144066" y="119479"/>
                  <a:pt x="138172" y="122872"/>
                </a:cubicBezTo>
                <a:lnTo>
                  <a:pt x="85814" y="153144"/>
                </a:lnTo>
                <a:cubicBezTo>
                  <a:pt x="79921" y="156537"/>
                  <a:pt x="72658" y="156537"/>
                  <a:pt x="66764" y="153144"/>
                </a:cubicBezTo>
                <a:lnTo>
                  <a:pt x="14436" y="122932"/>
                </a:lnTo>
                <a:cubicBezTo>
                  <a:pt x="8543" y="119539"/>
                  <a:pt x="4911" y="113228"/>
                  <a:pt x="4911" y="106442"/>
                </a:cubicBezTo>
                <a:lnTo>
                  <a:pt x="4911" y="46018"/>
                </a:lnTo>
                <a:cubicBezTo>
                  <a:pt x="4911" y="39201"/>
                  <a:pt x="8543" y="32921"/>
                  <a:pt x="14436" y="29528"/>
                </a:cubicBezTo>
                <a:lnTo>
                  <a:pt x="66764" y="-744"/>
                </a:lnTo>
                <a:close/>
                <a:moveTo>
                  <a:pt x="128617" y="106412"/>
                </a:moveTo>
                <a:lnTo>
                  <a:pt x="128617" y="56971"/>
                </a:lnTo>
                <a:lnTo>
                  <a:pt x="85814" y="81677"/>
                </a:lnTo>
                <a:lnTo>
                  <a:pt x="85814" y="131118"/>
                </a:lnTo>
                <a:lnTo>
                  <a:pt x="128617" y="106412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33"/>
          <p:cNvSpPr/>
          <p:nvPr/>
        </p:nvSpPr>
        <p:spPr>
          <a:xfrm>
            <a:off x="6810480" y="2371680"/>
            <a:ext cx="442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dbt (data build tool)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34"/>
          <p:cNvSpPr/>
          <p:nvPr/>
        </p:nvSpPr>
        <p:spPr>
          <a:xfrm>
            <a:off x="6810480" y="2600280"/>
            <a:ext cx="53053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SQL-based transformation with version control, testing, and documentation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35"/>
          <p:cNvSpPr/>
          <p:nvPr/>
        </p:nvSpPr>
        <p:spPr>
          <a:xfrm>
            <a:off x="6391440" y="2943360"/>
            <a:ext cx="304560" cy="3045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4560"/>
              <a:gd name="textAreaBottom" fmla="*/ 304920 h 304560"/>
            </a:gdLst>
            <a:ahLst/>
            <a:rect l="textAreaLeft" t="textAreaTop" r="textAreaRight" b="textAreaBottom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36"/>
          <p:cNvSpPr/>
          <p:nvPr/>
        </p:nvSpPr>
        <p:spPr>
          <a:xfrm>
            <a:off x="6477120" y="3019320"/>
            <a:ext cx="132840" cy="151920"/>
          </a:xfrm>
          <a:custGeom>
            <a:avLst/>
            <a:gdLst>
              <a:gd name="textAreaLeft" fmla="*/ 0 w 132840"/>
              <a:gd name="textAreaRight" fmla="*/ 133200 w 13284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33350" h="152400">
                <a:moveTo>
                  <a:pt x="47774" y="-7858"/>
                </a:moveTo>
                <a:cubicBezTo>
                  <a:pt x="50542" y="-10180"/>
                  <a:pt x="54620" y="-10091"/>
                  <a:pt x="57269" y="-7590"/>
                </a:cubicBezTo>
                <a:cubicBezTo>
                  <a:pt x="60930" y="-4137"/>
                  <a:pt x="64204" y="-327"/>
                  <a:pt x="67360" y="3542"/>
                </a:cubicBezTo>
                <a:cubicBezTo>
                  <a:pt x="71378" y="8453"/>
                  <a:pt x="76200" y="14942"/>
                  <a:pt x="80843" y="22652"/>
                </a:cubicBezTo>
                <a:cubicBezTo>
                  <a:pt x="82391" y="20628"/>
                  <a:pt x="83820" y="18842"/>
                  <a:pt x="85070" y="17324"/>
                </a:cubicBezTo>
                <a:cubicBezTo>
                  <a:pt x="85398" y="16937"/>
                  <a:pt x="85725" y="16520"/>
                  <a:pt x="86052" y="16103"/>
                </a:cubicBezTo>
                <a:cubicBezTo>
                  <a:pt x="88404" y="13186"/>
                  <a:pt x="91321" y="9525"/>
                  <a:pt x="95220" y="9525"/>
                </a:cubicBezTo>
                <a:cubicBezTo>
                  <a:pt x="99209" y="9525"/>
                  <a:pt x="102007" y="13067"/>
                  <a:pt x="104388" y="16103"/>
                </a:cubicBezTo>
                <a:cubicBezTo>
                  <a:pt x="104775" y="16609"/>
                  <a:pt x="105162" y="17085"/>
                  <a:pt x="105549" y="17532"/>
                </a:cubicBezTo>
                <a:cubicBezTo>
                  <a:pt x="108615" y="21223"/>
                  <a:pt x="112693" y="26551"/>
                  <a:pt x="116771" y="33129"/>
                </a:cubicBezTo>
                <a:cubicBezTo>
                  <a:pt x="124867" y="46196"/>
                  <a:pt x="133320" y="64800"/>
                  <a:pt x="133320" y="85695"/>
                </a:cubicBezTo>
                <a:cubicBezTo>
                  <a:pt x="133320" y="122515"/>
                  <a:pt x="103465" y="152370"/>
                  <a:pt x="66645" y="152370"/>
                </a:cubicBezTo>
                <a:cubicBezTo>
                  <a:pt x="29825" y="152370"/>
                  <a:pt x="0" y="122545"/>
                  <a:pt x="0" y="85725"/>
                </a:cubicBezTo>
                <a:cubicBezTo>
                  <a:pt x="0" y="58609"/>
                  <a:pt x="12234" y="35123"/>
                  <a:pt x="23961" y="18752"/>
                </a:cubicBezTo>
                <a:cubicBezTo>
                  <a:pt x="29885" y="10507"/>
                  <a:pt x="35778" y="3899"/>
                  <a:pt x="40213" y="-625"/>
                </a:cubicBezTo>
                <a:cubicBezTo>
                  <a:pt x="42654" y="-3125"/>
                  <a:pt x="45125" y="-5596"/>
                  <a:pt x="47804" y="-7828"/>
                </a:cubicBezTo>
                <a:close/>
                <a:moveTo>
                  <a:pt x="67181" y="123825"/>
                </a:moveTo>
                <a:cubicBezTo>
                  <a:pt x="74712" y="123825"/>
                  <a:pt x="81379" y="121741"/>
                  <a:pt x="87660" y="117574"/>
                </a:cubicBezTo>
                <a:cubicBezTo>
                  <a:pt x="100191" y="108823"/>
                  <a:pt x="103555" y="91321"/>
                  <a:pt x="96024" y="77569"/>
                </a:cubicBezTo>
                <a:cubicBezTo>
                  <a:pt x="94684" y="74890"/>
                  <a:pt x="91261" y="74712"/>
                  <a:pt x="89327" y="76974"/>
                </a:cubicBezTo>
                <a:lnTo>
                  <a:pt x="81826" y="85695"/>
                </a:lnTo>
                <a:cubicBezTo>
                  <a:pt x="79861" y="87957"/>
                  <a:pt x="76319" y="87898"/>
                  <a:pt x="74474" y="85546"/>
                </a:cubicBezTo>
                <a:cubicBezTo>
                  <a:pt x="69324" y="78968"/>
                  <a:pt x="59859" y="66973"/>
                  <a:pt x="55037" y="60841"/>
                </a:cubicBezTo>
                <a:cubicBezTo>
                  <a:pt x="53429" y="58787"/>
                  <a:pt x="50512" y="58460"/>
                  <a:pt x="48637" y="60275"/>
                </a:cubicBezTo>
                <a:cubicBezTo>
                  <a:pt x="43190" y="65574"/>
                  <a:pt x="33308" y="77182"/>
                  <a:pt x="33308" y="91321"/>
                </a:cubicBezTo>
                <a:cubicBezTo>
                  <a:pt x="33308" y="111740"/>
                  <a:pt x="48369" y="123825"/>
                  <a:pt x="67151" y="123825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37"/>
          <p:cNvSpPr/>
          <p:nvPr/>
        </p:nvSpPr>
        <p:spPr>
          <a:xfrm>
            <a:off x="6810480" y="2905200"/>
            <a:ext cx="3466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Apache Spark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38"/>
          <p:cNvSpPr/>
          <p:nvPr/>
        </p:nvSpPr>
        <p:spPr>
          <a:xfrm>
            <a:off x="6810480" y="3133800"/>
            <a:ext cx="4848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Distributed processing for large-scale data transformations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39"/>
          <p:cNvSpPr/>
          <p:nvPr/>
        </p:nvSpPr>
        <p:spPr>
          <a:xfrm>
            <a:off x="6391440" y="3476520"/>
            <a:ext cx="304560" cy="3045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4560"/>
              <a:gd name="textAreaBottom" fmla="*/ 304920 h 304560"/>
            </a:gdLst>
            <a:ahLst/>
            <a:rect l="textAreaLeft" t="textAreaTop" r="textAreaRight" b="textAreaBottom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40"/>
          <p:cNvSpPr/>
          <p:nvPr/>
        </p:nvSpPr>
        <p:spPr>
          <a:xfrm>
            <a:off x="6477120" y="3552840"/>
            <a:ext cx="132840" cy="151920"/>
          </a:xfrm>
          <a:custGeom>
            <a:avLst/>
            <a:gdLst>
              <a:gd name="textAreaLeft" fmla="*/ 0 w 132840"/>
              <a:gd name="textAreaRight" fmla="*/ 133200 w 13284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33350" h="152400">
                <a:moveTo>
                  <a:pt x="130909" y="59680"/>
                </a:moveTo>
                <a:cubicBezTo>
                  <a:pt x="128617" y="50483"/>
                  <a:pt x="124271" y="43547"/>
                  <a:pt x="115014" y="43547"/>
                </a:cubicBezTo>
                <a:lnTo>
                  <a:pt x="103078" y="43547"/>
                </a:lnTo>
                <a:lnTo>
                  <a:pt x="103078" y="57656"/>
                </a:lnTo>
                <a:cubicBezTo>
                  <a:pt x="103078" y="68610"/>
                  <a:pt x="93791" y="77837"/>
                  <a:pt x="83195" y="77837"/>
                </a:cubicBezTo>
                <a:lnTo>
                  <a:pt x="51405" y="77837"/>
                </a:lnTo>
                <a:cubicBezTo>
                  <a:pt x="42714" y="77837"/>
                  <a:pt x="35510" y="85279"/>
                  <a:pt x="35510" y="94000"/>
                </a:cubicBezTo>
                <a:lnTo>
                  <a:pt x="35510" y="124301"/>
                </a:lnTo>
                <a:cubicBezTo>
                  <a:pt x="35510" y="132933"/>
                  <a:pt x="43011" y="137993"/>
                  <a:pt x="51405" y="140464"/>
                </a:cubicBezTo>
                <a:cubicBezTo>
                  <a:pt x="61466" y="143411"/>
                  <a:pt x="71140" y="143947"/>
                  <a:pt x="83195" y="140464"/>
                </a:cubicBezTo>
                <a:cubicBezTo>
                  <a:pt x="91202" y="138142"/>
                  <a:pt x="99090" y="133469"/>
                  <a:pt x="99090" y="124301"/>
                </a:cubicBezTo>
                <a:lnTo>
                  <a:pt x="99090" y="112187"/>
                </a:lnTo>
                <a:lnTo>
                  <a:pt x="67330" y="112187"/>
                </a:lnTo>
                <a:lnTo>
                  <a:pt x="67330" y="108139"/>
                </a:lnTo>
                <a:lnTo>
                  <a:pt x="115014" y="108139"/>
                </a:lnTo>
                <a:cubicBezTo>
                  <a:pt x="124271" y="108139"/>
                  <a:pt x="127695" y="101679"/>
                  <a:pt x="130909" y="92006"/>
                </a:cubicBezTo>
                <a:cubicBezTo>
                  <a:pt x="134243" y="82034"/>
                  <a:pt x="134094" y="72450"/>
                  <a:pt x="130909" y="59680"/>
                </a:cubicBezTo>
                <a:close/>
                <a:moveTo>
                  <a:pt x="85189" y="132368"/>
                </a:moveTo>
                <a:cubicBezTo>
                  <a:pt x="82924" y="132527"/>
                  <a:pt x="80759" y="131408"/>
                  <a:pt x="79578" y="129468"/>
                </a:cubicBezTo>
                <a:cubicBezTo>
                  <a:pt x="78397" y="127529"/>
                  <a:pt x="78397" y="125092"/>
                  <a:pt x="79578" y="123152"/>
                </a:cubicBezTo>
                <a:cubicBezTo>
                  <a:pt x="80759" y="121213"/>
                  <a:pt x="82924" y="120094"/>
                  <a:pt x="85189" y="120253"/>
                </a:cubicBezTo>
                <a:cubicBezTo>
                  <a:pt x="87455" y="120094"/>
                  <a:pt x="89619" y="121213"/>
                  <a:pt x="90800" y="123152"/>
                </a:cubicBezTo>
                <a:cubicBezTo>
                  <a:pt x="91982" y="125092"/>
                  <a:pt x="91982" y="127529"/>
                  <a:pt x="90800" y="129468"/>
                </a:cubicBezTo>
                <a:cubicBezTo>
                  <a:pt x="89619" y="131408"/>
                  <a:pt x="87455" y="132527"/>
                  <a:pt x="85189" y="132368"/>
                </a:cubicBezTo>
                <a:close/>
                <a:moveTo>
                  <a:pt x="49947" y="73849"/>
                </a:moveTo>
                <a:lnTo>
                  <a:pt x="81736" y="73849"/>
                </a:lnTo>
                <a:cubicBezTo>
                  <a:pt x="90577" y="73849"/>
                  <a:pt x="97631" y="66556"/>
                  <a:pt x="97631" y="57686"/>
                </a:cubicBezTo>
                <a:lnTo>
                  <a:pt x="97631" y="27355"/>
                </a:lnTo>
                <a:cubicBezTo>
                  <a:pt x="97631" y="18723"/>
                  <a:pt x="90368" y="12263"/>
                  <a:pt x="81736" y="10805"/>
                </a:cubicBezTo>
                <a:cubicBezTo>
                  <a:pt x="71080" y="9049"/>
                  <a:pt x="59501" y="9138"/>
                  <a:pt x="49947" y="10835"/>
                </a:cubicBezTo>
                <a:cubicBezTo>
                  <a:pt x="36493" y="13216"/>
                  <a:pt x="34052" y="18187"/>
                  <a:pt x="34052" y="27384"/>
                </a:cubicBezTo>
                <a:lnTo>
                  <a:pt x="34052" y="39499"/>
                </a:lnTo>
                <a:lnTo>
                  <a:pt x="65871" y="39499"/>
                </a:lnTo>
                <a:lnTo>
                  <a:pt x="65871" y="43547"/>
                </a:lnTo>
                <a:lnTo>
                  <a:pt x="22116" y="43547"/>
                </a:lnTo>
                <a:cubicBezTo>
                  <a:pt x="12859" y="43547"/>
                  <a:pt x="4763" y="49113"/>
                  <a:pt x="2232" y="59680"/>
                </a:cubicBezTo>
                <a:cubicBezTo>
                  <a:pt x="-685" y="71795"/>
                  <a:pt x="-804" y="79355"/>
                  <a:pt x="2232" y="92006"/>
                </a:cubicBezTo>
                <a:cubicBezTo>
                  <a:pt x="4495" y="101411"/>
                  <a:pt x="9882" y="108139"/>
                  <a:pt x="19139" y="108139"/>
                </a:cubicBezTo>
                <a:lnTo>
                  <a:pt x="30063" y="108139"/>
                </a:lnTo>
                <a:lnTo>
                  <a:pt x="30063" y="93613"/>
                </a:lnTo>
                <a:cubicBezTo>
                  <a:pt x="30063" y="83106"/>
                  <a:pt x="39142" y="73849"/>
                  <a:pt x="49947" y="73849"/>
                </a:cubicBezTo>
                <a:close/>
                <a:moveTo>
                  <a:pt x="47982" y="19258"/>
                </a:moveTo>
                <a:cubicBezTo>
                  <a:pt x="51334" y="19258"/>
                  <a:pt x="54054" y="21979"/>
                  <a:pt x="54054" y="25331"/>
                </a:cubicBezTo>
                <a:cubicBezTo>
                  <a:pt x="54054" y="28682"/>
                  <a:pt x="51334" y="31403"/>
                  <a:pt x="47982" y="31403"/>
                </a:cubicBezTo>
                <a:cubicBezTo>
                  <a:pt x="44631" y="31403"/>
                  <a:pt x="41910" y="28682"/>
                  <a:pt x="41910" y="25331"/>
                </a:cubicBezTo>
                <a:cubicBezTo>
                  <a:pt x="41910" y="21979"/>
                  <a:pt x="44631" y="19258"/>
                  <a:pt x="47982" y="19258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41"/>
          <p:cNvSpPr/>
          <p:nvPr/>
        </p:nvSpPr>
        <p:spPr>
          <a:xfrm>
            <a:off x="6810480" y="3438360"/>
            <a:ext cx="3924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Python (Pandas)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42"/>
          <p:cNvSpPr/>
          <p:nvPr/>
        </p:nvSpPr>
        <p:spPr>
          <a:xfrm>
            <a:off x="6810480" y="3666960"/>
            <a:ext cx="49953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In-memory data manipulation for smaller datasets and prototyping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43"/>
          <p:cNvSpPr/>
          <p:nvPr/>
        </p:nvSpPr>
        <p:spPr>
          <a:xfrm>
            <a:off x="6391440" y="4010040"/>
            <a:ext cx="304560" cy="304560"/>
          </a:xfrm>
          <a:custGeom>
            <a:avLst/>
            <a:gdLst>
              <a:gd name="textAreaLeft" fmla="*/ 0 w 304560"/>
              <a:gd name="textAreaRight" fmla="*/ 304920 w 304560"/>
              <a:gd name="textAreaTop" fmla="*/ 0 h 304560"/>
              <a:gd name="textAreaBottom" fmla="*/ 304920 h 304560"/>
            </a:gdLst>
            <a:ahLst/>
            <a:rect l="textAreaLeft" t="textAreaTop" r="textAreaRight" b="textAreaBottom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44"/>
          <p:cNvSpPr/>
          <p:nvPr/>
        </p:nvSpPr>
        <p:spPr>
          <a:xfrm>
            <a:off x="6477120" y="4086360"/>
            <a:ext cx="132840" cy="151920"/>
          </a:xfrm>
          <a:custGeom>
            <a:avLst/>
            <a:gdLst>
              <a:gd name="textAreaLeft" fmla="*/ 0 w 132840"/>
              <a:gd name="textAreaRight" fmla="*/ 133200 w 13284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45"/>
          <p:cNvSpPr/>
          <p:nvPr/>
        </p:nvSpPr>
        <p:spPr>
          <a:xfrm>
            <a:off x="6810480" y="3971880"/>
            <a:ext cx="4105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SQL Transformations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46"/>
          <p:cNvSpPr/>
          <p:nvPr/>
        </p:nvSpPr>
        <p:spPr>
          <a:xfrm>
            <a:off x="6810480" y="4200480"/>
            <a:ext cx="4848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Native warehouse transformations using stored procedures and views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Shape 47"/>
          <p:cNvSpPr/>
          <p:nvPr/>
        </p:nvSpPr>
        <p:spPr>
          <a:xfrm>
            <a:off x="6195960" y="4748040"/>
            <a:ext cx="5609880" cy="1875960"/>
          </a:xfrm>
          <a:custGeom>
            <a:avLst/>
            <a:gdLst>
              <a:gd name="textAreaLeft" fmla="*/ 0 w 5609880"/>
              <a:gd name="textAreaRight" fmla="*/ 5610240 w 5609880"/>
              <a:gd name="textAreaTop" fmla="*/ 0 h 1875960"/>
              <a:gd name="textAreaBottom" fmla="*/ 1876320 h 1875960"/>
            </a:gdLst>
            <a:ahLst/>
            <a:rect l="textAreaLeft" t="textAreaTop" r="textAreaRight" b="textAreaBottom"/>
            <a:pathLst>
              <a:path w="5610225" h="1876425">
                <a:moveTo>
                  <a:pt x="114293" y="0"/>
                </a:moveTo>
                <a:lnTo>
                  <a:pt x="5495932" y="0"/>
                </a:lnTo>
                <a:cubicBezTo>
                  <a:pt x="5559054" y="0"/>
                  <a:pt x="5610225" y="51171"/>
                  <a:pt x="5610225" y="114293"/>
                </a:cubicBezTo>
                <a:lnTo>
                  <a:pt x="5610225" y="1762132"/>
                </a:lnTo>
                <a:cubicBezTo>
                  <a:pt x="5610225" y="1825254"/>
                  <a:pt x="5559054" y="1876425"/>
                  <a:pt x="5495932" y="1876425"/>
                </a:cubicBezTo>
                <a:lnTo>
                  <a:pt x="114293" y="1876425"/>
                </a:lnTo>
                <a:cubicBezTo>
                  <a:pt x="51171" y="1876425"/>
                  <a:pt x="0" y="1825254"/>
                  <a:pt x="0" y="1762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48"/>
          <p:cNvSpPr/>
          <p:nvPr/>
        </p:nvSpPr>
        <p:spPr>
          <a:xfrm>
            <a:off x="6372360" y="4943520"/>
            <a:ext cx="151920" cy="151920"/>
          </a:xfrm>
          <a:custGeom>
            <a:avLst/>
            <a:gdLst>
              <a:gd name="textAreaLeft" fmla="*/ 0 w 151920"/>
              <a:gd name="textAreaRight" fmla="*/ 152280 w 15192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49"/>
          <p:cNvSpPr/>
          <p:nvPr/>
        </p:nvSpPr>
        <p:spPr>
          <a:xfrm>
            <a:off x="6600960" y="4905360"/>
            <a:ext cx="512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ff8a65"/>
                </a:solidFill>
                <a:latin typeface="Liter"/>
                <a:ea typeface="Liter"/>
              </a:rPr>
              <a:t>Comparison Matrix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50"/>
          <p:cNvSpPr/>
          <p:nvPr/>
        </p:nvSpPr>
        <p:spPr>
          <a:xfrm>
            <a:off x="6353280" y="521028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60000"/>
                  </a:srgbClr>
                </a:solidFill>
                <a:latin typeface="Quattrocento Sans"/>
                <a:ea typeface="Quattrocento Sans"/>
              </a:rPr>
              <a:t>Tool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51"/>
          <p:cNvSpPr/>
          <p:nvPr/>
        </p:nvSpPr>
        <p:spPr>
          <a:xfrm>
            <a:off x="7696080" y="521028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60000"/>
                  </a:srgbClr>
                </a:solidFill>
                <a:latin typeface="Quattrocento Sans"/>
                <a:ea typeface="Quattrocento Sans"/>
              </a:rPr>
              <a:t>Scale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52"/>
          <p:cNvSpPr/>
          <p:nvPr/>
        </p:nvSpPr>
        <p:spPr>
          <a:xfrm>
            <a:off x="9039240" y="521028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60000"/>
                  </a:srgbClr>
                </a:solidFill>
                <a:latin typeface="Quattrocento Sans"/>
                <a:ea typeface="Quattrocento Sans"/>
              </a:rPr>
              <a:t>Learning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53"/>
          <p:cNvSpPr/>
          <p:nvPr/>
        </p:nvSpPr>
        <p:spPr>
          <a:xfrm>
            <a:off x="10382400" y="521028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60000"/>
                  </a:srgbClr>
                </a:solidFill>
                <a:latin typeface="Quattrocento Sans"/>
                <a:ea typeface="Quattrocento Sans"/>
              </a:rPr>
              <a:t>Best For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54"/>
          <p:cNvSpPr/>
          <p:nvPr/>
        </p:nvSpPr>
        <p:spPr>
          <a:xfrm>
            <a:off x="6353280" y="547704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dbt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55"/>
          <p:cNvSpPr/>
          <p:nvPr/>
        </p:nvSpPr>
        <p:spPr>
          <a:xfrm>
            <a:off x="7696080" y="547704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Medium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56"/>
          <p:cNvSpPr/>
          <p:nvPr/>
        </p:nvSpPr>
        <p:spPr>
          <a:xfrm>
            <a:off x="9039240" y="547704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Low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57"/>
          <p:cNvSpPr/>
          <p:nvPr/>
        </p:nvSpPr>
        <p:spPr>
          <a:xfrm>
            <a:off x="10382400" y="547704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Analytics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58"/>
          <p:cNvSpPr/>
          <p:nvPr/>
        </p:nvSpPr>
        <p:spPr>
          <a:xfrm>
            <a:off x="6353280" y="574344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ff8a65"/>
                </a:solidFill>
                <a:latin typeface="Quattrocento Sans"/>
                <a:ea typeface="Quattrocento Sans"/>
              </a:rPr>
              <a:t>Spark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59"/>
          <p:cNvSpPr/>
          <p:nvPr/>
        </p:nvSpPr>
        <p:spPr>
          <a:xfrm>
            <a:off x="7696080" y="574344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Massive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60"/>
          <p:cNvSpPr/>
          <p:nvPr/>
        </p:nvSpPr>
        <p:spPr>
          <a:xfrm>
            <a:off x="9039240" y="574344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High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61"/>
          <p:cNvSpPr/>
          <p:nvPr/>
        </p:nvSpPr>
        <p:spPr>
          <a:xfrm>
            <a:off x="10382400" y="574344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Big Data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62"/>
          <p:cNvSpPr/>
          <p:nvPr/>
        </p:nvSpPr>
        <p:spPr>
          <a:xfrm>
            <a:off x="6353280" y="601020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607d8b"/>
                </a:solidFill>
                <a:latin typeface="Quattrocento Sans"/>
                <a:ea typeface="Quattrocento Sans"/>
              </a:rPr>
              <a:t>Pandas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63"/>
          <p:cNvSpPr/>
          <p:nvPr/>
        </p:nvSpPr>
        <p:spPr>
          <a:xfrm>
            <a:off x="7696080" y="601020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Small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64"/>
          <p:cNvSpPr/>
          <p:nvPr/>
        </p:nvSpPr>
        <p:spPr>
          <a:xfrm>
            <a:off x="9039240" y="601020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Low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65"/>
          <p:cNvSpPr/>
          <p:nvPr/>
        </p:nvSpPr>
        <p:spPr>
          <a:xfrm>
            <a:off x="10382400" y="601020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Prototyping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66"/>
          <p:cNvSpPr/>
          <p:nvPr/>
        </p:nvSpPr>
        <p:spPr>
          <a:xfrm>
            <a:off x="6353280" y="627696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SQL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67"/>
          <p:cNvSpPr/>
          <p:nvPr/>
        </p:nvSpPr>
        <p:spPr>
          <a:xfrm>
            <a:off x="7696080" y="627696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Medium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68"/>
          <p:cNvSpPr/>
          <p:nvPr/>
        </p:nvSpPr>
        <p:spPr>
          <a:xfrm>
            <a:off x="9039240" y="627696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Low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69"/>
          <p:cNvSpPr/>
          <p:nvPr/>
        </p:nvSpPr>
        <p:spPr>
          <a:xfrm>
            <a:off x="10382400" y="6276960"/>
            <a:ext cx="1333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Warehouse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/>
          <p:nvPr/>
        </p:nvSpPr>
        <p:spPr>
          <a:xfrm>
            <a:off x="380880" y="380880"/>
            <a:ext cx="1150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58" strike="noStrike">
                <a:solidFill>
                  <a:srgbClr val="4db6ac"/>
                </a:solidFill>
                <a:latin typeface="Quattrocento Sans"/>
                <a:ea typeface="Quattrocento Sans"/>
              </a:rPr>
              <a:t>TECHNOLOGY STACK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1"/>
          <p:cNvSpPr/>
          <p:nvPr/>
        </p:nvSpPr>
        <p:spPr>
          <a:xfrm>
            <a:off x="380880" y="685800"/>
            <a:ext cx="116010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700" spc="-1" strike="noStrike">
                <a:solidFill>
                  <a:srgbClr val="eceff1"/>
                </a:solidFill>
                <a:latin typeface="Liter"/>
                <a:ea typeface="Liter"/>
              </a:rPr>
              <a:t>Loading, Orchestration &amp; Storage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2"/>
          <p:cNvSpPr/>
          <p:nvPr/>
        </p:nvSpPr>
        <p:spPr>
          <a:xfrm>
            <a:off x="380880" y="1143000"/>
            <a:ext cx="1151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3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Complete Infrastructure for Production Pipelines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Shape 3"/>
          <p:cNvSpPr/>
          <p:nvPr/>
        </p:nvSpPr>
        <p:spPr>
          <a:xfrm>
            <a:off x="385920" y="1566720"/>
            <a:ext cx="5628960" cy="3018960"/>
          </a:xfrm>
          <a:custGeom>
            <a:avLst/>
            <a:gdLst>
              <a:gd name="textAreaLeft" fmla="*/ 0 w 5628960"/>
              <a:gd name="textAreaRight" fmla="*/ 5629320 w 5628960"/>
              <a:gd name="textAreaTop" fmla="*/ 0 h 3018960"/>
              <a:gd name="textAreaBottom" fmla="*/ 3019320 h 3018960"/>
            </a:gdLst>
            <a:ahLst/>
            <a:rect l="textAreaLeft" t="textAreaTop" r="textAreaRight" b="textAreaBottom"/>
            <a:pathLst>
              <a:path w="5629275" h="3019425">
                <a:moveTo>
                  <a:pt x="114285" y="0"/>
                </a:moveTo>
                <a:lnTo>
                  <a:pt x="5514990" y="0"/>
                </a:lnTo>
                <a:cubicBezTo>
                  <a:pt x="5578108" y="0"/>
                  <a:pt x="5629275" y="51167"/>
                  <a:pt x="5629275" y="114285"/>
                </a:cubicBezTo>
                <a:lnTo>
                  <a:pt x="5629275" y="2905140"/>
                </a:lnTo>
                <a:cubicBezTo>
                  <a:pt x="5629275" y="2968258"/>
                  <a:pt x="5578108" y="3019425"/>
                  <a:pt x="5514990" y="3019425"/>
                </a:cubicBezTo>
                <a:lnTo>
                  <a:pt x="114285" y="3019425"/>
                </a:lnTo>
                <a:cubicBezTo>
                  <a:pt x="51167" y="3019425"/>
                  <a:pt x="0" y="2968258"/>
                  <a:pt x="0" y="2905140"/>
                </a:cubicBezTo>
                <a:lnTo>
                  <a:pt x="0" y="114285"/>
                </a:lnTo>
                <a:cubicBezTo>
                  <a:pt x="0" y="51167"/>
                  <a:pt x="51167" y="0"/>
                  <a:pt x="114285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12700">
            <a:solidFill>
              <a:srgbClr val="4db6ac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4"/>
          <p:cNvSpPr/>
          <p:nvPr/>
        </p:nvSpPr>
        <p:spPr>
          <a:xfrm>
            <a:off x="542880" y="1724040"/>
            <a:ext cx="380520" cy="380520"/>
          </a:xfrm>
          <a:custGeom>
            <a:avLst/>
            <a:gdLst>
              <a:gd name="textAreaLeft" fmla="*/ 0 w 380520"/>
              <a:gd name="textAreaRight" fmla="*/ 380880 w 380520"/>
              <a:gd name="textAreaTop" fmla="*/ 0 h 380520"/>
              <a:gd name="textAreaBottom" fmla="*/ 380880 h 380520"/>
            </a:gdLst>
            <a:ahLst/>
            <a:rect l="textAreaLeft" t="textAreaTop" r="textAreaRight" b="textAreaBottom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Shape 5"/>
          <p:cNvSpPr/>
          <p:nvPr/>
        </p:nvSpPr>
        <p:spPr>
          <a:xfrm>
            <a:off x="650160" y="1819440"/>
            <a:ext cx="166320" cy="190080"/>
          </a:xfrm>
          <a:custGeom>
            <a:avLst/>
            <a:gdLst>
              <a:gd name="textAreaLeft" fmla="*/ 0 w 166320"/>
              <a:gd name="textAreaRight" fmla="*/ 166680 w 166320"/>
              <a:gd name="textAreaTop" fmla="*/ 0 h 190080"/>
              <a:gd name="textAreaBottom" fmla="*/ 190440 h 190080"/>
            </a:gdLst>
            <a:ahLst/>
            <a:rect l="textAreaLeft" t="textAreaTop" r="textAreaRight" b="textAreaBottom"/>
            <a:pathLst>
              <a:path w="166688" h="190500">
                <a:moveTo>
                  <a:pt x="95250" y="40667"/>
                </a:moveTo>
                <a:lnTo>
                  <a:pt x="95250" y="119063"/>
                </a:lnTo>
                <a:cubicBezTo>
                  <a:pt x="95250" y="125648"/>
                  <a:pt x="89929" y="130969"/>
                  <a:pt x="83344" y="130969"/>
                </a:cubicBezTo>
                <a:cubicBezTo>
                  <a:pt x="76758" y="130969"/>
                  <a:pt x="71438" y="125648"/>
                  <a:pt x="71438" y="119063"/>
                </a:cubicBezTo>
                <a:lnTo>
                  <a:pt x="71438" y="40667"/>
                </a:lnTo>
                <a:lnTo>
                  <a:pt x="56034" y="56071"/>
                </a:lnTo>
                <a:cubicBezTo>
                  <a:pt x="51383" y="60722"/>
                  <a:pt x="43830" y="60722"/>
                  <a:pt x="39179" y="56071"/>
                </a:cubicBezTo>
                <a:cubicBezTo>
                  <a:pt x="34528" y="51420"/>
                  <a:pt x="34528" y="43867"/>
                  <a:pt x="39179" y="39216"/>
                </a:cubicBezTo>
                <a:lnTo>
                  <a:pt x="74898" y="3497"/>
                </a:lnTo>
                <a:cubicBezTo>
                  <a:pt x="79549" y="-1153"/>
                  <a:pt x="87102" y="-1153"/>
                  <a:pt x="91753" y="3497"/>
                </a:cubicBezTo>
                <a:lnTo>
                  <a:pt x="127471" y="39216"/>
                </a:lnTo>
                <a:cubicBezTo>
                  <a:pt x="132122" y="43867"/>
                  <a:pt x="132122" y="51420"/>
                  <a:pt x="127471" y="56071"/>
                </a:cubicBezTo>
                <a:cubicBezTo>
                  <a:pt x="122820" y="60722"/>
                  <a:pt x="115267" y="60722"/>
                  <a:pt x="110617" y="56071"/>
                </a:cubicBezTo>
                <a:lnTo>
                  <a:pt x="95250" y="40667"/>
                </a:lnTo>
                <a:close/>
                <a:moveTo>
                  <a:pt x="83344" y="148828"/>
                </a:moveTo>
                <a:cubicBezTo>
                  <a:pt x="99789" y="148828"/>
                  <a:pt x="113109" y="135508"/>
                  <a:pt x="113109" y="119063"/>
                </a:cubicBezTo>
                <a:lnTo>
                  <a:pt x="142875" y="119063"/>
                </a:lnTo>
                <a:cubicBezTo>
                  <a:pt x="156009" y="119063"/>
                  <a:pt x="166688" y="129741"/>
                  <a:pt x="166688" y="14287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42875"/>
                </a:lnTo>
                <a:cubicBezTo>
                  <a:pt x="0" y="129741"/>
                  <a:pt x="10678" y="119063"/>
                  <a:pt x="23812" y="119063"/>
                </a:cubicBezTo>
                <a:lnTo>
                  <a:pt x="53578" y="119063"/>
                </a:lnTo>
                <a:cubicBezTo>
                  <a:pt x="53578" y="135508"/>
                  <a:pt x="66898" y="148828"/>
                  <a:pt x="83344" y="148828"/>
                </a:cubicBezTo>
                <a:close/>
                <a:moveTo>
                  <a:pt x="136922" y="157758"/>
                </a:moveTo>
                <a:cubicBezTo>
                  <a:pt x="141850" y="157758"/>
                  <a:pt x="145852" y="153757"/>
                  <a:pt x="145852" y="148828"/>
                </a:cubicBezTo>
                <a:cubicBezTo>
                  <a:pt x="145852" y="143900"/>
                  <a:pt x="141850" y="139898"/>
                  <a:pt x="136922" y="139898"/>
                </a:cubicBezTo>
                <a:cubicBezTo>
                  <a:pt x="131993" y="139898"/>
                  <a:pt x="127992" y="143900"/>
                  <a:pt x="127992" y="148828"/>
                </a:cubicBezTo>
                <a:cubicBezTo>
                  <a:pt x="127992" y="153757"/>
                  <a:pt x="131993" y="157758"/>
                  <a:pt x="136922" y="157758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6"/>
          <p:cNvSpPr/>
          <p:nvPr/>
        </p:nvSpPr>
        <p:spPr>
          <a:xfrm>
            <a:off x="1038240" y="1781280"/>
            <a:ext cx="21427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4db6ac"/>
                </a:solidFill>
                <a:latin typeface="Liter"/>
                <a:ea typeface="Liter"/>
              </a:rPr>
              <a:t>Loading &amp; Orchestration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Shape 7"/>
          <p:cNvSpPr/>
          <p:nvPr/>
        </p:nvSpPr>
        <p:spPr>
          <a:xfrm>
            <a:off x="561960" y="2257560"/>
            <a:ext cx="151920" cy="151920"/>
          </a:xfrm>
          <a:custGeom>
            <a:avLst/>
            <a:gdLst>
              <a:gd name="textAreaLeft" fmla="*/ 0 w 151920"/>
              <a:gd name="textAreaRight" fmla="*/ 152280 w 15192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52400" h="152400">
                <a:moveTo>
                  <a:pt x="85725" y="9525"/>
                </a:moveTo>
                <a:cubicBezTo>
                  <a:pt x="85725" y="14794"/>
                  <a:pt x="89981" y="19050"/>
                  <a:pt x="95250" y="19050"/>
                </a:cubicBezTo>
                <a:lnTo>
                  <a:pt x="107156" y="19050"/>
                </a:lnTo>
                <a:cubicBezTo>
                  <a:pt x="111115" y="19050"/>
                  <a:pt x="114300" y="22235"/>
                  <a:pt x="114300" y="26194"/>
                </a:cubicBezTo>
                <a:cubicBezTo>
                  <a:pt x="114300" y="30153"/>
                  <a:pt x="111115" y="33338"/>
                  <a:pt x="107156" y="33338"/>
                </a:cubicBezTo>
                <a:lnTo>
                  <a:pt x="9525" y="33338"/>
                </a:lnTo>
                <a:cubicBezTo>
                  <a:pt x="4256" y="33338"/>
                  <a:pt x="0" y="37594"/>
                  <a:pt x="0" y="42863"/>
                </a:cubicBezTo>
                <a:cubicBezTo>
                  <a:pt x="0" y="48131"/>
                  <a:pt x="4256" y="52388"/>
                  <a:pt x="9525" y="52388"/>
                </a:cubicBezTo>
                <a:lnTo>
                  <a:pt x="107156" y="52388"/>
                </a:lnTo>
                <a:cubicBezTo>
                  <a:pt x="121622" y="52388"/>
                  <a:pt x="133350" y="40660"/>
                  <a:pt x="133350" y="26194"/>
                </a:cubicBezTo>
                <a:cubicBezTo>
                  <a:pt x="133350" y="11728"/>
                  <a:pt x="121622" y="0"/>
                  <a:pt x="107156" y="0"/>
                </a:cubicBezTo>
                <a:lnTo>
                  <a:pt x="95250" y="0"/>
                </a:lnTo>
                <a:cubicBezTo>
                  <a:pt x="89981" y="0"/>
                  <a:pt x="85725" y="4256"/>
                  <a:pt x="85725" y="9525"/>
                </a:cubicBezTo>
                <a:close/>
                <a:moveTo>
                  <a:pt x="104775" y="114300"/>
                </a:moveTo>
                <a:cubicBezTo>
                  <a:pt x="104775" y="119569"/>
                  <a:pt x="109031" y="123825"/>
                  <a:pt x="114300" y="123825"/>
                </a:cubicBezTo>
                <a:lnTo>
                  <a:pt x="123825" y="123825"/>
                </a:lnTo>
                <a:cubicBezTo>
                  <a:pt x="139601" y="123825"/>
                  <a:pt x="152400" y="111026"/>
                  <a:pt x="152400" y="95250"/>
                </a:cubicBezTo>
                <a:cubicBezTo>
                  <a:pt x="152400" y="79474"/>
                  <a:pt x="139601" y="66675"/>
                  <a:pt x="123825" y="66675"/>
                </a:cubicBez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114300" y="104775"/>
                </a:lnTo>
                <a:cubicBezTo>
                  <a:pt x="109031" y="104775"/>
                  <a:pt x="104775" y="109031"/>
                  <a:pt x="104775" y="114300"/>
                </a:cubicBezTo>
                <a:close/>
                <a:moveTo>
                  <a:pt x="38100" y="152400"/>
                </a:moveTo>
                <a:lnTo>
                  <a:pt x="50006" y="152400"/>
                </a:lnTo>
                <a:cubicBezTo>
                  <a:pt x="64472" y="152400"/>
                  <a:pt x="76200" y="140672"/>
                  <a:pt x="76200" y="126206"/>
                </a:cubicBezTo>
                <a:cubicBezTo>
                  <a:pt x="76200" y="111740"/>
                  <a:pt x="64472" y="100013"/>
                  <a:pt x="50006" y="100013"/>
                </a:cubicBezTo>
                <a:lnTo>
                  <a:pt x="9525" y="100013"/>
                </a:lnTo>
                <a:cubicBezTo>
                  <a:pt x="4256" y="100013"/>
                  <a:pt x="0" y="104269"/>
                  <a:pt x="0" y="109537"/>
                </a:cubicBezTo>
                <a:cubicBezTo>
                  <a:pt x="0" y="114806"/>
                  <a:pt x="4256" y="119062"/>
                  <a:pt x="9525" y="119062"/>
                </a:cubicBezTo>
                <a:lnTo>
                  <a:pt x="50006" y="119062"/>
                </a:lnTo>
                <a:cubicBezTo>
                  <a:pt x="53965" y="119062"/>
                  <a:pt x="57150" y="122247"/>
                  <a:pt x="57150" y="126206"/>
                </a:cubicBezTo>
                <a:cubicBezTo>
                  <a:pt x="57150" y="130165"/>
                  <a:pt x="53965" y="133350"/>
                  <a:pt x="50006" y="133350"/>
                </a:cubicBezTo>
                <a:lnTo>
                  <a:pt x="38100" y="133350"/>
                </a:lnTo>
                <a:cubicBezTo>
                  <a:pt x="32831" y="133350"/>
                  <a:pt x="28575" y="137606"/>
                  <a:pt x="28575" y="142875"/>
                </a:cubicBezTo>
                <a:cubicBezTo>
                  <a:pt x="28575" y="148144"/>
                  <a:pt x="32831" y="152400"/>
                  <a:pt x="38100" y="152400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8"/>
          <p:cNvSpPr/>
          <p:nvPr/>
        </p:nvSpPr>
        <p:spPr>
          <a:xfrm>
            <a:off x="809640" y="2219400"/>
            <a:ext cx="415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Apache Airflow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9"/>
          <p:cNvSpPr/>
          <p:nvPr/>
        </p:nvSpPr>
        <p:spPr>
          <a:xfrm>
            <a:off x="809640" y="2448000"/>
            <a:ext cx="5362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Industry-standard workflow orchestration with DAG-based scheduling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Shape 10"/>
          <p:cNvSpPr/>
          <p:nvPr/>
        </p:nvSpPr>
        <p:spPr>
          <a:xfrm>
            <a:off x="561960" y="2752560"/>
            <a:ext cx="151920" cy="151920"/>
          </a:xfrm>
          <a:custGeom>
            <a:avLst/>
            <a:gdLst>
              <a:gd name="textAreaLeft" fmla="*/ 0 w 151920"/>
              <a:gd name="textAreaRight" fmla="*/ 152280 w 15192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52400" h="152400">
                <a:moveTo>
                  <a:pt x="0" y="28575"/>
                </a:moveTo>
                <a:cubicBezTo>
                  <a:pt x="0" y="23306"/>
                  <a:pt x="4256" y="19050"/>
                  <a:pt x="9525" y="19050"/>
                </a:cubicBezTo>
                <a:lnTo>
                  <a:pt x="123825" y="19050"/>
                </a:lnTo>
                <a:cubicBezTo>
                  <a:pt x="129094" y="19050"/>
                  <a:pt x="133350" y="23306"/>
                  <a:pt x="133350" y="28575"/>
                </a:cubicBezTo>
                <a:cubicBezTo>
                  <a:pt x="133350" y="33844"/>
                  <a:pt x="129094" y="38100"/>
                  <a:pt x="123825" y="38100"/>
                </a:cubicBezTo>
                <a:lnTo>
                  <a:pt x="9525" y="38100"/>
                </a:lnTo>
                <a:cubicBezTo>
                  <a:pt x="4256" y="38100"/>
                  <a:pt x="0" y="33844"/>
                  <a:pt x="0" y="28575"/>
                </a:cubicBezTo>
                <a:close/>
                <a:moveTo>
                  <a:pt x="19050" y="76200"/>
                </a:moveTo>
                <a:cubicBezTo>
                  <a:pt x="19050" y="70931"/>
                  <a:pt x="23306" y="66675"/>
                  <a:pt x="28575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28575" y="85725"/>
                </a:lnTo>
                <a:cubicBezTo>
                  <a:pt x="23306" y="85725"/>
                  <a:pt x="19050" y="81469"/>
                  <a:pt x="19050" y="76200"/>
                </a:cubicBezTo>
                <a:close/>
                <a:moveTo>
                  <a:pt x="133350" y="123825"/>
                </a:moveTo>
                <a:cubicBezTo>
                  <a:pt x="133350" y="129094"/>
                  <a:pt x="129094" y="133350"/>
                  <a:pt x="123825" y="133350"/>
                </a:cubicBezTo>
                <a:lnTo>
                  <a:pt x="9525" y="133350"/>
                </a:lnTo>
                <a:cubicBezTo>
                  <a:pt x="4256" y="133350"/>
                  <a:pt x="0" y="129094"/>
                  <a:pt x="0" y="123825"/>
                </a:cubicBezTo>
                <a:cubicBezTo>
                  <a:pt x="0" y="118556"/>
                  <a:pt x="4256" y="114300"/>
                  <a:pt x="9525" y="114300"/>
                </a:cubicBezTo>
                <a:lnTo>
                  <a:pt x="123825" y="114300"/>
                </a:lnTo>
                <a:cubicBezTo>
                  <a:pt x="129094" y="114300"/>
                  <a:pt x="133350" y="118556"/>
                  <a:pt x="133350" y="123825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11"/>
          <p:cNvSpPr/>
          <p:nvPr/>
        </p:nvSpPr>
        <p:spPr>
          <a:xfrm>
            <a:off x="809640" y="2714760"/>
            <a:ext cx="3580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Apache Kafka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12"/>
          <p:cNvSpPr/>
          <p:nvPr/>
        </p:nvSpPr>
        <p:spPr>
          <a:xfrm>
            <a:off x="809640" y="2943360"/>
            <a:ext cx="51339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Real-time streaming platform for event-driven data pipelines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13"/>
          <p:cNvSpPr/>
          <p:nvPr/>
        </p:nvSpPr>
        <p:spPr>
          <a:xfrm>
            <a:off x="561960" y="3247920"/>
            <a:ext cx="151920" cy="151920"/>
          </a:xfrm>
          <a:custGeom>
            <a:avLst/>
            <a:gdLst>
              <a:gd name="textAreaLeft" fmla="*/ 0 w 151920"/>
              <a:gd name="textAreaRight" fmla="*/ 152280 w 15192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52400" h="152400">
                <a:moveTo>
                  <a:pt x="85785" y="0"/>
                </a:moveTo>
                <a:cubicBezTo>
                  <a:pt x="85785" y="-5269"/>
                  <a:pt x="81528" y="-9525"/>
                  <a:pt x="76260" y="-9525"/>
                </a:cubicBezTo>
                <a:cubicBezTo>
                  <a:pt x="70991" y="-9525"/>
                  <a:pt x="66735" y="-5269"/>
                  <a:pt x="66735" y="0"/>
                </a:cubicBezTo>
                <a:lnTo>
                  <a:pt x="66735" y="18484"/>
                </a:lnTo>
                <a:lnTo>
                  <a:pt x="62270" y="14020"/>
                </a:lnTo>
                <a:cubicBezTo>
                  <a:pt x="59472" y="11222"/>
                  <a:pt x="54947" y="11222"/>
                  <a:pt x="52179" y="14020"/>
                </a:cubicBezTo>
                <a:cubicBezTo>
                  <a:pt x="49411" y="16818"/>
                  <a:pt x="49381" y="21342"/>
                  <a:pt x="52179" y="24110"/>
                </a:cubicBezTo>
                <a:lnTo>
                  <a:pt x="66764" y="38695"/>
                </a:lnTo>
                <a:lnTo>
                  <a:pt x="66764" y="59710"/>
                </a:lnTo>
                <a:lnTo>
                  <a:pt x="48548" y="49203"/>
                </a:lnTo>
                <a:lnTo>
                  <a:pt x="43220" y="29289"/>
                </a:lnTo>
                <a:cubicBezTo>
                  <a:pt x="42208" y="25479"/>
                  <a:pt x="38279" y="23217"/>
                  <a:pt x="34469" y="24229"/>
                </a:cubicBezTo>
                <a:cubicBezTo>
                  <a:pt x="30659" y="25241"/>
                  <a:pt x="28367" y="29170"/>
                  <a:pt x="29379" y="32980"/>
                </a:cubicBezTo>
                <a:lnTo>
                  <a:pt x="31016" y="39082"/>
                </a:lnTo>
                <a:lnTo>
                  <a:pt x="15032" y="29855"/>
                </a:lnTo>
                <a:cubicBezTo>
                  <a:pt x="10478" y="27236"/>
                  <a:pt x="4643" y="28783"/>
                  <a:pt x="2024" y="33338"/>
                </a:cubicBezTo>
                <a:cubicBezTo>
                  <a:pt x="-595" y="37892"/>
                  <a:pt x="952" y="43726"/>
                  <a:pt x="5507" y="46345"/>
                </a:cubicBezTo>
                <a:lnTo>
                  <a:pt x="21491" y="55572"/>
                </a:lnTo>
                <a:lnTo>
                  <a:pt x="15389" y="57210"/>
                </a:lnTo>
                <a:cubicBezTo>
                  <a:pt x="11579" y="58222"/>
                  <a:pt x="9317" y="62151"/>
                  <a:pt x="10329" y="65961"/>
                </a:cubicBezTo>
                <a:cubicBezTo>
                  <a:pt x="11341" y="69771"/>
                  <a:pt x="15270" y="72033"/>
                  <a:pt x="19080" y="71021"/>
                </a:cubicBezTo>
                <a:lnTo>
                  <a:pt x="38993" y="65693"/>
                </a:lnTo>
                <a:lnTo>
                  <a:pt x="57210" y="76200"/>
                </a:lnTo>
                <a:lnTo>
                  <a:pt x="38993" y="86707"/>
                </a:lnTo>
                <a:lnTo>
                  <a:pt x="19080" y="81379"/>
                </a:lnTo>
                <a:cubicBezTo>
                  <a:pt x="15270" y="80367"/>
                  <a:pt x="11341" y="82629"/>
                  <a:pt x="10329" y="86439"/>
                </a:cubicBezTo>
                <a:cubicBezTo>
                  <a:pt x="9317" y="90249"/>
                  <a:pt x="11579" y="94178"/>
                  <a:pt x="15389" y="95190"/>
                </a:cubicBezTo>
                <a:lnTo>
                  <a:pt x="21491" y="96828"/>
                </a:lnTo>
                <a:lnTo>
                  <a:pt x="5507" y="106055"/>
                </a:lnTo>
                <a:cubicBezTo>
                  <a:pt x="953" y="108674"/>
                  <a:pt x="-595" y="114508"/>
                  <a:pt x="2024" y="119062"/>
                </a:cubicBezTo>
                <a:cubicBezTo>
                  <a:pt x="4643" y="123617"/>
                  <a:pt x="10477" y="125194"/>
                  <a:pt x="15032" y="122545"/>
                </a:cubicBezTo>
                <a:lnTo>
                  <a:pt x="31016" y="113318"/>
                </a:lnTo>
                <a:lnTo>
                  <a:pt x="29379" y="119420"/>
                </a:lnTo>
                <a:cubicBezTo>
                  <a:pt x="28367" y="123230"/>
                  <a:pt x="30629" y="127159"/>
                  <a:pt x="34439" y="128171"/>
                </a:cubicBezTo>
                <a:cubicBezTo>
                  <a:pt x="38249" y="129183"/>
                  <a:pt x="42178" y="126921"/>
                  <a:pt x="43190" y="123111"/>
                </a:cubicBezTo>
                <a:lnTo>
                  <a:pt x="48518" y="103197"/>
                </a:lnTo>
                <a:lnTo>
                  <a:pt x="66735" y="92690"/>
                </a:lnTo>
                <a:lnTo>
                  <a:pt x="66735" y="113705"/>
                </a:lnTo>
                <a:lnTo>
                  <a:pt x="52149" y="128290"/>
                </a:lnTo>
                <a:cubicBezTo>
                  <a:pt x="49351" y="131088"/>
                  <a:pt x="49351" y="135612"/>
                  <a:pt x="52149" y="138380"/>
                </a:cubicBezTo>
                <a:cubicBezTo>
                  <a:pt x="54947" y="141149"/>
                  <a:pt x="59472" y="141178"/>
                  <a:pt x="62240" y="138380"/>
                </a:cubicBezTo>
                <a:lnTo>
                  <a:pt x="66705" y="133916"/>
                </a:lnTo>
                <a:lnTo>
                  <a:pt x="66705" y="152400"/>
                </a:lnTo>
                <a:cubicBezTo>
                  <a:pt x="66705" y="157669"/>
                  <a:pt x="70961" y="161925"/>
                  <a:pt x="76230" y="161925"/>
                </a:cubicBezTo>
                <a:cubicBezTo>
                  <a:pt x="81498" y="161925"/>
                  <a:pt x="85755" y="157669"/>
                  <a:pt x="85755" y="152400"/>
                </a:cubicBezTo>
                <a:lnTo>
                  <a:pt x="85755" y="133916"/>
                </a:lnTo>
                <a:lnTo>
                  <a:pt x="90220" y="138380"/>
                </a:lnTo>
                <a:cubicBezTo>
                  <a:pt x="93018" y="141178"/>
                  <a:pt x="97542" y="141178"/>
                  <a:pt x="100310" y="138380"/>
                </a:cubicBezTo>
                <a:cubicBezTo>
                  <a:pt x="103078" y="135582"/>
                  <a:pt x="103108" y="131058"/>
                  <a:pt x="100310" y="128290"/>
                </a:cubicBezTo>
                <a:lnTo>
                  <a:pt x="85725" y="113705"/>
                </a:lnTo>
                <a:lnTo>
                  <a:pt x="85725" y="92690"/>
                </a:lnTo>
                <a:lnTo>
                  <a:pt x="103942" y="103197"/>
                </a:lnTo>
                <a:lnTo>
                  <a:pt x="109270" y="123111"/>
                </a:lnTo>
                <a:cubicBezTo>
                  <a:pt x="110282" y="126921"/>
                  <a:pt x="114211" y="129183"/>
                  <a:pt x="118021" y="128171"/>
                </a:cubicBezTo>
                <a:cubicBezTo>
                  <a:pt x="121831" y="127159"/>
                  <a:pt x="124093" y="123230"/>
                  <a:pt x="123081" y="119420"/>
                </a:cubicBezTo>
                <a:lnTo>
                  <a:pt x="121444" y="113318"/>
                </a:lnTo>
                <a:lnTo>
                  <a:pt x="137428" y="122545"/>
                </a:lnTo>
                <a:cubicBezTo>
                  <a:pt x="141982" y="125164"/>
                  <a:pt x="147816" y="123617"/>
                  <a:pt x="150435" y="119062"/>
                </a:cubicBezTo>
                <a:cubicBezTo>
                  <a:pt x="153055" y="114508"/>
                  <a:pt x="151507" y="108674"/>
                  <a:pt x="146953" y="106055"/>
                </a:cubicBezTo>
                <a:lnTo>
                  <a:pt x="130969" y="96828"/>
                </a:lnTo>
                <a:lnTo>
                  <a:pt x="137071" y="95190"/>
                </a:lnTo>
                <a:cubicBezTo>
                  <a:pt x="140881" y="94178"/>
                  <a:pt x="143143" y="90249"/>
                  <a:pt x="142131" y="86439"/>
                </a:cubicBezTo>
                <a:cubicBezTo>
                  <a:pt x="141119" y="82629"/>
                  <a:pt x="137190" y="80367"/>
                  <a:pt x="133380" y="81379"/>
                </a:cubicBezTo>
                <a:lnTo>
                  <a:pt x="113467" y="86707"/>
                </a:lnTo>
                <a:lnTo>
                  <a:pt x="95250" y="76200"/>
                </a:lnTo>
                <a:lnTo>
                  <a:pt x="113467" y="65693"/>
                </a:lnTo>
                <a:lnTo>
                  <a:pt x="133380" y="71021"/>
                </a:lnTo>
                <a:cubicBezTo>
                  <a:pt x="137190" y="72033"/>
                  <a:pt x="141119" y="69771"/>
                  <a:pt x="142131" y="65961"/>
                </a:cubicBezTo>
                <a:cubicBezTo>
                  <a:pt x="143143" y="62151"/>
                  <a:pt x="140881" y="58222"/>
                  <a:pt x="137071" y="57210"/>
                </a:cubicBezTo>
                <a:lnTo>
                  <a:pt x="130969" y="55572"/>
                </a:lnTo>
                <a:lnTo>
                  <a:pt x="146953" y="46345"/>
                </a:lnTo>
                <a:cubicBezTo>
                  <a:pt x="151507" y="43726"/>
                  <a:pt x="153085" y="37892"/>
                  <a:pt x="150435" y="33337"/>
                </a:cubicBezTo>
                <a:cubicBezTo>
                  <a:pt x="147786" y="28783"/>
                  <a:pt x="141982" y="27236"/>
                  <a:pt x="137428" y="29855"/>
                </a:cubicBezTo>
                <a:lnTo>
                  <a:pt x="121444" y="39082"/>
                </a:lnTo>
                <a:lnTo>
                  <a:pt x="123081" y="32980"/>
                </a:lnTo>
                <a:cubicBezTo>
                  <a:pt x="124093" y="29170"/>
                  <a:pt x="121831" y="25241"/>
                  <a:pt x="118021" y="24229"/>
                </a:cubicBezTo>
                <a:cubicBezTo>
                  <a:pt x="114211" y="23217"/>
                  <a:pt x="110282" y="25479"/>
                  <a:pt x="109270" y="29289"/>
                </a:cubicBezTo>
                <a:lnTo>
                  <a:pt x="103942" y="49203"/>
                </a:lnTo>
                <a:lnTo>
                  <a:pt x="85725" y="59710"/>
                </a:lnTo>
                <a:lnTo>
                  <a:pt x="85725" y="38695"/>
                </a:lnTo>
                <a:lnTo>
                  <a:pt x="100310" y="24110"/>
                </a:lnTo>
                <a:cubicBezTo>
                  <a:pt x="103108" y="21312"/>
                  <a:pt x="103108" y="16788"/>
                  <a:pt x="100310" y="14020"/>
                </a:cubicBezTo>
                <a:cubicBezTo>
                  <a:pt x="97512" y="11251"/>
                  <a:pt x="92988" y="11222"/>
                  <a:pt x="90220" y="14020"/>
                </a:cubicBezTo>
                <a:lnTo>
                  <a:pt x="85755" y="18484"/>
                </a:lnTo>
                <a:lnTo>
                  <a:pt x="85755" y="0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14"/>
          <p:cNvSpPr/>
          <p:nvPr/>
        </p:nvSpPr>
        <p:spPr>
          <a:xfrm>
            <a:off x="809640" y="3209760"/>
            <a:ext cx="3933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Prefect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15"/>
          <p:cNvSpPr/>
          <p:nvPr/>
        </p:nvSpPr>
        <p:spPr>
          <a:xfrm>
            <a:off x="809640" y="3438360"/>
            <a:ext cx="520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Modern Python-native orchestration with dynamic DAG generation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Shape 16"/>
          <p:cNvSpPr/>
          <p:nvPr/>
        </p:nvSpPr>
        <p:spPr>
          <a:xfrm>
            <a:off x="561960" y="3743280"/>
            <a:ext cx="151920" cy="151920"/>
          </a:xfrm>
          <a:custGeom>
            <a:avLst/>
            <a:gdLst>
              <a:gd name="textAreaLeft" fmla="*/ 0 w 151920"/>
              <a:gd name="textAreaRight" fmla="*/ 152280 w 15192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52400" h="152400">
                <a:moveTo>
                  <a:pt x="66764" y="-744"/>
                </a:moveTo>
                <a:cubicBezTo>
                  <a:pt x="72658" y="-4137"/>
                  <a:pt x="79921" y="-4137"/>
                  <a:pt x="85814" y="-744"/>
                </a:cubicBezTo>
                <a:lnTo>
                  <a:pt x="138172" y="29468"/>
                </a:lnTo>
                <a:cubicBezTo>
                  <a:pt x="144066" y="32861"/>
                  <a:pt x="147697" y="39172"/>
                  <a:pt x="147697" y="45958"/>
                </a:cubicBezTo>
                <a:lnTo>
                  <a:pt x="147697" y="106382"/>
                </a:lnTo>
                <a:cubicBezTo>
                  <a:pt x="147697" y="113199"/>
                  <a:pt x="144066" y="119479"/>
                  <a:pt x="138172" y="122872"/>
                </a:cubicBezTo>
                <a:lnTo>
                  <a:pt x="85814" y="153144"/>
                </a:lnTo>
                <a:cubicBezTo>
                  <a:pt x="79921" y="156537"/>
                  <a:pt x="72658" y="156537"/>
                  <a:pt x="66764" y="153144"/>
                </a:cubicBezTo>
                <a:lnTo>
                  <a:pt x="14436" y="122932"/>
                </a:lnTo>
                <a:cubicBezTo>
                  <a:pt x="8543" y="119539"/>
                  <a:pt x="4911" y="113228"/>
                  <a:pt x="4911" y="106442"/>
                </a:cubicBezTo>
                <a:lnTo>
                  <a:pt x="4911" y="46018"/>
                </a:lnTo>
                <a:cubicBezTo>
                  <a:pt x="4911" y="39201"/>
                  <a:pt x="8543" y="32921"/>
                  <a:pt x="14436" y="29528"/>
                </a:cubicBezTo>
                <a:lnTo>
                  <a:pt x="66764" y="-744"/>
                </a:lnTo>
                <a:close/>
                <a:moveTo>
                  <a:pt x="128617" y="106412"/>
                </a:moveTo>
                <a:lnTo>
                  <a:pt x="128617" y="56971"/>
                </a:lnTo>
                <a:lnTo>
                  <a:pt x="85814" y="81677"/>
                </a:lnTo>
                <a:lnTo>
                  <a:pt x="85814" y="131118"/>
                </a:lnTo>
                <a:lnTo>
                  <a:pt x="128617" y="106412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17"/>
          <p:cNvSpPr/>
          <p:nvPr/>
        </p:nvSpPr>
        <p:spPr>
          <a:xfrm>
            <a:off x="809640" y="3705120"/>
            <a:ext cx="3428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Dagster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18"/>
          <p:cNvSpPr/>
          <p:nvPr/>
        </p:nvSpPr>
        <p:spPr>
          <a:xfrm>
            <a:off x="809640" y="3933720"/>
            <a:ext cx="49053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Data-aware orchestration with asset-based dependencies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19"/>
          <p:cNvSpPr/>
          <p:nvPr/>
        </p:nvSpPr>
        <p:spPr>
          <a:xfrm>
            <a:off x="385920" y="4748040"/>
            <a:ext cx="5628960" cy="1723680"/>
          </a:xfrm>
          <a:custGeom>
            <a:avLst/>
            <a:gdLst>
              <a:gd name="textAreaLeft" fmla="*/ 0 w 5628960"/>
              <a:gd name="textAreaRight" fmla="*/ 5629320 w 5628960"/>
              <a:gd name="textAreaTop" fmla="*/ 0 h 1723680"/>
              <a:gd name="textAreaBottom" fmla="*/ 1724040 h 1723680"/>
            </a:gdLst>
            <a:ahLst/>
            <a:rect l="textAreaLeft" t="textAreaTop" r="textAreaRight" b="textAreaBottom"/>
            <a:pathLst>
              <a:path w="5629275" h="1724025">
                <a:moveTo>
                  <a:pt x="114303" y="0"/>
                </a:moveTo>
                <a:lnTo>
                  <a:pt x="5514972" y="0"/>
                </a:lnTo>
                <a:cubicBezTo>
                  <a:pt x="5578058" y="0"/>
                  <a:pt x="5629275" y="51217"/>
                  <a:pt x="5629275" y="114303"/>
                </a:cubicBezTo>
                <a:lnTo>
                  <a:pt x="5629275" y="1609722"/>
                </a:lnTo>
                <a:cubicBezTo>
                  <a:pt x="5629275" y="1672808"/>
                  <a:pt x="5578058" y="1724025"/>
                  <a:pt x="5514972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20"/>
          <p:cNvSpPr/>
          <p:nvPr/>
        </p:nvSpPr>
        <p:spPr>
          <a:xfrm>
            <a:off x="542880" y="4905360"/>
            <a:ext cx="380520" cy="380520"/>
          </a:xfrm>
          <a:custGeom>
            <a:avLst/>
            <a:gdLst>
              <a:gd name="textAreaLeft" fmla="*/ 0 w 380520"/>
              <a:gd name="textAreaRight" fmla="*/ 380880 w 380520"/>
              <a:gd name="textAreaTop" fmla="*/ 0 h 380520"/>
              <a:gd name="textAreaBottom" fmla="*/ 380880 h 380520"/>
            </a:gdLst>
            <a:ahLst/>
            <a:rect l="textAreaLeft" t="textAreaTop" r="textAreaRight" b="textAreaBottom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21"/>
          <p:cNvSpPr/>
          <p:nvPr/>
        </p:nvSpPr>
        <p:spPr>
          <a:xfrm>
            <a:off x="626400" y="5000760"/>
            <a:ext cx="213840" cy="190080"/>
          </a:xfrm>
          <a:custGeom>
            <a:avLst/>
            <a:gdLst>
              <a:gd name="textAreaLeft" fmla="*/ 0 w 213840"/>
              <a:gd name="textAreaRight" fmla="*/ 214200 w 213840"/>
              <a:gd name="textAreaTop" fmla="*/ 0 h 190080"/>
              <a:gd name="textAreaBottom" fmla="*/ 190440 h 190080"/>
            </a:gdLst>
            <a:ahLst/>
            <a:rect l="textAreaLeft" t="textAreaTop" r="textAreaRight" b="textAreaBottom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22"/>
          <p:cNvSpPr/>
          <p:nvPr/>
        </p:nvSpPr>
        <p:spPr>
          <a:xfrm>
            <a:off x="1038240" y="4962600"/>
            <a:ext cx="1828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607d8b"/>
                </a:solidFill>
                <a:latin typeface="Liter"/>
                <a:ea typeface="Liter"/>
              </a:rPr>
              <a:t>Monitoring &amp; Quality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23"/>
          <p:cNvSpPr/>
          <p:nvPr/>
        </p:nvSpPr>
        <p:spPr>
          <a:xfrm>
            <a:off x="581040" y="5438880"/>
            <a:ext cx="114120" cy="151920"/>
          </a:xfrm>
          <a:custGeom>
            <a:avLst/>
            <a:gdLst>
              <a:gd name="textAreaLeft" fmla="*/ 0 w 114120"/>
              <a:gd name="textAreaRight" fmla="*/ 114480 w 11412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24"/>
          <p:cNvSpPr/>
          <p:nvPr/>
        </p:nvSpPr>
        <p:spPr>
          <a:xfrm>
            <a:off x="809640" y="540072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Great Expectations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25"/>
          <p:cNvSpPr/>
          <p:nvPr/>
        </p:nvSpPr>
        <p:spPr>
          <a:xfrm>
            <a:off x="809640" y="5629320"/>
            <a:ext cx="5367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Data validation and testing framework with automated documentation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Shape 26"/>
          <p:cNvSpPr/>
          <p:nvPr/>
        </p:nvSpPr>
        <p:spPr>
          <a:xfrm>
            <a:off x="561960" y="5934240"/>
            <a:ext cx="151920" cy="151920"/>
          </a:xfrm>
          <a:custGeom>
            <a:avLst/>
            <a:gdLst>
              <a:gd name="textAreaLeft" fmla="*/ 0 w 151920"/>
              <a:gd name="textAreaRight" fmla="*/ 152280 w 15192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27"/>
          <p:cNvSpPr/>
          <p:nvPr/>
        </p:nvSpPr>
        <p:spPr>
          <a:xfrm>
            <a:off x="809640" y="5896080"/>
            <a:ext cx="4123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Monte Carlo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28"/>
          <p:cNvSpPr/>
          <p:nvPr/>
        </p:nvSpPr>
        <p:spPr>
          <a:xfrm>
            <a:off x="809640" y="6124680"/>
            <a:ext cx="520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Data observability platform for anomaly detection and lineage tracking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29"/>
          <p:cNvSpPr/>
          <p:nvPr/>
        </p:nvSpPr>
        <p:spPr>
          <a:xfrm>
            <a:off x="6176880" y="1566720"/>
            <a:ext cx="5628960" cy="3247560"/>
          </a:xfrm>
          <a:custGeom>
            <a:avLst/>
            <a:gdLst>
              <a:gd name="textAreaLeft" fmla="*/ 0 w 5628960"/>
              <a:gd name="textAreaRight" fmla="*/ 5629320 w 5628960"/>
              <a:gd name="textAreaTop" fmla="*/ 0 h 3247560"/>
              <a:gd name="textAreaBottom" fmla="*/ 3247920 h 3247560"/>
            </a:gdLst>
            <a:ahLst/>
            <a:rect l="textAreaLeft" t="textAreaTop" r="textAreaRight" b="textAreaBottom"/>
            <a:pathLst>
              <a:path w="5629275" h="3248025">
                <a:moveTo>
                  <a:pt x="114298" y="0"/>
                </a:moveTo>
                <a:lnTo>
                  <a:pt x="5514977" y="0"/>
                </a:lnTo>
                <a:cubicBezTo>
                  <a:pt x="5578060" y="0"/>
                  <a:pt x="5629275" y="51215"/>
                  <a:pt x="5629275" y="114298"/>
                </a:cubicBezTo>
                <a:lnTo>
                  <a:pt x="5629275" y="3133727"/>
                </a:lnTo>
                <a:cubicBezTo>
                  <a:pt x="5629275" y="3196810"/>
                  <a:pt x="5578060" y="3248025"/>
                  <a:pt x="5514977" y="3248025"/>
                </a:cubicBezTo>
                <a:lnTo>
                  <a:pt x="114298" y="3248025"/>
                </a:lnTo>
                <a:cubicBezTo>
                  <a:pt x="51215" y="3248025"/>
                  <a:pt x="0" y="3196810"/>
                  <a:pt x="0" y="3133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12700">
            <a:solidFill>
              <a:srgbClr val="ff8a65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30"/>
          <p:cNvSpPr/>
          <p:nvPr/>
        </p:nvSpPr>
        <p:spPr>
          <a:xfrm>
            <a:off x="6334200" y="1724040"/>
            <a:ext cx="380520" cy="380520"/>
          </a:xfrm>
          <a:custGeom>
            <a:avLst/>
            <a:gdLst>
              <a:gd name="textAreaLeft" fmla="*/ 0 w 380520"/>
              <a:gd name="textAreaRight" fmla="*/ 380880 w 380520"/>
              <a:gd name="textAreaTop" fmla="*/ 0 h 380520"/>
              <a:gd name="textAreaBottom" fmla="*/ 380880 h 380520"/>
            </a:gdLst>
            <a:ahLst/>
            <a:rect l="textAreaLeft" t="textAreaTop" r="textAreaRight" b="textAreaBottom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31"/>
          <p:cNvSpPr/>
          <p:nvPr/>
        </p:nvSpPr>
        <p:spPr>
          <a:xfrm>
            <a:off x="6417360" y="1819440"/>
            <a:ext cx="213840" cy="190080"/>
          </a:xfrm>
          <a:custGeom>
            <a:avLst/>
            <a:gdLst>
              <a:gd name="textAreaLeft" fmla="*/ 0 w 213840"/>
              <a:gd name="textAreaRight" fmla="*/ 214200 w 213840"/>
              <a:gd name="textAreaTop" fmla="*/ 0 h 190080"/>
              <a:gd name="textAreaBottom" fmla="*/ 190440 h 190080"/>
            </a:gdLst>
            <a:ahLst/>
            <a:rect l="textAreaLeft" t="textAreaTop" r="textAreaRight" b="textAreaBottom"/>
            <a:pathLst>
              <a:path w="214313" h="190500">
                <a:moveTo>
                  <a:pt x="0" y="52871"/>
                </a:moveTo>
                <a:lnTo>
                  <a:pt x="0" y="178594"/>
                </a:lnTo>
                <a:cubicBezTo>
                  <a:pt x="0" y="185179"/>
                  <a:pt x="5321" y="190500"/>
                  <a:pt x="11906" y="190500"/>
                </a:cubicBezTo>
                <a:cubicBezTo>
                  <a:pt x="18492" y="190500"/>
                  <a:pt x="23812" y="185179"/>
                  <a:pt x="23812" y="178594"/>
                </a:cubicBezTo>
                <a:lnTo>
                  <a:pt x="23812" y="89297"/>
                </a:lnTo>
                <a:cubicBezTo>
                  <a:pt x="23812" y="82711"/>
                  <a:pt x="29133" y="77391"/>
                  <a:pt x="35719" y="77391"/>
                </a:cubicBezTo>
                <a:lnTo>
                  <a:pt x="178594" y="77391"/>
                </a:lnTo>
                <a:cubicBezTo>
                  <a:pt x="185179" y="77391"/>
                  <a:pt x="190500" y="82711"/>
                  <a:pt x="190500" y="89297"/>
                </a:cubicBezTo>
                <a:lnTo>
                  <a:pt x="190500" y="178594"/>
                </a:lnTo>
                <a:cubicBezTo>
                  <a:pt x="190500" y="185179"/>
                  <a:pt x="195821" y="190500"/>
                  <a:pt x="202406" y="190500"/>
                </a:cubicBezTo>
                <a:cubicBezTo>
                  <a:pt x="208992" y="190500"/>
                  <a:pt x="214313" y="185179"/>
                  <a:pt x="214313" y="178594"/>
                </a:cubicBezTo>
                <a:lnTo>
                  <a:pt x="214313" y="52871"/>
                </a:lnTo>
                <a:cubicBezTo>
                  <a:pt x="214313" y="42639"/>
                  <a:pt x="207764" y="33524"/>
                  <a:pt x="198016" y="30287"/>
                </a:cubicBezTo>
                <a:lnTo>
                  <a:pt x="112812" y="1898"/>
                </a:lnTo>
                <a:cubicBezTo>
                  <a:pt x="109128" y="670"/>
                  <a:pt x="105184" y="670"/>
                  <a:pt x="101501" y="1898"/>
                </a:cubicBezTo>
                <a:lnTo>
                  <a:pt x="16297" y="30287"/>
                </a:lnTo>
                <a:cubicBezTo>
                  <a:pt x="6548" y="33524"/>
                  <a:pt x="0" y="42639"/>
                  <a:pt x="0" y="52871"/>
                </a:cubicBezTo>
                <a:close/>
                <a:moveTo>
                  <a:pt x="172641" y="95250"/>
                </a:moveTo>
                <a:lnTo>
                  <a:pt x="41672" y="95250"/>
                </a:lnTo>
                <a:lnTo>
                  <a:pt x="41672" y="119063"/>
                </a:lnTo>
                <a:lnTo>
                  <a:pt x="172641" y="119063"/>
                </a:lnTo>
                <a:lnTo>
                  <a:pt x="172641" y="95250"/>
                </a:lnTo>
                <a:close/>
                <a:moveTo>
                  <a:pt x="41672" y="154781"/>
                </a:moveTo>
                <a:lnTo>
                  <a:pt x="172641" y="154781"/>
                </a:lnTo>
                <a:lnTo>
                  <a:pt x="172641" y="130969"/>
                </a:lnTo>
                <a:lnTo>
                  <a:pt x="41672" y="130969"/>
                </a:lnTo>
                <a:lnTo>
                  <a:pt x="41672" y="154781"/>
                </a:lnTo>
                <a:close/>
                <a:moveTo>
                  <a:pt x="172641" y="166688"/>
                </a:moveTo>
                <a:lnTo>
                  <a:pt x="41672" y="166688"/>
                </a:lnTo>
                <a:lnTo>
                  <a:pt x="41672" y="190500"/>
                </a:lnTo>
                <a:lnTo>
                  <a:pt x="172641" y="190500"/>
                </a:lnTo>
                <a:lnTo>
                  <a:pt x="172641" y="166688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32"/>
          <p:cNvSpPr/>
          <p:nvPr/>
        </p:nvSpPr>
        <p:spPr>
          <a:xfrm>
            <a:off x="6829560" y="1781280"/>
            <a:ext cx="15807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ff8a65"/>
                </a:solidFill>
                <a:latin typeface="Liter"/>
                <a:ea typeface="Liter"/>
              </a:rPr>
              <a:t>Storage Solutions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33"/>
          <p:cNvSpPr/>
          <p:nvPr/>
        </p:nvSpPr>
        <p:spPr>
          <a:xfrm>
            <a:off x="6353280" y="2257560"/>
            <a:ext cx="151920" cy="151920"/>
          </a:xfrm>
          <a:custGeom>
            <a:avLst/>
            <a:gdLst>
              <a:gd name="textAreaLeft" fmla="*/ 0 w 151920"/>
              <a:gd name="textAreaRight" fmla="*/ 152280 w 15192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52400" h="152400">
                <a:moveTo>
                  <a:pt x="122218" y="36939"/>
                </a:moveTo>
                <a:cubicBezTo>
                  <a:pt x="128379" y="41583"/>
                  <a:pt x="135910" y="46077"/>
                  <a:pt x="144304" y="47208"/>
                </a:cubicBezTo>
                <a:cubicBezTo>
                  <a:pt x="148203" y="47744"/>
                  <a:pt x="151805" y="44976"/>
                  <a:pt x="152340" y="41077"/>
                </a:cubicBezTo>
                <a:cubicBezTo>
                  <a:pt x="152876" y="37177"/>
                  <a:pt x="150108" y="33576"/>
                  <a:pt x="146209" y="33040"/>
                </a:cubicBezTo>
                <a:cubicBezTo>
                  <a:pt x="141476" y="32415"/>
                  <a:pt x="136327" y="29676"/>
                  <a:pt x="130820" y="25539"/>
                </a:cubicBezTo>
                <a:cubicBezTo>
                  <a:pt x="119390" y="16907"/>
                  <a:pt x="103882" y="16907"/>
                  <a:pt x="92422" y="25539"/>
                </a:cubicBezTo>
                <a:cubicBezTo>
                  <a:pt x="85279" y="30926"/>
                  <a:pt x="80308" y="33367"/>
                  <a:pt x="76200" y="33367"/>
                </a:cubicBezTo>
                <a:cubicBezTo>
                  <a:pt x="72092" y="33367"/>
                  <a:pt x="67121" y="30926"/>
                  <a:pt x="59978" y="25539"/>
                </a:cubicBezTo>
                <a:cubicBezTo>
                  <a:pt x="48548" y="16907"/>
                  <a:pt x="33040" y="16907"/>
                  <a:pt x="21580" y="25539"/>
                </a:cubicBezTo>
                <a:cubicBezTo>
                  <a:pt x="16073" y="29676"/>
                  <a:pt x="10924" y="32415"/>
                  <a:pt x="6191" y="33040"/>
                </a:cubicBezTo>
                <a:cubicBezTo>
                  <a:pt x="2292" y="33576"/>
                  <a:pt x="-476" y="37148"/>
                  <a:pt x="60" y="41077"/>
                </a:cubicBezTo>
                <a:cubicBezTo>
                  <a:pt x="595" y="45006"/>
                  <a:pt x="4167" y="47744"/>
                  <a:pt x="8096" y="47208"/>
                </a:cubicBezTo>
                <a:cubicBezTo>
                  <a:pt x="16490" y="46077"/>
                  <a:pt x="24051" y="41583"/>
                  <a:pt x="30182" y="36939"/>
                </a:cubicBezTo>
                <a:cubicBezTo>
                  <a:pt x="36522" y="32147"/>
                  <a:pt x="45035" y="32147"/>
                  <a:pt x="51375" y="36939"/>
                </a:cubicBezTo>
                <a:cubicBezTo>
                  <a:pt x="58579" y="42386"/>
                  <a:pt x="66943" y="47625"/>
                  <a:pt x="76200" y="47625"/>
                </a:cubicBezTo>
                <a:cubicBezTo>
                  <a:pt x="85457" y="47625"/>
                  <a:pt x="93791" y="42356"/>
                  <a:pt x="101025" y="36939"/>
                </a:cubicBezTo>
                <a:cubicBezTo>
                  <a:pt x="107365" y="32147"/>
                  <a:pt x="115878" y="32147"/>
                  <a:pt x="122218" y="36939"/>
                </a:cubicBezTo>
                <a:close/>
                <a:moveTo>
                  <a:pt x="122218" y="79802"/>
                </a:moveTo>
                <a:cubicBezTo>
                  <a:pt x="128379" y="84445"/>
                  <a:pt x="135910" y="88940"/>
                  <a:pt x="144304" y="90071"/>
                </a:cubicBezTo>
                <a:cubicBezTo>
                  <a:pt x="148203" y="90607"/>
                  <a:pt x="151805" y="87838"/>
                  <a:pt x="152340" y="83939"/>
                </a:cubicBezTo>
                <a:cubicBezTo>
                  <a:pt x="152876" y="80040"/>
                  <a:pt x="150108" y="76438"/>
                  <a:pt x="146209" y="75902"/>
                </a:cubicBezTo>
                <a:cubicBezTo>
                  <a:pt x="141476" y="75277"/>
                  <a:pt x="136327" y="72539"/>
                  <a:pt x="130820" y="68401"/>
                </a:cubicBezTo>
                <a:cubicBezTo>
                  <a:pt x="119390" y="59769"/>
                  <a:pt x="103882" y="59769"/>
                  <a:pt x="92422" y="68401"/>
                </a:cubicBezTo>
                <a:cubicBezTo>
                  <a:pt x="85279" y="73789"/>
                  <a:pt x="80308" y="76230"/>
                  <a:pt x="76200" y="76230"/>
                </a:cubicBezTo>
                <a:cubicBezTo>
                  <a:pt x="72092" y="76230"/>
                  <a:pt x="67121" y="73789"/>
                  <a:pt x="59978" y="68401"/>
                </a:cubicBezTo>
                <a:cubicBezTo>
                  <a:pt x="48548" y="59769"/>
                  <a:pt x="33040" y="59769"/>
                  <a:pt x="21580" y="68401"/>
                </a:cubicBezTo>
                <a:cubicBezTo>
                  <a:pt x="16073" y="72539"/>
                  <a:pt x="10924" y="75277"/>
                  <a:pt x="6191" y="75902"/>
                </a:cubicBezTo>
                <a:cubicBezTo>
                  <a:pt x="2292" y="76408"/>
                  <a:pt x="-476" y="80010"/>
                  <a:pt x="60" y="83939"/>
                </a:cubicBezTo>
                <a:cubicBezTo>
                  <a:pt x="595" y="87868"/>
                  <a:pt x="4167" y="90607"/>
                  <a:pt x="8096" y="90071"/>
                </a:cubicBezTo>
                <a:cubicBezTo>
                  <a:pt x="16490" y="88940"/>
                  <a:pt x="24051" y="84445"/>
                  <a:pt x="30182" y="79802"/>
                </a:cubicBezTo>
                <a:cubicBezTo>
                  <a:pt x="36522" y="75009"/>
                  <a:pt x="45035" y="75009"/>
                  <a:pt x="51375" y="79802"/>
                </a:cubicBezTo>
                <a:cubicBezTo>
                  <a:pt x="58579" y="85249"/>
                  <a:pt x="66943" y="90488"/>
                  <a:pt x="76200" y="90488"/>
                </a:cubicBezTo>
                <a:cubicBezTo>
                  <a:pt x="85457" y="90488"/>
                  <a:pt x="93791" y="85219"/>
                  <a:pt x="101025" y="79802"/>
                </a:cubicBezTo>
                <a:cubicBezTo>
                  <a:pt x="107365" y="75009"/>
                  <a:pt x="115878" y="75009"/>
                  <a:pt x="122218" y="79802"/>
                </a:cubicBezTo>
                <a:close/>
                <a:moveTo>
                  <a:pt x="101025" y="122664"/>
                </a:moveTo>
                <a:cubicBezTo>
                  <a:pt x="107365" y="117872"/>
                  <a:pt x="115878" y="117872"/>
                  <a:pt x="122218" y="122664"/>
                </a:cubicBezTo>
                <a:cubicBezTo>
                  <a:pt x="128379" y="127308"/>
                  <a:pt x="135910" y="131802"/>
                  <a:pt x="144304" y="132933"/>
                </a:cubicBezTo>
                <a:cubicBezTo>
                  <a:pt x="148203" y="133469"/>
                  <a:pt x="151805" y="130701"/>
                  <a:pt x="152340" y="126802"/>
                </a:cubicBezTo>
                <a:cubicBezTo>
                  <a:pt x="152876" y="122902"/>
                  <a:pt x="150108" y="119301"/>
                  <a:pt x="146209" y="118765"/>
                </a:cubicBezTo>
                <a:cubicBezTo>
                  <a:pt x="141476" y="118140"/>
                  <a:pt x="136327" y="115401"/>
                  <a:pt x="130820" y="111264"/>
                </a:cubicBezTo>
                <a:cubicBezTo>
                  <a:pt x="119390" y="102632"/>
                  <a:pt x="103882" y="102632"/>
                  <a:pt x="92422" y="111264"/>
                </a:cubicBezTo>
                <a:cubicBezTo>
                  <a:pt x="85279" y="116651"/>
                  <a:pt x="80308" y="119092"/>
                  <a:pt x="76200" y="119092"/>
                </a:cubicBezTo>
                <a:cubicBezTo>
                  <a:pt x="72092" y="119092"/>
                  <a:pt x="67121" y="116651"/>
                  <a:pt x="59978" y="111264"/>
                </a:cubicBezTo>
                <a:cubicBezTo>
                  <a:pt x="48548" y="102632"/>
                  <a:pt x="33040" y="102632"/>
                  <a:pt x="21580" y="111264"/>
                </a:cubicBezTo>
                <a:cubicBezTo>
                  <a:pt x="16073" y="115401"/>
                  <a:pt x="10924" y="118140"/>
                  <a:pt x="6191" y="118765"/>
                </a:cubicBezTo>
                <a:cubicBezTo>
                  <a:pt x="2292" y="119301"/>
                  <a:pt x="-476" y="122873"/>
                  <a:pt x="60" y="126802"/>
                </a:cubicBezTo>
                <a:cubicBezTo>
                  <a:pt x="595" y="130731"/>
                  <a:pt x="4167" y="133469"/>
                  <a:pt x="8096" y="132933"/>
                </a:cubicBezTo>
                <a:cubicBezTo>
                  <a:pt x="16490" y="131802"/>
                  <a:pt x="24051" y="127308"/>
                  <a:pt x="30182" y="122664"/>
                </a:cubicBezTo>
                <a:cubicBezTo>
                  <a:pt x="36522" y="117872"/>
                  <a:pt x="45035" y="117872"/>
                  <a:pt x="51375" y="122664"/>
                </a:cubicBezTo>
                <a:cubicBezTo>
                  <a:pt x="58579" y="128111"/>
                  <a:pt x="66943" y="133350"/>
                  <a:pt x="76200" y="133350"/>
                </a:cubicBezTo>
                <a:cubicBezTo>
                  <a:pt x="85457" y="133350"/>
                  <a:pt x="93791" y="128081"/>
                  <a:pt x="101025" y="122664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34"/>
          <p:cNvSpPr/>
          <p:nvPr/>
        </p:nvSpPr>
        <p:spPr>
          <a:xfrm>
            <a:off x="6581880" y="2219400"/>
            <a:ext cx="5143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Data Lakes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35"/>
          <p:cNvSpPr/>
          <p:nvPr/>
        </p:nvSpPr>
        <p:spPr>
          <a:xfrm>
            <a:off x="6562800" y="2523960"/>
            <a:ext cx="2504880" cy="495000"/>
          </a:xfrm>
          <a:custGeom>
            <a:avLst/>
            <a:gdLst>
              <a:gd name="textAreaLeft" fmla="*/ 0 w 2504880"/>
              <a:gd name="textAreaRight" fmla="*/ 2505240 w 2504880"/>
              <a:gd name="textAreaTop" fmla="*/ 0 h 495000"/>
              <a:gd name="textAreaBottom" fmla="*/ 495360 h 495000"/>
            </a:gdLst>
            <a:ahLst/>
            <a:rect l="textAreaLeft" t="textAreaTop" r="textAreaRight" b="textAreaBottom"/>
            <a:pathLst>
              <a:path w="2505075" h="495300">
                <a:moveTo>
                  <a:pt x="38098" y="0"/>
                </a:moveTo>
                <a:lnTo>
                  <a:pt x="2466977" y="0"/>
                </a:lnTo>
                <a:cubicBezTo>
                  <a:pt x="2488018" y="0"/>
                  <a:pt x="2505075" y="17057"/>
                  <a:pt x="2505075" y="38098"/>
                </a:cubicBezTo>
                <a:lnTo>
                  <a:pt x="2505075" y="457202"/>
                </a:lnTo>
                <a:cubicBezTo>
                  <a:pt x="2505075" y="478243"/>
                  <a:pt x="2488018" y="495300"/>
                  <a:pt x="24669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36"/>
          <p:cNvSpPr/>
          <p:nvPr/>
        </p:nvSpPr>
        <p:spPr>
          <a:xfrm>
            <a:off x="6638760" y="2600280"/>
            <a:ext cx="24188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AWS S3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37"/>
          <p:cNvSpPr/>
          <p:nvPr/>
        </p:nvSpPr>
        <p:spPr>
          <a:xfrm>
            <a:off x="6638760" y="2790720"/>
            <a:ext cx="2409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0" lang="en-US" sz="90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Object storage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Shape 38"/>
          <p:cNvSpPr/>
          <p:nvPr/>
        </p:nvSpPr>
        <p:spPr>
          <a:xfrm>
            <a:off x="9144000" y="2523960"/>
            <a:ext cx="2504880" cy="495000"/>
          </a:xfrm>
          <a:custGeom>
            <a:avLst/>
            <a:gdLst>
              <a:gd name="textAreaLeft" fmla="*/ 0 w 2504880"/>
              <a:gd name="textAreaRight" fmla="*/ 2505240 w 2504880"/>
              <a:gd name="textAreaTop" fmla="*/ 0 h 495000"/>
              <a:gd name="textAreaBottom" fmla="*/ 495360 h 495000"/>
            </a:gdLst>
            <a:ahLst/>
            <a:rect l="textAreaLeft" t="textAreaTop" r="textAreaRight" b="textAreaBottom"/>
            <a:pathLst>
              <a:path w="2505075" h="495300">
                <a:moveTo>
                  <a:pt x="38098" y="0"/>
                </a:moveTo>
                <a:lnTo>
                  <a:pt x="2466977" y="0"/>
                </a:lnTo>
                <a:cubicBezTo>
                  <a:pt x="2488018" y="0"/>
                  <a:pt x="2505075" y="17057"/>
                  <a:pt x="2505075" y="38098"/>
                </a:cubicBezTo>
                <a:lnTo>
                  <a:pt x="2505075" y="457202"/>
                </a:lnTo>
                <a:cubicBezTo>
                  <a:pt x="2505075" y="478243"/>
                  <a:pt x="2488018" y="495300"/>
                  <a:pt x="24669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39"/>
          <p:cNvSpPr/>
          <p:nvPr/>
        </p:nvSpPr>
        <p:spPr>
          <a:xfrm>
            <a:off x="9220320" y="2600280"/>
            <a:ext cx="24188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Azure ADLS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40"/>
          <p:cNvSpPr/>
          <p:nvPr/>
        </p:nvSpPr>
        <p:spPr>
          <a:xfrm>
            <a:off x="9220320" y="2790720"/>
            <a:ext cx="2409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0" lang="en-US" sz="90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Hadoop-compatible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41"/>
          <p:cNvSpPr/>
          <p:nvPr/>
        </p:nvSpPr>
        <p:spPr>
          <a:xfrm>
            <a:off x="6562800" y="3095640"/>
            <a:ext cx="2504880" cy="495000"/>
          </a:xfrm>
          <a:custGeom>
            <a:avLst/>
            <a:gdLst>
              <a:gd name="textAreaLeft" fmla="*/ 0 w 2504880"/>
              <a:gd name="textAreaRight" fmla="*/ 2505240 w 2504880"/>
              <a:gd name="textAreaTop" fmla="*/ 0 h 495000"/>
              <a:gd name="textAreaBottom" fmla="*/ 495360 h 495000"/>
            </a:gdLst>
            <a:ahLst/>
            <a:rect l="textAreaLeft" t="textAreaTop" r="textAreaRight" b="textAreaBottom"/>
            <a:pathLst>
              <a:path w="2505075" h="495300">
                <a:moveTo>
                  <a:pt x="38098" y="0"/>
                </a:moveTo>
                <a:lnTo>
                  <a:pt x="2466977" y="0"/>
                </a:lnTo>
                <a:cubicBezTo>
                  <a:pt x="2488018" y="0"/>
                  <a:pt x="2505075" y="17057"/>
                  <a:pt x="2505075" y="38098"/>
                </a:cubicBezTo>
                <a:lnTo>
                  <a:pt x="2505075" y="457202"/>
                </a:lnTo>
                <a:cubicBezTo>
                  <a:pt x="2505075" y="478243"/>
                  <a:pt x="2488018" y="495300"/>
                  <a:pt x="24669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42"/>
          <p:cNvSpPr/>
          <p:nvPr/>
        </p:nvSpPr>
        <p:spPr>
          <a:xfrm>
            <a:off x="6638760" y="3171960"/>
            <a:ext cx="24188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GCS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43"/>
          <p:cNvSpPr/>
          <p:nvPr/>
        </p:nvSpPr>
        <p:spPr>
          <a:xfrm>
            <a:off x="6638760" y="3362400"/>
            <a:ext cx="2409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0" lang="en-US" sz="90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Unified storage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44"/>
          <p:cNvSpPr/>
          <p:nvPr/>
        </p:nvSpPr>
        <p:spPr>
          <a:xfrm>
            <a:off x="9144000" y="3095640"/>
            <a:ext cx="2504880" cy="495000"/>
          </a:xfrm>
          <a:custGeom>
            <a:avLst/>
            <a:gdLst>
              <a:gd name="textAreaLeft" fmla="*/ 0 w 2504880"/>
              <a:gd name="textAreaRight" fmla="*/ 2505240 w 2504880"/>
              <a:gd name="textAreaTop" fmla="*/ 0 h 495000"/>
              <a:gd name="textAreaBottom" fmla="*/ 495360 h 495000"/>
            </a:gdLst>
            <a:ahLst/>
            <a:rect l="textAreaLeft" t="textAreaTop" r="textAreaRight" b="textAreaBottom"/>
            <a:pathLst>
              <a:path w="2505075" h="495300">
                <a:moveTo>
                  <a:pt x="38098" y="0"/>
                </a:moveTo>
                <a:lnTo>
                  <a:pt x="2466977" y="0"/>
                </a:lnTo>
                <a:cubicBezTo>
                  <a:pt x="2488018" y="0"/>
                  <a:pt x="2505075" y="17057"/>
                  <a:pt x="2505075" y="38098"/>
                </a:cubicBezTo>
                <a:lnTo>
                  <a:pt x="2505075" y="457202"/>
                </a:lnTo>
                <a:cubicBezTo>
                  <a:pt x="2505075" y="478243"/>
                  <a:pt x="2488018" y="495300"/>
                  <a:pt x="246697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45"/>
          <p:cNvSpPr/>
          <p:nvPr/>
        </p:nvSpPr>
        <p:spPr>
          <a:xfrm>
            <a:off x="9220320" y="3171960"/>
            <a:ext cx="24188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5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Delta Lake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46"/>
          <p:cNvSpPr/>
          <p:nvPr/>
        </p:nvSpPr>
        <p:spPr>
          <a:xfrm>
            <a:off x="9220320" y="3362400"/>
            <a:ext cx="2409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0" lang="en-US" sz="90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ACID transactions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Shape 47"/>
          <p:cNvSpPr/>
          <p:nvPr/>
        </p:nvSpPr>
        <p:spPr>
          <a:xfrm>
            <a:off x="6362640" y="3743280"/>
            <a:ext cx="132840" cy="151920"/>
          </a:xfrm>
          <a:custGeom>
            <a:avLst/>
            <a:gdLst>
              <a:gd name="textAreaLeft" fmla="*/ 0 w 132840"/>
              <a:gd name="textAreaRight" fmla="*/ 133200 w 13284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48"/>
          <p:cNvSpPr/>
          <p:nvPr/>
        </p:nvSpPr>
        <p:spPr>
          <a:xfrm>
            <a:off x="6581880" y="3705120"/>
            <a:ext cx="5143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Data Warehouses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Shape 49"/>
          <p:cNvSpPr/>
          <p:nvPr/>
        </p:nvSpPr>
        <p:spPr>
          <a:xfrm>
            <a:off x="6562800" y="4010040"/>
            <a:ext cx="1647360" cy="495000"/>
          </a:xfrm>
          <a:custGeom>
            <a:avLst/>
            <a:gdLst>
              <a:gd name="textAreaLeft" fmla="*/ 0 w 1647360"/>
              <a:gd name="textAreaRight" fmla="*/ 1647720 w 1647360"/>
              <a:gd name="textAreaTop" fmla="*/ 0 h 495000"/>
              <a:gd name="textAreaBottom" fmla="*/ 495360 h 495000"/>
            </a:gdLst>
            <a:ahLst/>
            <a:rect l="textAreaLeft" t="textAreaTop" r="textAreaRight" b="textAreaBottom"/>
            <a:pathLst>
              <a:path w="1647825" h="495300">
                <a:moveTo>
                  <a:pt x="38098" y="0"/>
                </a:moveTo>
                <a:lnTo>
                  <a:pt x="1609727" y="0"/>
                </a:lnTo>
                <a:cubicBezTo>
                  <a:pt x="1630768" y="0"/>
                  <a:pt x="1647825" y="17057"/>
                  <a:pt x="1647825" y="38098"/>
                </a:cubicBezTo>
                <a:lnTo>
                  <a:pt x="1647825" y="457202"/>
                </a:lnTo>
                <a:cubicBezTo>
                  <a:pt x="1647825" y="478243"/>
                  <a:pt x="1630768" y="495300"/>
                  <a:pt x="160972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50"/>
          <p:cNvSpPr/>
          <p:nvPr/>
        </p:nvSpPr>
        <p:spPr>
          <a:xfrm>
            <a:off x="6605640" y="4086360"/>
            <a:ext cx="15616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05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Snowflake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51"/>
          <p:cNvSpPr/>
          <p:nvPr/>
        </p:nvSpPr>
        <p:spPr>
          <a:xfrm>
            <a:off x="6610320" y="427680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</a:pPr>
            <a:r>
              <a:rPr b="0" lang="en-US" sz="90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Cloud-native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Shape 52"/>
          <p:cNvSpPr/>
          <p:nvPr/>
        </p:nvSpPr>
        <p:spPr>
          <a:xfrm>
            <a:off x="8283600" y="4010040"/>
            <a:ext cx="1647360" cy="495000"/>
          </a:xfrm>
          <a:custGeom>
            <a:avLst/>
            <a:gdLst>
              <a:gd name="textAreaLeft" fmla="*/ 0 w 1647360"/>
              <a:gd name="textAreaRight" fmla="*/ 1647720 w 1647360"/>
              <a:gd name="textAreaTop" fmla="*/ 0 h 495000"/>
              <a:gd name="textAreaBottom" fmla="*/ 495360 h 495000"/>
            </a:gdLst>
            <a:ahLst/>
            <a:rect l="textAreaLeft" t="textAreaTop" r="textAreaRight" b="textAreaBottom"/>
            <a:pathLst>
              <a:path w="1647825" h="495300">
                <a:moveTo>
                  <a:pt x="38098" y="0"/>
                </a:moveTo>
                <a:lnTo>
                  <a:pt x="1609727" y="0"/>
                </a:lnTo>
                <a:cubicBezTo>
                  <a:pt x="1630768" y="0"/>
                  <a:pt x="1647825" y="17057"/>
                  <a:pt x="1647825" y="38098"/>
                </a:cubicBezTo>
                <a:lnTo>
                  <a:pt x="1647825" y="457202"/>
                </a:lnTo>
                <a:cubicBezTo>
                  <a:pt x="1647825" y="478243"/>
                  <a:pt x="1630768" y="495300"/>
                  <a:pt x="160972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53"/>
          <p:cNvSpPr/>
          <p:nvPr/>
        </p:nvSpPr>
        <p:spPr>
          <a:xfrm>
            <a:off x="8326440" y="4086360"/>
            <a:ext cx="15616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05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BigQuery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54"/>
          <p:cNvSpPr/>
          <p:nvPr/>
        </p:nvSpPr>
        <p:spPr>
          <a:xfrm>
            <a:off x="8331120" y="427680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</a:pPr>
            <a:r>
              <a:rPr b="0" lang="en-US" sz="90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Serverless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Shape 55"/>
          <p:cNvSpPr/>
          <p:nvPr/>
        </p:nvSpPr>
        <p:spPr>
          <a:xfrm>
            <a:off x="10004400" y="4010040"/>
            <a:ext cx="1647360" cy="495000"/>
          </a:xfrm>
          <a:custGeom>
            <a:avLst/>
            <a:gdLst>
              <a:gd name="textAreaLeft" fmla="*/ 0 w 1647360"/>
              <a:gd name="textAreaRight" fmla="*/ 1647720 w 1647360"/>
              <a:gd name="textAreaTop" fmla="*/ 0 h 495000"/>
              <a:gd name="textAreaBottom" fmla="*/ 495360 h 495000"/>
            </a:gdLst>
            <a:ahLst/>
            <a:rect l="textAreaLeft" t="textAreaTop" r="textAreaRight" b="textAreaBottom"/>
            <a:pathLst>
              <a:path w="1647825" h="495300">
                <a:moveTo>
                  <a:pt x="38098" y="0"/>
                </a:moveTo>
                <a:lnTo>
                  <a:pt x="1609727" y="0"/>
                </a:lnTo>
                <a:cubicBezTo>
                  <a:pt x="1630768" y="0"/>
                  <a:pt x="1647825" y="17057"/>
                  <a:pt x="1647825" y="38098"/>
                </a:cubicBezTo>
                <a:lnTo>
                  <a:pt x="1647825" y="457202"/>
                </a:lnTo>
                <a:cubicBezTo>
                  <a:pt x="1647825" y="478243"/>
                  <a:pt x="1630768" y="495300"/>
                  <a:pt x="1609727" y="495300"/>
                </a:cubicBezTo>
                <a:lnTo>
                  <a:pt x="38098" y="495300"/>
                </a:lnTo>
                <a:cubicBezTo>
                  <a:pt x="17057" y="495300"/>
                  <a:pt x="0" y="478243"/>
                  <a:pt x="0" y="4572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56"/>
          <p:cNvSpPr/>
          <p:nvPr/>
        </p:nvSpPr>
        <p:spPr>
          <a:xfrm>
            <a:off x="10047240" y="4086360"/>
            <a:ext cx="15616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05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Redshift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57"/>
          <p:cNvSpPr/>
          <p:nvPr/>
        </p:nvSpPr>
        <p:spPr>
          <a:xfrm>
            <a:off x="10051920" y="4276800"/>
            <a:ext cx="15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</a:pPr>
            <a:r>
              <a:rPr b="0" lang="en-US" sz="90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AWS native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Shape 58"/>
          <p:cNvSpPr/>
          <p:nvPr/>
        </p:nvSpPr>
        <p:spPr>
          <a:xfrm>
            <a:off x="6176880" y="4976640"/>
            <a:ext cx="5628960" cy="1495080"/>
          </a:xfrm>
          <a:custGeom>
            <a:avLst/>
            <a:gdLst>
              <a:gd name="textAreaLeft" fmla="*/ 0 w 5628960"/>
              <a:gd name="textAreaRight" fmla="*/ 5629320 w 5628960"/>
              <a:gd name="textAreaTop" fmla="*/ 0 h 1495080"/>
              <a:gd name="textAreaBottom" fmla="*/ 1495440 h 1495080"/>
            </a:gdLst>
            <a:ahLst/>
            <a:rect l="textAreaLeft" t="textAreaTop" r="textAreaRight" b="textAreaBottom"/>
            <a:pathLst>
              <a:path w="5629275" h="1495425">
                <a:moveTo>
                  <a:pt x="114295" y="0"/>
                </a:moveTo>
                <a:lnTo>
                  <a:pt x="5514980" y="0"/>
                </a:lnTo>
                <a:cubicBezTo>
                  <a:pt x="5578103" y="0"/>
                  <a:pt x="5629275" y="51172"/>
                  <a:pt x="5629275" y="114295"/>
                </a:cubicBezTo>
                <a:lnTo>
                  <a:pt x="5629275" y="1381130"/>
                </a:lnTo>
                <a:cubicBezTo>
                  <a:pt x="5629275" y="1444253"/>
                  <a:pt x="5578103" y="1495425"/>
                  <a:pt x="5514980" y="1495425"/>
                </a:cubicBezTo>
                <a:lnTo>
                  <a:pt x="114295" y="1495425"/>
                </a:lnTo>
                <a:cubicBezTo>
                  <a:pt x="51172" y="1495425"/>
                  <a:pt x="0" y="1444253"/>
                  <a:pt x="0" y="13811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12700">
            <a:solidFill>
              <a:srgbClr val="4db6ac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Shape 59"/>
          <p:cNvSpPr/>
          <p:nvPr/>
        </p:nvSpPr>
        <p:spPr>
          <a:xfrm>
            <a:off x="6353280" y="5172120"/>
            <a:ext cx="151920" cy="151920"/>
          </a:xfrm>
          <a:custGeom>
            <a:avLst/>
            <a:gdLst>
              <a:gd name="textAreaLeft" fmla="*/ 0 w 151920"/>
              <a:gd name="textAreaRight" fmla="*/ 152280 w 15192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52400" h="152400">
                <a:moveTo>
                  <a:pt x="57150" y="19050"/>
                </a:moveTo>
                <a:cubicBezTo>
                  <a:pt x="57150" y="13781"/>
                  <a:pt x="61406" y="9525"/>
                  <a:pt x="66675" y="9525"/>
                </a:cubicBezTo>
                <a:lnTo>
                  <a:pt x="85725" y="9525"/>
                </a:lnTo>
                <a:cubicBezTo>
                  <a:pt x="90994" y="9525"/>
                  <a:pt x="95250" y="13781"/>
                  <a:pt x="95250" y="19050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83344" y="47625"/>
                </a:lnTo>
                <a:lnTo>
                  <a:pt x="83344" y="66675"/>
                </a:lnTo>
                <a:lnTo>
                  <a:pt x="119062" y="66675"/>
                </a:lnTo>
                <a:cubicBezTo>
                  <a:pt x="130909" y="66675"/>
                  <a:pt x="140494" y="76260"/>
                  <a:pt x="140494" y="88106"/>
                </a:cubicBezTo>
                <a:lnTo>
                  <a:pt x="140494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23825" y="142875"/>
                </a:lnTo>
                <a:cubicBezTo>
                  <a:pt x="118556" y="142875"/>
                  <a:pt x="114300" y="138619"/>
                  <a:pt x="114300" y="133350"/>
                </a:cubicBezTo>
                <a:lnTo>
                  <a:pt x="114300" y="114300"/>
                </a:lnTo>
                <a:cubicBezTo>
                  <a:pt x="114300" y="109031"/>
                  <a:pt x="118556" y="104775"/>
                  <a:pt x="123825" y="104775"/>
                </a:cubicBezTo>
                <a:lnTo>
                  <a:pt x="126206" y="104775"/>
                </a:lnTo>
                <a:lnTo>
                  <a:pt x="126206" y="88106"/>
                </a:lnTo>
                <a:cubicBezTo>
                  <a:pt x="126206" y="84147"/>
                  <a:pt x="123021" y="80962"/>
                  <a:pt x="119062" y="80962"/>
                </a:cubicBezTo>
                <a:lnTo>
                  <a:pt x="83344" y="80962"/>
                </a:lnTo>
                <a:lnTo>
                  <a:pt x="83344" y="104775"/>
                </a:lnTo>
                <a:lnTo>
                  <a:pt x="85725" y="104775"/>
                </a:lnTo>
                <a:cubicBezTo>
                  <a:pt x="90994" y="104775"/>
                  <a:pt x="95250" y="109031"/>
                  <a:pt x="95250" y="114300"/>
                </a:cubicBezTo>
                <a:lnTo>
                  <a:pt x="95250" y="133350"/>
                </a:lnTo>
                <a:cubicBezTo>
                  <a:pt x="95250" y="138619"/>
                  <a:pt x="90994" y="142875"/>
                  <a:pt x="85725" y="142875"/>
                </a:cubicBezTo>
                <a:lnTo>
                  <a:pt x="66675" y="142875"/>
                </a:lnTo>
                <a:cubicBezTo>
                  <a:pt x="61406" y="142875"/>
                  <a:pt x="57150" y="138619"/>
                  <a:pt x="57150" y="133350"/>
                </a:cubicBezTo>
                <a:lnTo>
                  <a:pt x="57150" y="114300"/>
                </a:lnTo>
                <a:cubicBezTo>
                  <a:pt x="57150" y="109031"/>
                  <a:pt x="61406" y="104775"/>
                  <a:pt x="66675" y="104775"/>
                </a:cubicBezTo>
                <a:lnTo>
                  <a:pt x="69056" y="104775"/>
                </a:lnTo>
                <a:lnTo>
                  <a:pt x="69056" y="80962"/>
                </a:lnTo>
                <a:lnTo>
                  <a:pt x="33338" y="80962"/>
                </a:lnTo>
                <a:cubicBezTo>
                  <a:pt x="29379" y="80962"/>
                  <a:pt x="26194" y="84147"/>
                  <a:pt x="26194" y="88106"/>
                </a:cubicBezTo>
                <a:lnTo>
                  <a:pt x="26194" y="104775"/>
                </a:lnTo>
                <a:lnTo>
                  <a:pt x="28575" y="104775"/>
                </a:lnTo>
                <a:cubicBezTo>
                  <a:pt x="33844" y="104775"/>
                  <a:pt x="38100" y="109031"/>
                  <a:pt x="38100" y="114300"/>
                </a:cubicBezTo>
                <a:lnTo>
                  <a:pt x="38100" y="133350"/>
                </a:lnTo>
                <a:cubicBezTo>
                  <a:pt x="38100" y="138619"/>
                  <a:pt x="33844" y="142875"/>
                  <a:pt x="28575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14300"/>
                </a:lnTo>
                <a:cubicBezTo>
                  <a:pt x="0" y="109031"/>
                  <a:pt x="4256" y="104775"/>
                  <a:pt x="9525" y="104775"/>
                </a:cubicBezTo>
                <a:lnTo>
                  <a:pt x="11906" y="104775"/>
                </a:lnTo>
                <a:lnTo>
                  <a:pt x="11906" y="88106"/>
                </a:lnTo>
                <a:cubicBezTo>
                  <a:pt x="11906" y="76260"/>
                  <a:pt x="21491" y="66675"/>
                  <a:pt x="33338" y="66675"/>
                </a:cubicBezTo>
                <a:lnTo>
                  <a:pt x="69056" y="66675"/>
                </a:lnTo>
                <a:lnTo>
                  <a:pt x="69056" y="47625"/>
                </a:lnTo>
                <a:lnTo>
                  <a:pt x="66675" y="47625"/>
                </a:lnTo>
                <a:cubicBezTo>
                  <a:pt x="61406" y="47625"/>
                  <a:pt x="57150" y="43369"/>
                  <a:pt x="57150" y="38100"/>
                </a:cubicBezTo>
                <a:lnTo>
                  <a:pt x="57150" y="19050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60"/>
          <p:cNvSpPr/>
          <p:nvPr/>
        </p:nvSpPr>
        <p:spPr>
          <a:xfrm>
            <a:off x="6581880" y="5133960"/>
            <a:ext cx="5143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-1" strike="noStrike">
                <a:solidFill>
                  <a:srgbClr val="4db6ac"/>
                </a:solidFill>
                <a:latin typeface="Liter"/>
                <a:ea typeface="Liter"/>
              </a:rPr>
              <a:t>Architecture Integration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Shape 61"/>
          <p:cNvSpPr/>
          <p:nvPr/>
        </p:nvSpPr>
        <p:spPr>
          <a:xfrm>
            <a:off x="6650280" y="547704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62"/>
          <p:cNvSpPr/>
          <p:nvPr/>
        </p:nvSpPr>
        <p:spPr>
          <a:xfrm>
            <a:off x="6814440" y="5638680"/>
            <a:ext cx="132840" cy="132840"/>
          </a:xfrm>
          <a:custGeom>
            <a:avLst/>
            <a:gdLst>
              <a:gd name="textAreaLeft" fmla="*/ 0 w 132840"/>
              <a:gd name="textAreaRight" fmla="*/ 133200 w 132840"/>
              <a:gd name="textAreaTop" fmla="*/ 0 h 132840"/>
              <a:gd name="textAreaBottom" fmla="*/ 133200 h 132840"/>
            </a:gdLst>
            <a:ahLst/>
            <a:rect l="textAreaLeft" t="textAreaTop" r="textAreaRight" b="textAreaBottom"/>
            <a:pathLst>
              <a:path w="133350" h="133350">
                <a:moveTo>
                  <a:pt x="75009" y="8334"/>
                </a:moveTo>
                <a:cubicBezTo>
                  <a:pt x="75009" y="12944"/>
                  <a:pt x="78734" y="16669"/>
                  <a:pt x="83344" y="16669"/>
                </a:cubicBezTo>
                <a:lnTo>
                  <a:pt x="93762" y="16669"/>
                </a:lnTo>
                <a:cubicBezTo>
                  <a:pt x="97226" y="16669"/>
                  <a:pt x="100013" y="19456"/>
                  <a:pt x="100013" y="22920"/>
                </a:cubicBezTo>
                <a:cubicBezTo>
                  <a:pt x="100013" y="26384"/>
                  <a:pt x="97226" y="29170"/>
                  <a:pt x="93762" y="29170"/>
                </a:cubicBezTo>
                <a:lnTo>
                  <a:pt x="8334" y="29170"/>
                </a:lnTo>
                <a:cubicBezTo>
                  <a:pt x="3724" y="29170"/>
                  <a:pt x="0" y="32895"/>
                  <a:pt x="0" y="37505"/>
                </a:cubicBezTo>
                <a:cubicBezTo>
                  <a:pt x="0" y="42115"/>
                  <a:pt x="3724" y="45839"/>
                  <a:pt x="8334" y="45839"/>
                </a:cubicBezTo>
                <a:lnTo>
                  <a:pt x="93762" y="45839"/>
                </a:lnTo>
                <a:cubicBezTo>
                  <a:pt x="106420" y="45839"/>
                  <a:pt x="116681" y="35577"/>
                  <a:pt x="116681" y="22920"/>
                </a:cubicBezTo>
                <a:cubicBezTo>
                  <a:pt x="116681" y="10262"/>
                  <a:pt x="106420" y="0"/>
                  <a:pt x="93762" y="0"/>
                </a:cubicBezTo>
                <a:lnTo>
                  <a:pt x="83344" y="0"/>
                </a:lnTo>
                <a:cubicBezTo>
                  <a:pt x="78734" y="0"/>
                  <a:pt x="75009" y="3724"/>
                  <a:pt x="75009" y="8334"/>
                </a:cubicBezTo>
                <a:close/>
                <a:moveTo>
                  <a:pt x="91678" y="100013"/>
                </a:moveTo>
                <a:cubicBezTo>
                  <a:pt x="91678" y="104622"/>
                  <a:pt x="95403" y="108347"/>
                  <a:pt x="100013" y="108347"/>
                </a:cubicBezTo>
                <a:lnTo>
                  <a:pt x="108347" y="108347"/>
                </a:lnTo>
                <a:cubicBezTo>
                  <a:pt x="122151" y="108347"/>
                  <a:pt x="133350" y="97148"/>
                  <a:pt x="133350" y="83344"/>
                </a:cubicBezTo>
                <a:cubicBezTo>
                  <a:pt x="133350" y="69540"/>
                  <a:pt x="122151" y="58341"/>
                  <a:pt x="108347" y="58341"/>
                </a:cubicBez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100013" y="91678"/>
                </a:lnTo>
                <a:cubicBezTo>
                  <a:pt x="95403" y="91678"/>
                  <a:pt x="91678" y="95403"/>
                  <a:pt x="91678" y="100013"/>
                </a:cubicBezTo>
                <a:close/>
                <a:moveTo>
                  <a:pt x="33337" y="133350"/>
                </a:moveTo>
                <a:lnTo>
                  <a:pt x="43755" y="133350"/>
                </a:lnTo>
                <a:cubicBezTo>
                  <a:pt x="56413" y="133350"/>
                  <a:pt x="66675" y="123088"/>
                  <a:pt x="66675" y="110430"/>
                </a:cubicBezTo>
                <a:cubicBezTo>
                  <a:pt x="66675" y="97773"/>
                  <a:pt x="56413" y="87511"/>
                  <a:pt x="43755" y="87511"/>
                </a:cubicBezTo>
                <a:lnTo>
                  <a:pt x="8334" y="87511"/>
                </a:lnTo>
                <a:cubicBezTo>
                  <a:pt x="3724" y="87511"/>
                  <a:pt x="0" y="91235"/>
                  <a:pt x="0" y="95845"/>
                </a:cubicBezTo>
                <a:cubicBezTo>
                  <a:pt x="0" y="100455"/>
                  <a:pt x="3724" y="104180"/>
                  <a:pt x="8334" y="104180"/>
                </a:cubicBezTo>
                <a:lnTo>
                  <a:pt x="43755" y="104180"/>
                </a:lnTo>
                <a:cubicBezTo>
                  <a:pt x="47219" y="104180"/>
                  <a:pt x="50006" y="106966"/>
                  <a:pt x="50006" y="110430"/>
                </a:cubicBezTo>
                <a:cubicBezTo>
                  <a:pt x="50006" y="113894"/>
                  <a:pt x="47219" y="116681"/>
                  <a:pt x="43755" y="116681"/>
                </a:cubicBezTo>
                <a:lnTo>
                  <a:pt x="33337" y="116681"/>
                </a:lnTo>
                <a:cubicBezTo>
                  <a:pt x="28728" y="116681"/>
                  <a:pt x="25003" y="120406"/>
                  <a:pt x="25003" y="125016"/>
                </a:cubicBezTo>
                <a:cubicBezTo>
                  <a:pt x="25003" y="129626"/>
                  <a:pt x="28728" y="133350"/>
                  <a:pt x="33337" y="133350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63"/>
          <p:cNvSpPr/>
          <p:nvPr/>
        </p:nvSpPr>
        <p:spPr>
          <a:xfrm>
            <a:off x="6300720" y="5972040"/>
            <a:ext cx="11520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05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Airflow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64"/>
          <p:cNvSpPr/>
          <p:nvPr/>
        </p:nvSpPr>
        <p:spPr>
          <a:xfrm>
            <a:off x="6305400" y="6162840"/>
            <a:ext cx="1142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</a:pPr>
            <a:r>
              <a:rPr b="0" lang="en-US" sz="900" spc="-1" strike="noStrike">
                <a:solidFill>
                  <a:srgbClr val="eceff1">
                    <a:alpha val="60000"/>
                  </a:srgbClr>
                </a:solidFill>
                <a:latin typeface="Quattrocento Sans"/>
                <a:ea typeface="Quattrocento Sans"/>
              </a:rPr>
              <a:t>Orchestrate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65"/>
          <p:cNvSpPr/>
          <p:nvPr/>
        </p:nvSpPr>
        <p:spPr>
          <a:xfrm>
            <a:off x="7518960" y="5829480"/>
            <a:ext cx="132840" cy="132840"/>
          </a:xfrm>
          <a:custGeom>
            <a:avLst/>
            <a:gdLst>
              <a:gd name="textAreaLeft" fmla="*/ 0 w 132840"/>
              <a:gd name="textAreaRight" fmla="*/ 133200 w 132840"/>
              <a:gd name="textAreaTop" fmla="*/ 0 h 132840"/>
              <a:gd name="textAreaBottom" fmla="*/ 133200 h 132840"/>
            </a:gdLst>
            <a:ahLst/>
            <a:rect l="textAreaLeft" t="textAreaTop" r="textAreaRight" b="textAreaBottom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66"/>
          <p:cNvSpPr/>
          <p:nvPr/>
        </p:nvSpPr>
        <p:spPr>
          <a:xfrm>
            <a:off x="8058600" y="547704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67"/>
          <p:cNvSpPr/>
          <p:nvPr/>
        </p:nvSpPr>
        <p:spPr>
          <a:xfrm>
            <a:off x="8223120" y="5638680"/>
            <a:ext cx="132840" cy="132840"/>
          </a:xfrm>
          <a:custGeom>
            <a:avLst/>
            <a:gdLst>
              <a:gd name="textAreaLeft" fmla="*/ 0 w 132840"/>
              <a:gd name="textAreaRight" fmla="*/ 133200 w 132840"/>
              <a:gd name="textAreaTop" fmla="*/ 0 h 132840"/>
              <a:gd name="textAreaBottom" fmla="*/ 133200 h 132840"/>
            </a:gdLst>
            <a:ahLst/>
            <a:rect l="textAreaLeft" t="textAreaTop" r="textAreaRight" b="textAreaBottom"/>
            <a:pathLst>
              <a:path w="133350" h="133350">
                <a:moveTo>
                  <a:pt x="58419" y="-651"/>
                </a:moveTo>
                <a:cubicBezTo>
                  <a:pt x="63576" y="-3620"/>
                  <a:pt x="69931" y="-3620"/>
                  <a:pt x="75088" y="-651"/>
                </a:cubicBezTo>
                <a:lnTo>
                  <a:pt x="120901" y="25784"/>
                </a:lnTo>
                <a:cubicBezTo>
                  <a:pt x="126057" y="28754"/>
                  <a:pt x="129235" y="34275"/>
                  <a:pt x="129235" y="40213"/>
                </a:cubicBezTo>
                <a:lnTo>
                  <a:pt x="129235" y="93085"/>
                </a:lnTo>
                <a:cubicBezTo>
                  <a:pt x="129235" y="99049"/>
                  <a:pt x="126057" y="104544"/>
                  <a:pt x="120901" y="107513"/>
                </a:cubicBezTo>
                <a:lnTo>
                  <a:pt x="75088" y="134001"/>
                </a:lnTo>
                <a:cubicBezTo>
                  <a:pt x="69931" y="136970"/>
                  <a:pt x="63576" y="136970"/>
                  <a:pt x="58419" y="134001"/>
                </a:cubicBezTo>
                <a:lnTo>
                  <a:pt x="12632" y="107566"/>
                </a:lnTo>
                <a:cubicBezTo>
                  <a:pt x="7475" y="104596"/>
                  <a:pt x="4297" y="99075"/>
                  <a:pt x="4297" y="93137"/>
                </a:cubicBezTo>
                <a:lnTo>
                  <a:pt x="4297" y="40265"/>
                </a:lnTo>
                <a:cubicBezTo>
                  <a:pt x="4297" y="34301"/>
                  <a:pt x="7475" y="28806"/>
                  <a:pt x="12632" y="25837"/>
                </a:cubicBezTo>
                <a:lnTo>
                  <a:pt x="58419" y="-651"/>
                </a:lnTo>
                <a:close/>
                <a:moveTo>
                  <a:pt x="112540" y="93111"/>
                </a:moveTo>
                <a:lnTo>
                  <a:pt x="112540" y="49850"/>
                </a:lnTo>
                <a:lnTo>
                  <a:pt x="75088" y="71467"/>
                </a:lnTo>
                <a:lnTo>
                  <a:pt x="75088" y="114728"/>
                </a:lnTo>
                <a:lnTo>
                  <a:pt x="112540" y="93111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68"/>
          <p:cNvSpPr/>
          <p:nvPr/>
        </p:nvSpPr>
        <p:spPr>
          <a:xfrm>
            <a:off x="7709400" y="5972040"/>
            <a:ext cx="11520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05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dbt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69"/>
          <p:cNvSpPr/>
          <p:nvPr/>
        </p:nvSpPr>
        <p:spPr>
          <a:xfrm>
            <a:off x="7714080" y="6162840"/>
            <a:ext cx="1142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</a:pPr>
            <a:r>
              <a:rPr b="0" lang="en-US" sz="900" spc="-1" strike="noStrike">
                <a:solidFill>
                  <a:srgbClr val="eceff1">
                    <a:alpha val="60000"/>
                  </a:srgbClr>
                </a:solidFill>
                <a:latin typeface="Quattrocento Sans"/>
                <a:ea typeface="Quattrocento Sans"/>
              </a:rPr>
              <a:t>Transform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pe 70"/>
          <p:cNvSpPr/>
          <p:nvPr/>
        </p:nvSpPr>
        <p:spPr>
          <a:xfrm>
            <a:off x="8927280" y="5829480"/>
            <a:ext cx="132840" cy="132840"/>
          </a:xfrm>
          <a:custGeom>
            <a:avLst/>
            <a:gdLst>
              <a:gd name="textAreaLeft" fmla="*/ 0 w 132840"/>
              <a:gd name="textAreaRight" fmla="*/ 133200 w 132840"/>
              <a:gd name="textAreaTop" fmla="*/ 0 h 132840"/>
              <a:gd name="textAreaBottom" fmla="*/ 133200 h 132840"/>
            </a:gdLst>
            <a:ahLst/>
            <a:rect l="textAreaLeft" t="textAreaTop" r="textAreaRight" b="textAreaBottom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71"/>
          <p:cNvSpPr/>
          <p:nvPr/>
        </p:nvSpPr>
        <p:spPr>
          <a:xfrm>
            <a:off x="9467280" y="547704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Shape 72"/>
          <p:cNvSpPr/>
          <p:nvPr/>
        </p:nvSpPr>
        <p:spPr>
          <a:xfrm>
            <a:off x="9631440" y="5638680"/>
            <a:ext cx="132840" cy="132840"/>
          </a:xfrm>
          <a:custGeom>
            <a:avLst/>
            <a:gdLst>
              <a:gd name="textAreaLeft" fmla="*/ 0 w 132840"/>
              <a:gd name="textAreaRight" fmla="*/ 133200 w 132840"/>
              <a:gd name="textAreaTop" fmla="*/ 0 h 132840"/>
              <a:gd name="textAreaBottom" fmla="*/ 133200 h 132840"/>
            </a:gdLst>
            <a:ahLst/>
            <a:rect l="textAreaLeft" t="textAreaTop" r="textAreaRight" b="textAreaBottom"/>
            <a:pathLst>
              <a:path w="133350" h="133350">
                <a:moveTo>
                  <a:pt x="75061" y="0"/>
                </a:moveTo>
                <a:cubicBezTo>
                  <a:pt x="75061" y="-4610"/>
                  <a:pt x="71337" y="-8334"/>
                  <a:pt x="66727" y="-8334"/>
                </a:cubicBezTo>
                <a:cubicBezTo>
                  <a:pt x="62117" y="-8334"/>
                  <a:pt x="58393" y="-4610"/>
                  <a:pt x="58393" y="0"/>
                </a:cubicBezTo>
                <a:lnTo>
                  <a:pt x="58393" y="16174"/>
                </a:lnTo>
                <a:lnTo>
                  <a:pt x="54486" y="12267"/>
                </a:lnTo>
                <a:cubicBezTo>
                  <a:pt x="52038" y="9819"/>
                  <a:pt x="48079" y="9819"/>
                  <a:pt x="45657" y="12267"/>
                </a:cubicBezTo>
                <a:cubicBezTo>
                  <a:pt x="43235" y="14715"/>
                  <a:pt x="43209" y="18674"/>
                  <a:pt x="45657" y="21096"/>
                </a:cubicBezTo>
                <a:lnTo>
                  <a:pt x="58419" y="33858"/>
                </a:lnTo>
                <a:lnTo>
                  <a:pt x="58419" y="52246"/>
                </a:lnTo>
                <a:lnTo>
                  <a:pt x="42479" y="43052"/>
                </a:lnTo>
                <a:lnTo>
                  <a:pt x="37817" y="25628"/>
                </a:lnTo>
                <a:cubicBezTo>
                  <a:pt x="36932" y="22294"/>
                  <a:pt x="33494" y="20315"/>
                  <a:pt x="30160" y="21201"/>
                </a:cubicBezTo>
                <a:cubicBezTo>
                  <a:pt x="26826" y="22086"/>
                  <a:pt x="24821" y="25524"/>
                  <a:pt x="25706" y="28858"/>
                </a:cubicBezTo>
                <a:lnTo>
                  <a:pt x="27139" y="34197"/>
                </a:lnTo>
                <a:lnTo>
                  <a:pt x="13153" y="26123"/>
                </a:lnTo>
                <a:cubicBezTo>
                  <a:pt x="9168" y="23831"/>
                  <a:pt x="4063" y="25185"/>
                  <a:pt x="1771" y="29170"/>
                </a:cubicBezTo>
                <a:cubicBezTo>
                  <a:pt x="-521" y="33155"/>
                  <a:pt x="833" y="38260"/>
                  <a:pt x="4818" y="40552"/>
                </a:cubicBezTo>
                <a:lnTo>
                  <a:pt x="18804" y="48626"/>
                </a:lnTo>
                <a:lnTo>
                  <a:pt x="13465" y="50058"/>
                </a:lnTo>
                <a:cubicBezTo>
                  <a:pt x="10131" y="50944"/>
                  <a:pt x="8152" y="54382"/>
                  <a:pt x="9038" y="57716"/>
                </a:cubicBezTo>
                <a:cubicBezTo>
                  <a:pt x="9923" y="61049"/>
                  <a:pt x="13361" y="63029"/>
                  <a:pt x="16695" y="62143"/>
                </a:cubicBezTo>
                <a:lnTo>
                  <a:pt x="34119" y="57481"/>
                </a:lnTo>
                <a:lnTo>
                  <a:pt x="50058" y="66675"/>
                </a:lnTo>
                <a:lnTo>
                  <a:pt x="34119" y="75869"/>
                </a:lnTo>
                <a:lnTo>
                  <a:pt x="16695" y="71207"/>
                </a:lnTo>
                <a:cubicBezTo>
                  <a:pt x="13361" y="70321"/>
                  <a:pt x="9923" y="72301"/>
                  <a:pt x="9038" y="75634"/>
                </a:cubicBezTo>
                <a:cubicBezTo>
                  <a:pt x="8152" y="78968"/>
                  <a:pt x="10131" y="82406"/>
                  <a:pt x="13465" y="83292"/>
                </a:cubicBezTo>
                <a:lnTo>
                  <a:pt x="18804" y="84724"/>
                </a:lnTo>
                <a:lnTo>
                  <a:pt x="4818" y="92798"/>
                </a:lnTo>
                <a:cubicBezTo>
                  <a:pt x="833" y="95090"/>
                  <a:pt x="-521" y="100195"/>
                  <a:pt x="1771" y="104180"/>
                </a:cubicBezTo>
                <a:cubicBezTo>
                  <a:pt x="4063" y="108165"/>
                  <a:pt x="9168" y="109545"/>
                  <a:pt x="13153" y="107227"/>
                </a:cubicBezTo>
                <a:lnTo>
                  <a:pt x="27139" y="99153"/>
                </a:lnTo>
                <a:lnTo>
                  <a:pt x="25706" y="104492"/>
                </a:lnTo>
                <a:cubicBezTo>
                  <a:pt x="24821" y="107826"/>
                  <a:pt x="26800" y="111264"/>
                  <a:pt x="30134" y="112149"/>
                </a:cubicBezTo>
                <a:cubicBezTo>
                  <a:pt x="33468" y="113035"/>
                  <a:pt x="36906" y="111056"/>
                  <a:pt x="37791" y="107722"/>
                </a:cubicBezTo>
                <a:lnTo>
                  <a:pt x="42453" y="90298"/>
                </a:lnTo>
                <a:lnTo>
                  <a:pt x="58393" y="81104"/>
                </a:lnTo>
                <a:lnTo>
                  <a:pt x="58393" y="99492"/>
                </a:lnTo>
                <a:lnTo>
                  <a:pt x="45631" y="112254"/>
                </a:lnTo>
                <a:cubicBezTo>
                  <a:pt x="43182" y="114702"/>
                  <a:pt x="43182" y="118661"/>
                  <a:pt x="45631" y="121083"/>
                </a:cubicBezTo>
                <a:cubicBezTo>
                  <a:pt x="48079" y="123505"/>
                  <a:pt x="52038" y="123531"/>
                  <a:pt x="54460" y="121083"/>
                </a:cubicBezTo>
                <a:lnTo>
                  <a:pt x="58367" y="117176"/>
                </a:lnTo>
                <a:lnTo>
                  <a:pt x="58367" y="133350"/>
                </a:lnTo>
                <a:cubicBezTo>
                  <a:pt x="58367" y="137960"/>
                  <a:pt x="62091" y="141684"/>
                  <a:pt x="66701" y="141684"/>
                </a:cubicBezTo>
                <a:cubicBezTo>
                  <a:pt x="71311" y="141684"/>
                  <a:pt x="75035" y="137960"/>
                  <a:pt x="75035" y="133350"/>
                </a:cubicBezTo>
                <a:lnTo>
                  <a:pt x="75035" y="117176"/>
                </a:lnTo>
                <a:lnTo>
                  <a:pt x="78942" y="121083"/>
                </a:lnTo>
                <a:cubicBezTo>
                  <a:pt x="81390" y="123531"/>
                  <a:pt x="85349" y="123531"/>
                  <a:pt x="87771" y="121083"/>
                </a:cubicBezTo>
                <a:cubicBezTo>
                  <a:pt x="90194" y="118635"/>
                  <a:pt x="90220" y="114676"/>
                  <a:pt x="87771" y="112254"/>
                </a:cubicBezTo>
                <a:lnTo>
                  <a:pt x="75009" y="99492"/>
                </a:lnTo>
                <a:lnTo>
                  <a:pt x="75009" y="81104"/>
                </a:lnTo>
                <a:lnTo>
                  <a:pt x="90949" y="90298"/>
                </a:lnTo>
                <a:lnTo>
                  <a:pt x="95611" y="107722"/>
                </a:lnTo>
                <a:cubicBezTo>
                  <a:pt x="96496" y="111056"/>
                  <a:pt x="99934" y="113035"/>
                  <a:pt x="103268" y="112149"/>
                </a:cubicBezTo>
                <a:cubicBezTo>
                  <a:pt x="106602" y="111264"/>
                  <a:pt x="108581" y="107826"/>
                  <a:pt x="107696" y="104492"/>
                </a:cubicBezTo>
                <a:lnTo>
                  <a:pt x="106263" y="99153"/>
                </a:lnTo>
                <a:lnTo>
                  <a:pt x="120249" y="107227"/>
                </a:lnTo>
                <a:cubicBezTo>
                  <a:pt x="124234" y="109519"/>
                  <a:pt x="129339" y="108165"/>
                  <a:pt x="131631" y="104180"/>
                </a:cubicBezTo>
                <a:cubicBezTo>
                  <a:pt x="133923" y="100195"/>
                  <a:pt x="132569" y="95090"/>
                  <a:pt x="128584" y="92798"/>
                </a:cubicBezTo>
                <a:lnTo>
                  <a:pt x="114598" y="84724"/>
                </a:lnTo>
                <a:lnTo>
                  <a:pt x="119937" y="83292"/>
                </a:lnTo>
                <a:cubicBezTo>
                  <a:pt x="123271" y="82406"/>
                  <a:pt x="125250" y="78968"/>
                  <a:pt x="124365" y="75634"/>
                </a:cubicBezTo>
                <a:cubicBezTo>
                  <a:pt x="123479" y="72301"/>
                  <a:pt x="120041" y="70321"/>
                  <a:pt x="116707" y="71207"/>
                </a:cubicBezTo>
                <a:lnTo>
                  <a:pt x="99283" y="75869"/>
                </a:lnTo>
                <a:lnTo>
                  <a:pt x="83344" y="66675"/>
                </a:lnTo>
                <a:lnTo>
                  <a:pt x="99283" y="57481"/>
                </a:lnTo>
                <a:lnTo>
                  <a:pt x="116707" y="62143"/>
                </a:lnTo>
                <a:cubicBezTo>
                  <a:pt x="120041" y="63029"/>
                  <a:pt x="123479" y="61049"/>
                  <a:pt x="124365" y="57716"/>
                </a:cubicBezTo>
                <a:cubicBezTo>
                  <a:pt x="125250" y="54382"/>
                  <a:pt x="123271" y="50944"/>
                  <a:pt x="119937" y="50058"/>
                </a:cubicBezTo>
                <a:lnTo>
                  <a:pt x="114598" y="48626"/>
                </a:lnTo>
                <a:lnTo>
                  <a:pt x="128584" y="40552"/>
                </a:lnTo>
                <a:cubicBezTo>
                  <a:pt x="132569" y="38260"/>
                  <a:pt x="133949" y="33155"/>
                  <a:pt x="131631" y="29170"/>
                </a:cubicBezTo>
                <a:cubicBezTo>
                  <a:pt x="129313" y="25185"/>
                  <a:pt x="124234" y="23831"/>
                  <a:pt x="120249" y="26123"/>
                </a:cubicBezTo>
                <a:lnTo>
                  <a:pt x="106263" y="34197"/>
                </a:lnTo>
                <a:lnTo>
                  <a:pt x="107696" y="28858"/>
                </a:lnTo>
                <a:cubicBezTo>
                  <a:pt x="108581" y="25524"/>
                  <a:pt x="106602" y="22086"/>
                  <a:pt x="103268" y="21201"/>
                </a:cubicBezTo>
                <a:cubicBezTo>
                  <a:pt x="99934" y="20315"/>
                  <a:pt x="96496" y="22294"/>
                  <a:pt x="95611" y="25628"/>
                </a:cubicBezTo>
                <a:lnTo>
                  <a:pt x="90949" y="43052"/>
                </a:lnTo>
                <a:lnTo>
                  <a:pt x="75009" y="52246"/>
                </a:lnTo>
                <a:lnTo>
                  <a:pt x="75009" y="33858"/>
                </a:lnTo>
                <a:lnTo>
                  <a:pt x="87771" y="21096"/>
                </a:lnTo>
                <a:cubicBezTo>
                  <a:pt x="90220" y="18648"/>
                  <a:pt x="90220" y="14689"/>
                  <a:pt x="87771" y="12267"/>
                </a:cubicBezTo>
                <a:cubicBezTo>
                  <a:pt x="85323" y="9845"/>
                  <a:pt x="81364" y="9819"/>
                  <a:pt x="78942" y="12267"/>
                </a:cubicBezTo>
                <a:lnTo>
                  <a:pt x="75035" y="16174"/>
                </a:lnTo>
                <a:lnTo>
                  <a:pt x="75035" y="0"/>
                </a:ln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73"/>
          <p:cNvSpPr/>
          <p:nvPr/>
        </p:nvSpPr>
        <p:spPr>
          <a:xfrm>
            <a:off x="9117720" y="5972040"/>
            <a:ext cx="11520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05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Snowflake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74"/>
          <p:cNvSpPr/>
          <p:nvPr/>
        </p:nvSpPr>
        <p:spPr>
          <a:xfrm>
            <a:off x="9122400" y="6162840"/>
            <a:ext cx="1142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</a:pPr>
            <a:r>
              <a:rPr b="0" lang="en-US" sz="900" spc="-1" strike="noStrike">
                <a:solidFill>
                  <a:srgbClr val="eceff1">
                    <a:alpha val="60000"/>
                  </a:srgbClr>
                </a:solidFill>
                <a:latin typeface="Quattrocento Sans"/>
                <a:ea typeface="Quattrocento Sans"/>
              </a:rPr>
              <a:t>Store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Shape 75"/>
          <p:cNvSpPr/>
          <p:nvPr/>
        </p:nvSpPr>
        <p:spPr>
          <a:xfrm>
            <a:off x="10335960" y="5829480"/>
            <a:ext cx="132840" cy="132840"/>
          </a:xfrm>
          <a:custGeom>
            <a:avLst/>
            <a:gdLst>
              <a:gd name="textAreaLeft" fmla="*/ 0 w 132840"/>
              <a:gd name="textAreaRight" fmla="*/ 133200 w 132840"/>
              <a:gd name="textAreaTop" fmla="*/ 0 h 132840"/>
              <a:gd name="textAreaBottom" fmla="*/ 133200 h 132840"/>
            </a:gdLst>
            <a:ahLst/>
            <a:rect l="textAreaLeft" t="textAreaTop" r="textAreaRight" b="textAreaBottom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Shape 76"/>
          <p:cNvSpPr/>
          <p:nvPr/>
        </p:nvSpPr>
        <p:spPr>
          <a:xfrm>
            <a:off x="10875600" y="547704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Shape 77"/>
          <p:cNvSpPr/>
          <p:nvPr/>
        </p:nvSpPr>
        <p:spPr>
          <a:xfrm>
            <a:off x="11040120" y="5638680"/>
            <a:ext cx="132840" cy="132840"/>
          </a:xfrm>
          <a:custGeom>
            <a:avLst/>
            <a:gdLst>
              <a:gd name="textAreaLeft" fmla="*/ 0 w 132840"/>
              <a:gd name="textAreaRight" fmla="*/ 133200 w 132840"/>
              <a:gd name="textAreaTop" fmla="*/ 0 h 132840"/>
              <a:gd name="textAreaBottom" fmla="*/ 133200 h 132840"/>
            </a:gdLst>
            <a:ahLst/>
            <a:rect l="textAreaLeft" t="textAreaTop" r="textAreaRight" b="textAreaBottom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78"/>
          <p:cNvSpPr/>
          <p:nvPr/>
        </p:nvSpPr>
        <p:spPr>
          <a:xfrm>
            <a:off x="10526400" y="5972040"/>
            <a:ext cx="11520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105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Tableau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79"/>
          <p:cNvSpPr/>
          <p:nvPr/>
        </p:nvSpPr>
        <p:spPr>
          <a:xfrm>
            <a:off x="10531080" y="6162840"/>
            <a:ext cx="1142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</a:pPr>
            <a:r>
              <a:rPr b="0" lang="en-US" sz="900" spc="-1" strike="noStrike">
                <a:solidFill>
                  <a:srgbClr val="eceff1">
                    <a:alpha val="60000"/>
                  </a:srgbClr>
                </a:solidFill>
                <a:latin typeface="Quattrocento Sans"/>
                <a:ea typeface="Quattrocento Sans"/>
              </a:rPr>
              <a:t>Visualize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 0"/>
          <p:cNvSpPr/>
          <p:nvPr/>
        </p:nvSpPr>
        <p:spPr>
          <a:xfrm>
            <a:off x="364680" y="364680"/>
            <a:ext cx="115351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50" spc="55" strike="noStrike">
                <a:solidFill>
                  <a:srgbClr val="4db6ac"/>
                </a:solidFill>
                <a:latin typeface="Quattrocento Sans"/>
                <a:ea typeface="Quattrocento Sans"/>
              </a:rPr>
              <a:t>PRODUCTION READY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1"/>
          <p:cNvSpPr/>
          <p:nvPr/>
        </p:nvSpPr>
        <p:spPr>
          <a:xfrm>
            <a:off x="364680" y="656640"/>
            <a:ext cx="116262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590" spc="-1" strike="noStrike">
                <a:solidFill>
                  <a:srgbClr val="eceff1"/>
                </a:solidFill>
                <a:latin typeface="Liter"/>
                <a:ea typeface="Liter"/>
              </a:rPr>
              <a:t>Real Industry Practices</a:t>
            </a:r>
            <a:endParaRPr b="0" lang="en-US" sz="25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Text 2"/>
          <p:cNvSpPr/>
          <p:nvPr/>
        </p:nvSpPr>
        <p:spPr>
          <a:xfrm>
            <a:off x="364680" y="986400"/>
            <a:ext cx="11544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9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How Leading Companies Build Scalable, Production-Grade Pipelines</a:t>
            </a:r>
            <a:endParaRPr b="0" lang="en-US" sz="12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3"/>
          <p:cNvSpPr/>
          <p:nvPr/>
        </p:nvSpPr>
        <p:spPr>
          <a:xfrm>
            <a:off x="369360" y="1320120"/>
            <a:ext cx="3710880" cy="2598480"/>
          </a:xfrm>
          <a:custGeom>
            <a:avLst/>
            <a:gdLst>
              <a:gd name="textAreaLeft" fmla="*/ 0 w 3710880"/>
              <a:gd name="textAreaRight" fmla="*/ 3711240 w 3710880"/>
              <a:gd name="textAreaTop" fmla="*/ 0 h 2598480"/>
              <a:gd name="textAreaBottom" fmla="*/ 2598840 h 2598480"/>
            </a:gdLst>
            <a:ahLst/>
            <a:rect l="textAreaLeft" t="textAreaTop" r="textAreaRight" b="textAreaBottom"/>
            <a:pathLst>
              <a:path w="3711402" h="2598893">
                <a:moveTo>
                  <a:pt x="109439" y="0"/>
                </a:moveTo>
                <a:lnTo>
                  <a:pt x="3601962" y="0"/>
                </a:lnTo>
                <a:cubicBezTo>
                  <a:pt x="3662404" y="0"/>
                  <a:pt x="3711402" y="48998"/>
                  <a:pt x="3711402" y="109439"/>
                </a:cubicBezTo>
                <a:lnTo>
                  <a:pt x="3711402" y="2489454"/>
                </a:lnTo>
                <a:cubicBezTo>
                  <a:pt x="3711402" y="2549895"/>
                  <a:pt x="3662404" y="2598893"/>
                  <a:pt x="3601962" y="2598893"/>
                </a:cubicBezTo>
                <a:lnTo>
                  <a:pt x="109439" y="2598893"/>
                </a:lnTo>
                <a:cubicBezTo>
                  <a:pt x="48998" y="2598893"/>
                  <a:pt x="0" y="2549895"/>
                  <a:pt x="0" y="2489454"/>
                </a:cubicBezTo>
                <a:lnTo>
                  <a:pt x="0" y="109439"/>
                </a:lnTo>
                <a:cubicBezTo>
                  <a:pt x="0" y="49038"/>
                  <a:pt x="49038" y="0"/>
                  <a:pt x="109439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12700">
            <a:solidFill>
              <a:srgbClr val="4db6ac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Shape 4"/>
          <p:cNvSpPr/>
          <p:nvPr/>
        </p:nvSpPr>
        <p:spPr>
          <a:xfrm>
            <a:off x="519840" y="1470600"/>
            <a:ext cx="437400" cy="437400"/>
          </a:xfrm>
          <a:custGeom>
            <a:avLst/>
            <a:gdLst>
              <a:gd name="textAreaLeft" fmla="*/ 0 w 437400"/>
              <a:gd name="textAreaRight" fmla="*/ 437760 w 437400"/>
              <a:gd name="textAreaTop" fmla="*/ 0 h 437400"/>
              <a:gd name="textAreaBottom" fmla="*/ 437760 h 437400"/>
            </a:gdLst>
            <a:ahLst/>
            <a:rect l="textAreaLeft" t="textAreaTop" r="textAreaRight" b="textAreaBottom"/>
            <a:pathLst>
              <a:path w="437708" h="437708">
                <a:moveTo>
                  <a:pt x="72953" y="0"/>
                </a:moveTo>
                <a:lnTo>
                  <a:pt x="364755" y="0"/>
                </a:lnTo>
                <a:cubicBezTo>
                  <a:pt x="405019" y="0"/>
                  <a:pt x="437708" y="32689"/>
                  <a:pt x="437708" y="72953"/>
                </a:cubicBezTo>
                <a:lnTo>
                  <a:pt x="437708" y="364755"/>
                </a:lnTo>
                <a:cubicBezTo>
                  <a:pt x="437708" y="405046"/>
                  <a:pt x="405046" y="437708"/>
                  <a:pt x="364755" y="437708"/>
                </a:cubicBezTo>
                <a:lnTo>
                  <a:pt x="72953" y="437708"/>
                </a:lnTo>
                <a:cubicBezTo>
                  <a:pt x="32662" y="437708"/>
                  <a:pt x="0" y="405046"/>
                  <a:pt x="0" y="364755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Shape 5"/>
          <p:cNvSpPr/>
          <p:nvPr/>
        </p:nvSpPr>
        <p:spPr>
          <a:xfrm>
            <a:off x="629280" y="1580040"/>
            <a:ext cx="218520" cy="218520"/>
          </a:xfrm>
          <a:custGeom>
            <a:avLst/>
            <a:gdLst>
              <a:gd name="textAreaLeft" fmla="*/ 0 w 218520"/>
              <a:gd name="textAreaRight" fmla="*/ 218880 w 218520"/>
              <a:gd name="textAreaTop" fmla="*/ 0 h 218520"/>
              <a:gd name="textAreaBottom" fmla="*/ 218880 h 218520"/>
            </a:gdLst>
            <a:ahLst/>
            <a:rect l="textAreaLeft" t="textAreaTop" r="textAreaRight" b="textAreaBottom"/>
            <a:pathLst>
              <a:path w="218854" h="218854">
                <a:moveTo>
                  <a:pt x="121396" y="-556"/>
                </a:moveTo>
                <a:cubicBezTo>
                  <a:pt x="114001" y="-4830"/>
                  <a:pt x="104853" y="-4830"/>
                  <a:pt x="97458" y="-556"/>
                </a:cubicBezTo>
                <a:lnTo>
                  <a:pt x="61467" y="20218"/>
                </a:lnTo>
                <a:cubicBezTo>
                  <a:pt x="54072" y="24493"/>
                  <a:pt x="49499" y="32401"/>
                  <a:pt x="49499" y="40950"/>
                </a:cubicBezTo>
                <a:lnTo>
                  <a:pt x="49499" y="84507"/>
                </a:lnTo>
                <a:lnTo>
                  <a:pt x="11755" y="106307"/>
                </a:lnTo>
                <a:cubicBezTo>
                  <a:pt x="4360" y="110581"/>
                  <a:pt x="-214" y="118489"/>
                  <a:pt x="-214" y="127038"/>
                </a:cubicBezTo>
                <a:lnTo>
                  <a:pt x="-214" y="168629"/>
                </a:lnTo>
                <a:cubicBezTo>
                  <a:pt x="-214" y="177178"/>
                  <a:pt x="4360" y="185086"/>
                  <a:pt x="11755" y="189360"/>
                </a:cubicBezTo>
                <a:lnTo>
                  <a:pt x="47789" y="210134"/>
                </a:lnTo>
                <a:cubicBezTo>
                  <a:pt x="55184" y="214409"/>
                  <a:pt x="64331" y="214409"/>
                  <a:pt x="71726" y="210134"/>
                </a:cubicBezTo>
                <a:lnTo>
                  <a:pt x="109470" y="188334"/>
                </a:lnTo>
                <a:lnTo>
                  <a:pt x="147214" y="210134"/>
                </a:lnTo>
                <a:cubicBezTo>
                  <a:pt x="154608" y="214409"/>
                  <a:pt x="163756" y="214409"/>
                  <a:pt x="171151" y="210134"/>
                </a:cubicBezTo>
                <a:lnTo>
                  <a:pt x="207099" y="189360"/>
                </a:lnTo>
                <a:cubicBezTo>
                  <a:pt x="214494" y="185086"/>
                  <a:pt x="219068" y="177178"/>
                  <a:pt x="219068" y="168629"/>
                </a:cubicBezTo>
                <a:lnTo>
                  <a:pt x="219068" y="127038"/>
                </a:lnTo>
                <a:cubicBezTo>
                  <a:pt x="219068" y="118489"/>
                  <a:pt x="214494" y="110581"/>
                  <a:pt x="207099" y="106307"/>
                </a:cubicBezTo>
                <a:lnTo>
                  <a:pt x="169355" y="84507"/>
                </a:lnTo>
                <a:lnTo>
                  <a:pt x="169355" y="40950"/>
                </a:lnTo>
                <a:cubicBezTo>
                  <a:pt x="169355" y="32401"/>
                  <a:pt x="164782" y="24493"/>
                  <a:pt x="157387" y="20218"/>
                </a:cubicBezTo>
                <a:lnTo>
                  <a:pt x="121396" y="-556"/>
                </a:lnTo>
                <a:close/>
                <a:moveTo>
                  <a:pt x="99168" y="125072"/>
                </a:moveTo>
                <a:lnTo>
                  <a:pt x="99168" y="170595"/>
                </a:lnTo>
                <a:lnTo>
                  <a:pt x="61424" y="192395"/>
                </a:lnTo>
                <a:cubicBezTo>
                  <a:pt x="60912" y="192694"/>
                  <a:pt x="60313" y="192865"/>
                  <a:pt x="59715" y="192865"/>
                </a:cubicBezTo>
                <a:lnTo>
                  <a:pt x="59715" y="147855"/>
                </a:lnTo>
                <a:lnTo>
                  <a:pt x="99168" y="125072"/>
                </a:lnTo>
                <a:close/>
                <a:moveTo>
                  <a:pt x="198080" y="125328"/>
                </a:moveTo>
                <a:cubicBezTo>
                  <a:pt x="198379" y="125841"/>
                  <a:pt x="198550" y="126440"/>
                  <a:pt x="198550" y="127038"/>
                </a:cubicBezTo>
                <a:lnTo>
                  <a:pt x="198550" y="168629"/>
                </a:lnTo>
                <a:cubicBezTo>
                  <a:pt x="198550" y="169868"/>
                  <a:pt x="197909" y="170980"/>
                  <a:pt x="196841" y="171578"/>
                </a:cubicBezTo>
                <a:lnTo>
                  <a:pt x="160807" y="192352"/>
                </a:lnTo>
                <a:cubicBezTo>
                  <a:pt x="160294" y="192651"/>
                  <a:pt x="159695" y="192822"/>
                  <a:pt x="159097" y="192822"/>
                </a:cubicBezTo>
                <a:lnTo>
                  <a:pt x="159097" y="147812"/>
                </a:lnTo>
                <a:lnTo>
                  <a:pt x="198080" y="125328"/>
                </a:lnTo>
                <a:close/>
                <a:moveTo>
                  <a:pt x="148881" y="40950"/>
                </a:moveTo>
                <a:lnTo>
                  <a:pt x="148881" y="84507"/>
                </a:lnTo>
                <a:lnTo>
                  <a:pt x="109427" y="107290"/>
                </a:lnTo>
                <a:lnTo>
                  <a:pt x="109427" y="61766"/>
                </a:lnTo>
                <a:lnTo>
                  <a:pt x="148410" y="39283"/>
                </a:lnTo>
                <a:cubicBezTo>
                  <a:pt x="148710" y="39796"/>
                  <a:pt x="148881" y="40394"/>
                  <a:pt x="148881" y="40992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6"/>
          <p:cNvSpPr/>
          <p:nvPr/>
        </p:nvSpPr>
        <p:spPr>
          <a:xfrm>
            <a:off x="1067040" y="1561680"/>
            <a:ext cx="2819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430" spc="-1" strike="noStrike">
                <a:solidFill>
                  <a:srgbClr val="eceff1"/>
                </a:solidFill>
                <a:latin typeface="Liter"/>
                <a:ea typeface="Liter"/>
              </a:rPr>
              <a:t>Modularity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7"/>
          <p:cNvSpPr/>
          <p:nvPr/>
        </p:nvSpPr>
        <p:spPr>
          <a:xfrm>
            <a:off x="519840" y="2017800"/>
            <a:ext cx="348300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1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Design pipelines as reusable, composable components. Each task should have a single responsibility, making it easy to test, maintain, and scale independently.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Shape 8"/>
          <p:cNvSpPr/>
          <p:nvPr/>
        </p:nvSpPr>
        <p:spPr>
          <a:xfrm>
            <a:off x="546120" y="310284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9"/>
          <p:cNvSpPr/>
          <p:nvPr/>
        </p:nvSpPr>
        <p:spPr>
          <a:xfrm>
            <a:off x="736200" y="307548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Atomic, reusable tasks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Shape 10"/>
          <p:cNvSpPr/>
          <p:nvPr/>
        </p:nvSpPr>
        <p:spPr>
          <a:xfrm>
            <a:off x="546120" y="335808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11"/>
          <p:cNvSpPr/>
          <p:nvPr/>
        </p:nvSpPr>
        <p:spPr>
          <a:xfrm>
            <a:off x="736200" y="333072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Shared utility libraries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Shape 12"/>
          <p:cNvSpPr/>
          <p:nvPr/>
        </p:nvSpPr>
        <p:spPr>
          <a:xfrm>
            <a:off x="546120" y="361332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 13"/>
          <p:cNvSpPr/>
          <p:nvPr/>
        </p:nvSpPr>
        <p:spPr>
          <a:xfrm>
            <a:off x="736200" y="358596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Configuration-driven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Shape 14"/>
          <p:cNvSpPr/>
          <p:nvPr/>
        </p:nvSpPr>
        <p:spPr>
          <a:xfrm>
            <a:off x="4238280" y="1320120"/>
            <a:ext cx="3710880" cy="2598480"/>
          </a:xfrm>
          <a:custGeom>
            <a:avLst/>
            <a:gdLst>
              <a:gd name="textAreaLeft" fmla="*/ 0 w 3710880"/>
              <a:gd name="textAreaRight" fmla="*/ 3711240 w 3710880"/>
              <a:gd name="textAreaTop" fmla="*/ 0 h 2598480"/>
              <a:gd name="textAreaBottom" fmla="*/ 2598840 h 2598480"/>
            </a:gdLst>
            <a:ahLst/>
            <a:rect l="textAreaLeft" t="textAreaTop" r="textAreaRight" b="textAreaBottom"/>
            <a:pathLst>
              <a:path w="3711402" h="2598893">
                <a:moveTo>
                  <a:pt x="109439" y="0"/>
                </a:moveTo>
                <a:lnTo>
                  <a:pt x="3601962" y="0"/>
                </a:lnTo>
                <a:cubicBezTo>
                  <a:pt x="3662404" y="0"/>
                  <a:pt x="3711402" y="48998"/>
                  <a:pt x="3711402" y="109439"/>
                </a:cubicBezTo>
                <a:lnTo>
                  <a:pt x="3711402" y="2489454"/>
                </a:lnTo>
                <a:cubicBezTo>
                  <a:pt x="3711402" y="2549895"/>
                  <a:pt x="3662404" y="2598893"/>
                  <a:pt x="3601962" y="2598893"/>
                </a:cubicBezTo>
                <a:lnTo>
                  <a:pt x="109439" y="2598893"/>
                </a:lnTo>
                <a:cubicBezTo>
                  <a:pt x="48998" y="2598893"/>
                  <a:pt x="0" y="2549895"/>
                  <a:pt x="0" y="2489454"/>
                </a:cubicBezTo>
                <a:lnTo>
                  <a:pt x="0" y="109439"/>
                </a:lnTo>
                <a:cubicBezTo>
                  <a:pt x="0" y="49038"/>
                  <a:pt x="49038" y="0"/>
                  <a:pt x="109439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12700">
            <a:solidFill>
              <a:srgbClr val="ff8a65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15"/>
          <p:cNvSpPr/>
          <p:nvPr/>
        </p:nvSpPr>
        <p:spPr>
          <a:xfrm>
            <a:off x="4388760" y="1470600"/>
            <a:ext cx="437400" cy="437400"/>
          </a:xfrm>
          <a:custGeom>
            <a:avLst/>
            <a:gdLst>
              <a:gd name="textAreaLeft" fmla="*/ 0 w 437400"/>
              <a:gd name="textAreaRight" fmla="*/ 437760 w 437400"/>
              <a:gd name="textAreaTop" fmla="*/ 0 h 437400"/>
              <a:gd name="textAreaBottom" fmla="*/ 437760 h 437400"/>
            </a:gdLst>
            <a:ahLst/>
            <a:rect l="textAreaLeft" t="textAreaTop" r="textAreaRight" b="textAreaBottom"/>
            <a:pathLst>
              <a:path w="437708" h="437708">
                <a:moveTo>
                  <a:pt x="72953" y="0"/>
                </a:moveTo>
                <a:lnTo>
                  <a:pt x="364755" y="0"/>
                </a:lnTo>
                <a:cubicBezTo>
                  <a:pt x="405019" y="0"/>
                  <a:pt x="437708" y="32689"/>
                  <a:pt x="437708" y="72953"/>
                </a:cubicBezTo>
                <a:lnTo>
                  <a:pt x="437708" y="364755"/>
                </a:lnTo>
                <a:cubicBezTo>
                  <a:pt x="437708" y="405046"/>
                  <a:pt x="405046" y="437708"/>
                  <a:pt x="364755" y="437708"/>
                </a:cubicBezTo>
                <a:lnTo>
                  <a:pt x="72953" y="437708"/>
                </a:lnTo>
                <a:cubicBezTo>
                  <a:pt x="32662" y="437708"/>
                  <a:pt x="0" y="405046"/>
                  <a:pt x="0" y="364755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16"/>
          <p:cNvSpPr/>
          <p:nvPr/>
        </p:nvSpPr>
        <p:spPr>
          <a:xfrm>
            <a:off x="4525560" y="1580040"/>
            <a:ext cx="163800" cy="218520"/>
          </a:xfrm>
          <a:custGeom>
            <a:avLst/>
            <a:gdLst>
              <a:gd name="textAreaLeft" fmla="*/ 0 w 163800"/>
              <a:gd name="textAreaRight" fmla="*/ 164160 w 163800"/>
              <a:gd name="textAreaTop" fmla="*/ 0 h 218520"/>
              <a:gd name="textAreaBottom" fmla="*/ 218880 h 218520"/>
            </a:gdLst>
            <a:ahLst/>
            <a:rect l="textAreaLeft" t="textAreaTop" r="textAreaRight" b="textAreaBottom"/>
            <a:pathLst>
              <a:path w="164141" h="218854">
                <a:moveTo>
                  <a:pt x="0" y="27357"/>
                </a:moveTo>
                <a:cubicBezTo>
                  <a:pt x="0" y="12268"/>
                  <a:pt x="12268" y="0"/>
                  <a:pt x="27357" y="0"/>
                </a:cubicBezTo>
                <a:lnTo>
                  <a:pt x="91260" y="0"/>
                </a:lnTo>
                <a:cubicBezTo>
                  <a:pt x="98527" y="0"/>
                  <a:pt x="105495" y="2864"/>
                  <a:pt x="110624" y="7993"/>
                </a:cubicBezTo>
                <a:lnTo>
                  <a:pt x="156147" y="53559"/>
                </a:lnTo>
                <a:cubicBezTo>
                  <a:pt x="161277" y="58689"/>
                  <a:pt x="164141" y="65656"/>
                  <a:pt x="164141" y="72923"/>
                </a:cubicBezTo>
                <a:lnTo>
                  <a:pt x="164141" y="191497"/>
                </a:lnTo>
                <a:cubicBezTo>
                  <a:pt x="164141" y="206586"/>
                  <a:pt x="151873" y="218854"/>
                  <a:pt x="136784" y="218854"/>
                </a:cubicBezTo>
                <a:lnTo>
                  <a:pt x="27357" y="218854"/>
                </a:lnTo>
                <a:cubicBezTo>
                  <a:pt x="12268" y="218854"/>
                  <a:pt x="0" y="206586"/>
                  <a:pt x="0" y="191497"/>
                </a:cubicBezTo>
                <a:lnTo>
                  <a:pt x="0" y="27357"/>
                </a:lnTo>
                <a:close/>
                <a:moveTo>
                  <a:pt x="88909" y="25006"/>
                </a:moveTo>
                <a:lnTo>
                  <a:pt x="88909" y="64972"/>
                </a:lnTo>
                <a:cubicBezTo>
                  <a:pt x="88909" y="70657"/>
                  <a:pt x="93483" y="75231"/>
                  <a:pt x="99168" y="75231"/>
                </a:cubicBezTo>
                <a:lnTo>
                  <a:pt x="139135" y="75231"/>
                </a:lnTo>
                <a:lnTo>
                  <a:pt x="88909" y="25006"/>
                </a:lnTo>
                <a:close/>
                <a:moveTo>
                  <a:pt x="51294" y="109427"/>
                </a:moveTo>
                <a:cubicBezTo>
                  <a:pt x="45609" y="109427"/>
                  <a:pt x="41035" y="114001"/>
                  <a:pt x="41035" y="119686"/>
                </a:cubicBezTo>
                <a:cubicBezTo>
                  <a:pt x="41035" y="125371"/>
                  <a:pt x="45609" y="129945"/>
                  <a:pt x="51294" y="129945"/>
                </a:cubicBezTo>
                <a:lnTo>
                  <a:pt x="112847" y="129945"/>
                </a:lnTo>
                <a:cubicBezTo>
                  <a:pt x="118532" y="129945"/>
                  <a:pt x="123105" y="125371"/>
                  <a:pt x="123105" y="119686"/>
                </a:cubicBezTo>
                <a:cubicBezTo>
                  <a:pt x="123105" y="114001"/>
                  <a:pt x="118532" y="109427"/>
                  <a:pt x="112847" y="109427"/>
                </a:cubicBezTo>
                <a:lnTo>
                  <a:pt x="51294" y="109427"/>
                </a:lnTo>
                <a:close/>
                <a:moveTo>
                  <a:pt x="51294" y="150462"/>
                </a:moveTo>
                <a:cubicBezTo>
                  <a:pt x="45609" y="150462"/>
                  <a:pt x="41035" y="155036"/>
                  <a:pt x="41035" y="160721"/>
                </a:cubicBezTo>
                <a:cubicBezTo>
                  <a:pt x="41035" y="166406"/>
                  <a:pt x="45609" y="170980"/>
                  <a:pt x="51294" y="170980"/>
                </a:cubicBezTo>
                <a:lnTo>
                  <a:pt x="112847" y="170980"/>
                </a:lnTo>
                <a:cubicBezTo>
                  <a:pt x="118532" y="170980"/>
                  <a:pt x="123105" y="166406"/>
                  <a:pt x="123105" y="160721"/>
                </a:cubicBezTo>
                <a:cubicBezTo>
                  <a:pt x="123105" y="155036"/>
                  <a:pt x="118532" y="150462"/>
                  <a:pt x="112847" y="150462"/>
                </a:cubicBezTo>
                <a:lnTo>
                  <a:pt x="51294" y="150462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17"/>
          <p:cNvSpPr/>
          <p:nvPr/>
        </p:nvSpPr>
        <p:spPr>
          <a:xfrm>
            <a:off x="4935960" y="1561680"/>
            <a:ext cx="30650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430" spc="-1" strike="noStrike">
                <a:solidFill>
                  <a:srgbClr val="eceff1"/>
                </a:solidFill>
                <a:latin typeface="Liter"/>
                <a:ea typeface="Liter"/>
              </a:rPr>
              <a:t>Logging &amp; Observability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18"/>
          <p:cNvSpPr/>
          <p:nvPr/>
        </p:nvSpPr>
        <p:spPr>
          <a:xfrm>
            <a:off x="4388760" y="2017800"/>
            <a:ext cx="348300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1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Implement comprehensive logging at every stage. Track data lineage, monitor pipeline health, and set up alerts for anomalies or failures in real-time.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Shape 19"/>
          <p:cNvSpPr/>
          <p:nvPr/>
        </p:nvSpPr>
        <p:spPr>
          <a:xfrm>
            <a:off x="4415040" y="310284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20"/>
          <p:cNvSpPr/>
          <p:nvPr/>
        </p:nvSpPr>
        <p:spPr>
          <a:xfrm>
            <a:off x="4605120" y="307548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ff8a65"/>
                </a:solidFill>
                <a:latin typeface="Quattrocento Sans"/>
                <a:ea typeface="Quattrocento Sans"/>
              </a:rPr>
              <a:t>Structured JSON logging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Shape 21"/>
          <p:cNvSpPr/>
          <p:nvPr/>
        </p:nvSpPr>
        <p:spPr>
          <a:xfrm>
            <a:off x="4415040" y="335808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22"/>
          <p:cNvSpPr/>
          <p:nvPr/>
        </p:nvSpPr>
        <p:spPr>
          <a:xfrm>
            <a:off x="4605120" y="333072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ff8a65"/>
                </a:solidFill>
                <a:latin typeface="Quattrocento Sans"/>
                <a:ea typeface="Quattrocento Sans"/>
              </a:rPr>
              <a:t>Data lineage tracking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Shape 23"/>
          <p:cNvSpPr/>
          <p:nvPr/>
        </p:nvSpPr>
        <p:spPr>
          <a:xfrm>
            <a:off x="4415040" y="361332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24"/>
          <p:cNvSpPr/>
          <p:nvPr/>
        </p:nvSpPr>
        <p:spPr>
          <a:xfrm>
            <a:off x="4605120" y="358596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ff8a65"/>
                </a:solidFill>
                <a:latin typeface="Quattrocento Sans"/>
                <a:ea typeface="Quattrocento Sans"/>
              </a:rPr>
              <a:t>Real-time alerting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Shape 25"/>
          <p:cNvSpPr/>
          <p:nvPr/>
        </p:nvSpPr>
        <p:spPr>
          <a:xfrm>
            <a:off x="8107560" y="1320120"/>
            <a:ext cx="3710880" cy="2598480"/>
          </a:xfrm>
          <a:custGeom>
            <a:avLst/>
            <a:gdLst>
              <a:gd name="textAreaLeft" fmla="*/ 0 w 3710880"/>
              <a:gd name="textAreaRight" fmla="*/ 3711240 w 3710880"/>
              <a:gd name="textAreaTop" fmla="*/ 0 h 2598480"/>
              <a:gd name="textAreaBottom" fmla="*/ 2598840 h 2598480"/>
            </a:gdLst>
            <a:ahLst/>
            <a:rect l="textAreaLeft" t="textAreaTop" r="textAreaRight" b="textAreaBottom"/>
            <a:pathLst>
              <a:path w="3711402" h="2598893">
                <a:moveTo>
                  <a:pt x="109439" y="0"/>
                </a:moveTo>
                <a:lnTo>
                  <a:pt x="3601962" y="0"/>
                </a:lnTo>
                <a:cubicBezTo>
                  <a:pt x="3662404" y="0"/>
                  <a:pt x="3711402" y="48998"/>
                  <a:pt x="3711402" y="109439"/>
                </a:cubicBezTo>
                <a:lnTo>
                  <a:pt x="3711402" y="2489454"/>
                </a:lnTo>
                <a:cubicBezTo>
                  <a:pt x="3711402" y="2549895"/>
                  <a:pt x="3662404" y="2598893"/>
                  <a:pt x="3601962" y="2598893"/>
                </a:cubicBezTo>
                <a:lnTo>
                  <a:pt x="109439" y="2598893"/>
                </a:lnTo>
                <a:cubicBezTo>
                  <a:pt x="48998" y="2598893"/>
                  <a:pt x="0" y="2549895"/>
                  <a:pt x="0" y="2489454"/>
                </a:cubicBezTo>
                <a:lnTo>
                  <a:pt x="0" y="109439"/>
                </a:lnTo>
                <a:cubicBezTo>
                  <a:pt x="0" y="49038"/>
                  <a:pt x="49038" y="0"/>
                  <a:pt x="109439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Shape 26"/>
          <p:cNvSpPr/>
          <p:nvPr/>
        </p:nvSpPr>
        <p:spPr>
          <a:xfrm>
            <a:off x="8258040" y="1470600"/>
            <a:ext cx="437400" cy="437400"/>
          </a:xfrm>
          <a:custGeom>
            <a:avLst/>
            <a:gdLst>
              <a:gd name="textAreaLeft" fmla="*/ 0 w 437400"/>
              <a:gd name="textAreaRight" fmla="*/ 437760 w 437400"/>
              <a:gd name="textAreaTop" fmla="*/ 0 h 437400"/>
              <a:gd name="textAreaBottom" fmla="*/ 437760 h 437400"/>
            </a:gdLst>
            <a:ahLst/>
            <a:rect l="textAreaLeft" t="textAreaTop" r="textAreaRight" b="textAreaBottom"/>
            <a:pathLst>
              <a:path w="437708" h="437708">
                <a:moveTo>
                  <a:pt x="72953" y="0"/>
                </a:moveTo>
                <a:lnTo>
                  <a:pt x="364755" y="0"/>
                </a:lnTo>
                <a:cubicBezTo>
                  <a:pt x="405019" y="0"/>
                  <a:pt x="437708" y="32689"/>
                  <a:pt x="437708" y="72953"/>
                </a:cubicBezTo>
                <a:lnTo>
                  <a:pt x="437708" y="364755"/>
                </a:lnTo>
                <a:cubicBezTo>
                  <a:pt x="437708" y="405046"/>
                  <a:pt x="405046" y="437708"/>
                  <a:pt x="364755" y="437708"/>
                </a:cubicBezTo>
                <a:lnTo>
                  <a:pt x="72953" y="437708"/>
                </a:lnTo>
                <a:cubicBezTo>
                  <a:pt x="32662" y="437708"/>
                  <a:pt x="0" y="405046"/>
                  <a:pt x="0" y="364755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Shape 27"/>
          <p:cNvSpPr/>
          <p:nvPr/>
        </p:nvSpPr>
        <p:spPr>
          <a:xfrm>
            <a:off x="8367480" y="1580040"/>
            <a:ext cx="218520" cy="218520"/>
          </a:xfrm>
          <a:custGeom>
            <a:avLst/>
            <a:gdLst>
              <a:gd name="textAreaLeft" fmla="*/ 0 w 218520"/>
              <a:gd name="textAreaRight" fmla="*/ 218880 w 218520"/>
              <a:gd name="textAreaTop" fmla="*/ 0 h 218520"/>
              <a:gd name="textAreaBottom" fmla="*/ 218880 h 218520"/>
            </a:gdLst>
            <a:ahLst/>
            <a:rect l="textAreaLeft" t="textAreaTop" r="textAreaRight" b="textAreaBottom"/>
            <a:pathLst>
              <a:path w="218854" h="218854">
                <a:moveTo>
                  <a:pt x="109427" y="0"/>
                </a:moveTo>
                <a:cubicBezTo>
                  <a:pt x="115711" y="0"/>
                  <a:pt x="121481" y="3462"/>
                  <a:pt x="124473" y="8976"/>
                </a:cubicBezTo>
                <a:lnTo>
                  <a:pt x="216802" y="179956"/>
                </a:lnTo>
                <a:cubicBezTo>
                  <a:pt x="219666" y="185257"/>
                  <a:pt x="219538" y="191668"/>
                  <a:pt x="216460" y="196841"/>
                </a:cubicBezTo>
                <a:cubicBezTo>
                  <a:pt x="213383" y="202013"/>
                  <a:pt x="207783" y="205176"/>
                  <a:pt x="201756" y="205176"/>
                </a:cubicBezTo>
                <a:lnTo>
                  <a:pt x="17098" y="205176"/>
                </a:lnTo>
                <a:cubicBezTo>
                  <a:pt x="11071" y="205176"/>
                  <a:pt x="5514" y="202013"/>
                  <a:pt x="2394" y="196841"/>
                </a:cubicBezTo>
                <a:cubicBezTo>
                  <a:pt x="-727" y="191668"/>
                  <a:pt x="-812" y="185257"/>
                  <a:pt x="2052" y="179956"/>
                </a:cubicBezTo>
                <a:lnTo>
                  <a:pt x="94381" y="8976"/>
                </a:lnTo>
                <a:cubicBezTo>
                  <a:pt x="97373" y="3462"/>
                  <a:pt x="103144" y="0"/>
                  <a:pt x="109427" y="0"/>
                </a:cubicBezTo>
                <a:close/>
                <a:moveTo>
                  <a:pt x="109427" y="71812"/>
                </a:moveTo>
                <a:cubicBezTo>
                  <a:pt x="103742" y="71812"/>
                  <a:pt x="99168" y="76385"/>
                  <a:pt x="99168" y="82070"/>
                </a:cubicBezTo>
                <a:lnTo>
                  <a:pt x="99168" y="129945"/>
                </a:lnTo>
                <a:cubicBezTo>
                  <a:pt x="99168" y="135630"/>
                  <a:pt x="103742" y="140203"/>
                  <a:pt x="109427" y="140203"/>
                </a:cubicBezTo>
                <a:cubicBezTo>
                  <a:pt x="115112" y="140203"/>
                  <a:pt x="119686" y="135630"/>
                  <a:pt x="119686" y="129945"/>
                </a:cubicBezTo>
                <a:lnTo>
                  <a:pt x="119686" y="82070"/>
                </a:lnTo>
                <a:cubicBezTo>
                  <a:pt x="119686" y="76385"/>
                  <a:pt x="115112" y="71812"/>
                  <a:pt x="109427" y="71812"/>
                </a:cubicBezTo>
                <a:close/>
                <a:moveTo>
                  <a:pt x="120840" y="164141"/>
                </a:moveTo>
                <a:cubicBezTo>
                  <a:pt x="121100" y="159904"/>
                  <a:pt x="118987" y="155874"/>
                  <a:pt x="115355" y="153677"/>
                </a:cubicBezTo>
                <a:cubicBezTo>
                  <a:pt x="111724" y="151480"/>
                  <a:pt x="107173" y="151480"/>
                  <a:pt x="103542" y="153677"/>
                </a:cubicBezTo>
                <a:cubicBezTo>
                  <a:pt x="99910" y="155874"/>
                  <a:pt x="97797" y="159904"/>
                  <a:pt x="98057" y="164141"/>
                </a:cubicBezTo>
                <a:cubicBezTo>
                  <a:pt x="97797" y="168377"/>
                  <a:pt x="99910" y="172407"/>
                  <a:pt x="103542" y="174604"/>
                </a:cubicBezTo>
                <a:cubicBezTo>
                  <a:pt x="107173" y="176801"/>
                  <a:pt x="111724" y="176801"/>
                  <a:pt x="115355" y="174604"/>
                </a:cubicBezTo>
                <a:cubicBezTo>
                  <a:pt x="118987" y="172407"/>
                  <a:pt x="121100" y="168377"/>
                  <a:pt x="120840" y="164141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28"/>
          <p:cNvSpPr/>
          <p:nvPr/>
        </p:nvSpPr>
        <p:spPr>
          <a:xfrm>
            <a:off x="8804880" y="1561680"/>
            <a:ext cx="2396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430" spc="-1" strike="noStrike">
                <a:solidFill>
                  <a:srgbClr val="eceff1"/>
                </a:solidFill>
                <a:latin typeface="Liter"/>
                <a:ea typeface="Liter"/>
              </a:rPr>
              <a:t>Error Handling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29"/>
          <p:cNvSpPr/>
          <p:nvPr/>
        </p:nvSpPr>
        <p:spPr>
          <a:xfrm>
            <a:off x="8258040" y="2017800"/>
            <a:ext cx="348300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1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Build resilient pipelines with automatic retries, circuit breakers, and graceful degradation. Implement dead letter queues for failed records.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Shape 30"/>
          <p:cNvSpPr/>
          <p:nvPr/>
        </p:nvSpPr>
        <p:spPr>
          <a:xfrm>
            <a:off x="8283960" y="310284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31"/>
          <p:cNvSpPr/>
          <p:nvPr/>
        </p:nvSpPr>
        <p:spPr>
          <a:xfrm>
            <a:off x="8474400" y="307548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607d8b"/>
                </a:solidFill>
                <a:latin typeface="Quattrocento Sans"/>
                <a:ea typeface="Quattrocento Sans"/>
              </a:rPr>
              <a:t>Exponential backoff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Shape 32"/>
          <p:cNvSpPr/>
          <p:nvPr/>
        </p:nvSpPr>
        <p:spPr>
          <a:xfrm>
            <a:off x="8283960" y="335808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33"/>
          <p:cNvSpPr/>
          <p:nvPr/>
        </p:nvSpPr>
        <p:spPr>
          <a:xfrm>
            <a:off x="8474400" y="333072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607d8b"/>
                </a:solidFill>
                <a:latin typeface="Quattrocento Sans"/>
                <a:ea typeface="Quattrocento Sans"/>
              </a:rPr>
              <a:t>Circuit breaker pattern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hape 34"/>
          <p:cNvSpPr/>
          <p:nvPr/>
        </p:nvSpPr>
        <p:spPr>
          <a:xfrm>
            <a:off x="8283960" y="361332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35"/>
          <p:cNvSpPr/>
          <p:nvPr/>
        </p:nvSpPr>
        <p:spPr>
          <a:xfrm>
            <a:off x="8474400" y="358596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607d8b"/>
                </a:solidFill>
                <a:latin typeface="Quattrocento Sans"/>
                <a:ea typeface="Quattrocento Sans"/>
              </a:rPr>
              <a:t>Dead letter queues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Shape 36"/>
          <p:cNvSpPr/>
          <p:nvPr/>
        </p:nvSpPr>
        <p:spPr>
          <a:xfrm>
            <a:off x="369360" y="4074120"/>
            <a:ext cx="3710880" cy="2598480"/>
          </a:xfrm>
          <a:custGeom>
            <a:avLst/>
            <a:gdLst>
              <a:gd name="textAreaLeft" fmla="*/ 0 w 3710880"/>
              <a:gd name="textAreaRight" fmla="*/ 3711240 w 3710880"/>
              <a:gd name="textAreaTop" fmla="*/ 0 h 2598480"/>
              <a:gd name="textAreaBottom" fmla="*/ 2598840 h 2598480"/>
            </a:gdLst>
            <a:ahLst/>
            <a:rect l="textAreaLeft" t="textAreaTop" r="textAreaRight" b="textAreaBottom"/>
            <a:pathLst>
              <a:path w="3711402" h="2598893">
                <a:moveTo>
                  <a:pt x="109439" y="0"/>
                </a:moveTo>
                <a:lnTo>
                  <a:pt x="3601962" y="0"/>
                </a:lnTo>
                <a:cubicBezTo>
                  <a:pt x="3662404" y="0"/>
                  <a:pt x="3711402" y="48998"/>
                  <a:pt x="3711402" y="109439"/>
                </a:cubicBezTo>
                <a:lnTo>
                  <a:pt x="3711402" y="2489454"/>
                </a:lnTo>
                <a:cubicBezTo>
                  <a:pt x="3711402" y="2549895"/>
                  <a:pt x="3662404" y="2598893"/>
                  <a:pt x="3601962" y="2598893"/>
                </a:cubicBezTo>
                <a:lnTo>
                  <a:pt x="109439" y="2598893"/>
                </a:lnTo>
                <a:cubicBezTo>
                  <a:pt x="48998" y="2598893"/>
                  <a:pt x="0" y="2549895"/>
                  <a:pt x="0" y="2489454"/>
                </a:cubicBezTo>
                <a:lnTo>
                  <a:pt x="0" y="109439"/>
                </a:lnTo>
                <a:cubicBezTo>
                  <a:pt x="0" y="49038"/>
                  <a:pt x="49038" y="0"/>
                  <a:pt x="109439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12700">
            <a:solidFill>
              <a:srgbClr val="4db6ac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Shape 37"/>
          <p:cNvSpPr/>
          <p:nvPr/>
        </p:nvSpPr>
        <p:spPr>
          <a:xfrm>
            <a:off x="519840" y="4224600"/>
            <a:ext cx="437400" cy="437400"/>
          </a:xfrm>
          <a:custGeom>
            <a:avLst/>
            <a:gdLst>
              <a:gd name="textAreaLeft" fmla="*/ 0 w 437400"/>
              <a:gd name="textAreaRight" fmla="*/ 437760 w 437400"/>
              <a:gd name="textAreaTop" fmla="*/ 0 h 437400"/>
              <a:gd name="textAreaBottom" fmla="*/ 437760 h 437400"/>
            </a:gdLst>
            <a:ahLst/>
            <a:rect l="textAreaLeft" t="textAreaTop" r="textAreaRight" b="textAreaBottom"/>
            <a:pathLst>
              <a:path w="437708" h="437708">
                <a:moveTo>
                  <a:pt x="72953" y="0"/>
                </a:moveTo>
                <a:lnTo>
                  <a:pt x="364755" y="0"/>
                </a:lnTo>
                <a:cubicBezTo>
                  <a:pt x="405019" y="0"/>
                  <a:pt x="437708" y="32689"/>
                  <a:pt x="437708" y="72953"/>
                </a:cubicBezTo>
                <a:lnTo>
                  <a:pt x="437708" y="364755"/>
                </a:lnTo>
                <a:cubicBezTo>
                  <a:pt x="437708" y="405046"/>
                  <a:pt x="405046" y="437708"/>
                  <a:pt x="364755" y="437708"/>
                </a:cubicBezTo>
                <a:lnTo>
                  <a:pt x="72953" y="437708"/>
                </a:lnTo>
                <a:cubicBezTo>
                  <a:pt x="32662" y="437708"/>
                  <a:pt x="0" y="405046"/>
                  <a:pt x="0" y="364755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Shape 38"/>
          <p:cNvSpPr/>
          <p:nvPr/>
        </p:nvSpPr>
        <p:spPr>
          <a:xfrm>
            <a:off x="642960" y="4334040"/>
            <a:ext cx="191160" cy="218520"/>
          </a:xfrm>
          <a:custGeom>
            <a:avLst/>
            <a:gdLst>
              <a:gd name="textAreaLeft" fmla="*/ 0 w 191160"/>
              <a:gd name="textAreaRight" fmla="*/ 191520 w 191160"/>
              <a:gd name="textAreaTop" fmla="*/ 0 h 218520"/>
              <a:gd name="textAreaBottom" fmla="*/ 218880 h 218520"/>
            </a:gdLst>
            <a:ahLst/>
            <a:rect l="textAreaLeft" t="textAreaTop" r="textAreaRight" b="textAreaBottom"/>
            <a:pathLst>
              <a:path w="191497" h="218854">
                <a:moveTo>
                  <a:pt x="34196" y="44455"/>
                </a:moveTo>
                <a:cubicBezTo>
                  <a:pt x="39858" y="44455"/>
                  <a:pt x="44455" y="39858"/>
                  <a:pt x="44455" y="34196"/>
                </a:cubicBezTo>
                <a:cubicBezTo>
                  <a:pt x="44455" y="28534"/>
                  <a:pt x="39858" y="23937"/>
                  <a:pt x="34196" y="23937"/>
                </a:cubicBezTo>
                <a:cubicBezTo>
                  <a:pt x="28534" y="23937"/>
                  <a:pt x="23937" y="28534"/>
                  <a:pt x="23937" y="34196"/>
                </a:cubicBezTo>
                <a:cubicBezTo>
                  <a:pt x="23937" y="39858"/>
                  <a:pt x="28534" y="44455"/>
                  <a:pt x="34196" y="44455"/>
                </a:cubicBezTo>
                <a:close/>
                <a:moveTo>
                  <a:pt x="68392" y="34196"/>
                </a:moveTo>
                <a:cubicBezTo>
                  <a:pt x="68392" y="48216"/>
                  <a:pt x="59971" y="60270"/>
                  <a:pt x="47874" y="65528"/>
                </a:cubicBezTo>
                <a:lnTo>
                  <a:pt x="47874" y="95749"/>
                </a:lnTo>
                <a:lnTo>
                  <a:pt x="123105" y="95749"/>
                </a:lnTo>
                <a:cubicBezTo>
                  <a:pt x="134433" y="95749"/>
                  <a:pt x="143623" y="86559"/>
                  <a:pt x="143623" y="75231"/>
                </a:cubicBezTo>
                <a:lnTo>
                  <a:pt x="143623" y="65528"/>
                </a:lnTo>
                <a:cubicBezTo>
                  <a:pt x="131526" y="60270"/>
                  <a:pt x="123105" y="48216"/>
                  <a:pt x="123105" y="34196"/>
                </a:cubicBezTo>
                <a:cubicBezTo>
                  <a:pt x="123105" y="15303"/>
                  <a:pt x="138408" y="0"/>
                  <a:pt x="157301" y="0"/>
                </a:cubicBezTo>
                <a:cubicBezTo>
                  <a:pt x="176195" y="0"/>
                  <a:pt x="191497" y="15303"/>
                  <a:pt x="191497" y="34196"/>
                </a:cubicBezTo>
                <a:cubicBezTo>
                  <a:pt x="191497" y="48216"/>
                  <a:pt x="183077" y="60270"/>
                  <a:pt x="170980" y="65528"/>
                </a:cubicBezTo>
                <a:lnTo>
                  <a:pt x="170980" y="75231"/>
                </a:lnTo>
                <a:cubicBezTo>
                  <a:pt x="170980" y="101690"/>
                  <a:pt x="149565" y="123105"/>
                  <a:pt x="123105" y="123105"/>
                </a:cubicBezTo>
                <a:lnTo>
                  <a:pt x="47874" y="123105"/>
                </a:lnTo>
                <a:lnTo>
                  <a:pt x="47874" y="153326"/>
                </a:lnTo>
                <a:cubicBezTo>
                  <a:pt x="59971" y="158584"/>
                  <a:pt x="68392" y="170638"/>
                  <a:pt x="68392" y="184658"/>
                </a:cubicBezTo>
                <a:cubicBezTo>
                  <a:pt x="68392" y="203551"/>
                  <a:pt x="53089" y="218854"/>
                  <a:pt x="34196" y="218854"/>
                </a:cubicBezTo>
                <a:cubicBezTo>
                  <a:pt x="15303" y="218854"/>
                  <a:pt x="0" y="203551"/>
                  <a:pt x="0" y="184658"/>
                </a:cubicBezTo>
                <a:cubicBezTo>
                  <a:pt x="0" y="170638"/>
                  <a:pt x="8421" y="158584"/>
                  <a:pt x="20518" y="153326"/>
                </a:cubicBezTo>
                <a:lnTo>
                  <a:pt x="20518" y="65571"/>
                </a:lnTo>
                <a:cubicBezTo>
                  <a:pt x="8421" y="60270"/>
                  <a:pt x="0" y="48216"/>
                  <a:pt x="0" y="34196"/>
                </a:cubicBezTo>
                <a:cubicBezTo>
                  <a:pt x="0" y="15303"/>
                  <a:pt x="15303" y="0"/>
                  <a:pt x="34196" y="0"/>
                </a:cubicBezTo>
                <a:cubicBezTo>
                  <a:pt x="53089" y="0"/>
                  <a:pt x="68392" y="15303"/>
                  <a:pt x="68392" y="34196"/>
                </a:cubicBezTo>
                <a:close/>
                <a:moveTo>
                  <a:pt x="167560" y="34196"/>
                </a:moveTo>
                <a:cubicBezTo>
                  <a:pt x="167560" y="28534"/>
                  <a:pt x="162963" y="23937"/>
                  <a:pt x="157301" y="23937"/>
                </a:cubicBezTo>
                <a:cubicBezTo>
                  <a:pt x="151639" y="23937"/>
                  <a:pt x="147043" y="28534"/>
                  <a:pt x="147043" y="34196"/>
                </a:cubicBezTo>
                <a:cubicBezTo>
                  <a:pt x="147043" y="39858"/>
                  <a:pt x="151639" y="44455"/>
                  <a:pt x="157301" y="44455"/>
                </a:cubicBezTo>
                <a:cubicBezTo>
                  <a:pt x="162963" y="44455"/>
                  <a:pt x="167560" y="39858"/>
                  <a:pt x="167560" y="34196"/>
                </a:cubicBezTo>
                <a:close/>
                <a:moveTo>
                  <a:pt x="34196" y="194917"/>
                </a:moveTo>
                <a:cubicBezTo>
                  <a:pt x="39858" y="194917"/>
                  <a:pt x="44455" y="190320"/>
                  <a:pt x="44455" y="184658"/>
                </a:cubicBezTo>
                <a:cubicBezTo>
                  <a:pt x="44455" y="178996"/>
                  <a:pt x="39858" y="174399"/>
                  <a:pt x="34196" y="174399"/>
                </a:cubicBezTo>
                <a:cubicBezTo>
                  <a:pt x="28534" y="174399"/>
                  <a:pt x="23937" y="178996"/>
                  <a:pt x="23937" y="184658"/>
                </a:cubicBezTo>
                <a:cubicBezTo>
                  <a:pt x="23937" y="190320"/>
                  <a:pt x="28534" y="194917"/>
                  <a:pt x="34196" y="194917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 39"/>
          <p:cNvSpPr/>
          <p:nvPr/>
        </p:nvSpPr>
        <p:spPr>
          <a:xfrm>
            <a:off x="1067040" y="4315680"/>
            <a:ext cx="2819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430" spc="-1" strike="noStrike">
                <a:solidFill>
                  <a:srgbClr val="eceff1"/>
                </a:solidFill>
                <a:latin typeface="Liter"/>
                <a:ea typeface="Liter"/>
              </a:rPr>
              <a:t>CI/CD for Data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40"/>
          <p:cNvSpPr/>
          <p:nvPr/>
        </p:nvSpPr>
        <p:spPr>
          <a:xfrm>
            <a:off x="519840" y="4771440"/>
            <a:ext cx="348300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1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Apply software engineering practices to data pipelines: version control, automated testing, code reviews, and continuous deployment with environment promotion.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Shape 41"/>
          <p:cNvSpPr/>
          <p:nvPr/>
        </p:nvSpPr>
        <p:spPr>
          <a:xfrm>
            <a:off x="546120" y="585684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42"/>
          <p:cNvSpPr/>
          <p:nvPr/>
        </p:nvSpPr>
        <p:spPr>
          <a:xfrm>
            <a:off x="736200" y="582948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Git version control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Shape 43"/>
          <p:cNvSpPr/>
          <p:nvPr/>
        </p:nvSpPr>
        <p:spPr>
          <a:xfrm>
            <a:off x="546120" y="611208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44"/>
          <p:cNvSpPr/>
          <p:nvPr/>
        </p:nvSpPr>
        <p:spPr>
          <a:xfrm>
            <a:off x="736200" y="608472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Automated unit tests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45"/>
          <p:cNvSpPr/>
          <p:nvPr/>
        </p:nvSpPr>
        <p:spPr>
          <a:xfrm>
            <a:off x="546120" y="636732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46"/>
          <p:cNvSpPr/>
          <p:nvPr/>
        </p:nvSpPr>
        <p:spPr>
          <a:xfrm>
            <a:off x="736200" y="633996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Environment isolation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Shape 47"/>
          <p:cNvSpPr/>
          <p:nvPr/>
        </p:nvSpPr>
        <p:spPr>
          <a:xfrm>
            <a:off x="4238280" y="4074120"/>
            <a:ext cx="3710880" cy="2598480"/>
          </a:xfrm>
          <a:custGeom>
            <a:avLst/>
            <a:gdLst>
              <a:gd name="textAreaLeft" fmla="*/ 0 w 3710880"/>
              <a:gd name="textAreaRight" fmla="*/ 3711240 w 3710880"/>
              <a:gd name="textAreaTop" fmla="*/ 0 h 2598480"/>
              <a:gd name="textAreaBottom" fmla="*/ 2598840 h 2598480"/>
            </a:gdLst>
            <a:ahLst/>
            <a:rect l="textAreaLeft" t="textAreaTop" r="textAreaRight" b="textAreaBottom"/>
            <a:pathLst>
              <a:path w="3711402" h="2598893">
                <a:moveTo>
                  <a:pt x="109439" y="0"/>
                </a:moveTo>
                <a:lnTo>
                  <a:pt x="3601962" y="0"/>
                </a:lnTo>
                <a:cubicBezTo>
                  <a:pt x="3662404" y="0"/>
                  <a:pt x="3711402" y="48998"/>
                  <a:pt x="3711402" y="109439"/>
                </a:cubicBezTo>
                <a:lnTo>
                  <a:pt x="3711402" y="2489454"/>
                </a:lnTo>
                <a:cubicBezTo>
                  <a:pt x="3711402" y="2549895"/>
                  <a:pt x="3662404" y="2598893"/>
                  <a:pt x="3601962" y="2598893"/>
                </a:cubicBezTo>
                <a:lnTo>
                  <a:pt x="109439" y="2598893"/>
                </a:lnTo>
                <a:cubicBezTo>
                  <a:pt x="48998" y="2598893"/>
                  <a:pt x="0" y="2549895"/>
                  <a:pt x="0" y="2489454"/>
                </a:cubicBezTo>
                <a:lnTo>
                  <a:pt x="0" y="109439"/>
                </a:lnTo>
                <a:cubicBezTo>
                  <a:pt x="0" y="49038"/>
                  <a:pt x="49038" y="0"/>
                  <a:pt x="109439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12700">
            <a:solidFill>
              <a:srgbClr val="ff8a65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48"/>
          <p:cNvSpPr/>
          <p:nvPr/>
        </p:nvSpPr>
        <p:spPr>
          <a:xfrm>
            <a:off x="4388760" y="4224600"/>
            <a:ext cx="437400" cy="437400"/>
          </a:xfrm>
          <a:custGeom>
            <a:avLst/>
            <a:gdLst>
              <a:gd name="textAreaLeft" fmla="*/ 0 w 437400"/>
              <a:gd name="textAreaRight" fmla="*/ 437760 w 437400"/>
              <a:gd name="textAreaTop" fmla="*/ 0 h 437400"/>
              <a:gd name="textAreaBottom" fmla="*/ 437760 h 437400"/>
            </a:gdLst>
            <a:ahLst/>
            <a:rect l="textAreaLeft" t="textAreaTop" r="textAreaRight" b="textAreaBottom"/>
            <a:pathLst>
              <a:path w="437708" h="437708">
                <a:moveTo>
                  <a:pt x="72953" y="0"/>
                </a:moveTo>
                <a:lnTo>
                  <a:pt x="364755" y="0"/>
                </a:lnTo>
                <a:cubicBezTo>
                  <a:pt x="405019" y="0"/>
                  <a:pt x="437708" y="32689"/>
                  <a:pt x="437708" y="72953"/>
                </a:cubicBezTo>
                <a:lnTo>
                  <a:pt x="437708" y="364755"/>
                </a:lnTo>
                <a:cubicBezTo>
                  <a:pt x="437708" y="405046"/>
                  <a:pt x="405046" y="437708"/>
                  <a:pt x="364755" y="437708"/>
                </a:cubicBezTo>
                <a:lnTo>
                  <a:pt x="72953" y="437708"/>
                </a:lnTo>
                <a:cubicBezTo>
                  <a:pt x="32662" y="437708"/>
                  <a:pt x="0" y="405046"/>
                  <a:pt x="0" y="364755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49"/>
          <p:cNvSpPr/>
          <p:nvPr/>
        </p:nvSpPr>
        <p:spPr>
          <a:xfrm>
            <a:off x="4498200" y="4334040"/>
            <a:ext cx="218520" cy="218520"/>
          </a:xfrm>
          <a:custGeom>
            <a:avLst/>
            <a:gdLst>
              <a:gd name="textAreaLeft" fmla="*/ 0 w 218520"/>
              <a:gd name="textAreaRight" fmla="*/ 218880 w 218520"/>
              <a:gd name="textAreaTop" fmla="*/ 0 h 218520"/>
              <a:gd name="textAreaBottom" fmla="*/ 218880 h 218520"/>
            </a:gdLst>
            <a:ahLst/>
            <a:rect l="textAreaLeft" t="textAreaTop" r="textAreaRight" b="textAreaBottom"/>
            <a:pathLst>
              <a:path w="218854" h="218854">
                <a:moveTo>
                  <a:pt x="109427" y="0"/>
                </a:moveTo>
                <a:cubicBezTo>
                  <a:pt x="111393" y="0"/>
                  <a:pt x="113360" y="427"/>
                  <a:pt x="115155" y="1240"/>
                </a:cubicBezTo>
                <a:lnTo>
                  <a:pt x="195686" y="35393"/>
                </a:lnTo>
                <a:cubicBezTo>
                  <a:pt x="205090" y="39368"/>
                  <a:pt x="212100" y="48644"/>
                  <a:pt x="212058" y="59843"/>
                </a:cubicBezTo>
                <a:cubicBezTo>
                  <a:pt x="211844" y="102246"/>
                  <a:pt x="194404" y="179828"/>
                  <a:pt x="120754" y="215093"/>
                </a:cubicBezTo>
                <a:cubicBezTo>
                  <a:pt x="113616" y="218512"/>
                  <a:pt x="105324" y="218512"/>
                  <a:pt x="98185" y="215093"/>
                </a:cubicBezTo>
                <a:cubicBezTo>
                  <a:pt x="24493" y="179828"/>
                  <a:pt x="7096" y="102246"/>
                  <a:pt x="6882" y="59843"/>
                </a:cubicBezTo>
                <a:cubicBezTo>
                  <a:pt x="6839" y="48644"/>
                  <a:pt x="13849" y="39368"/>
                  <a:pt x="23253" y="35393"/>
                </a:cubicBezTo>
                <a:lnTo>
                  <a:pt x="103742" y="1240"/>
                </a:lnTo>
                <a:cubicBezTo>
                  <a:pt x="105537" y="427"/>
                  <a:pt x="107461" y="0"/>
                  <a:pt x="109427" y="0"/>
                </a:cubicBezTo>
                <a:close/>
                <a:moveTo>
                  <a:pt x="109427" y="28554"/>
                </a:moveTo>
                <a:lnTo>
                  <a:pt x="109427" y="190172"/>
                </a:lnTo>
                <a:cubicBezTo>
                  <a:pt x="168415" y="161619"/>
                  <a:pt x="184273" y="98356"/>
                  <a:pt x="184658" y="60484"/>
                </a:cubicBezTo>
                <a:lnTo>
                  <a:pt x="109427" y="28596"/>
                </a:lnTo>
                <a:lnTo>
                  <a:pt x="109427" y="28596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50"/>
          <p:cNvSpPr/>
          <p:nvPr/>
        </p:nvSpPr>
        <p:spPr>
          <a:xfrm>
            <a:off x="4935960" y="4315680"/>
            <a:ext cx="2836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430" spc="-1" strike="noStrike">
                <a:solidFill>
                  <a:srgbClr val="eceff1"/>
                </a:solidFill>
                <a:latin typeface="Liter"/>
                <a:ea typeface="Liter"/>
              </a:rPr>
              <a:t>Data Governance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 51"/>
          <p:cNvSpPr/>
          <p:nvPr/>
        </p:nvSpPr>
        <p:spPr>
          <a:xfrm>
            <a:off x="4388760" y="4771440"/>
            <a:ext cx="348300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1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Implement data quality checks, access controls, and compliance frameworks. Document data dictionaries and maintain clear ownership of datasets.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Shape 52"/>
          <p:cNvSpPr/>
          <p:nvPr/>
        </p:nvSpPr>
        <p:spPr>
          <a:xfrm>
            <a:off x="4415040" y="585684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53"/>
          <p:cNvSpPr/>
          <p:nvPr/>
        </p:nvSpPr>
        <p:spPr>
          <a:xfrm>
            <a:off x="4605120" y="582948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ff8a65"/>
                </a:solidFill>
                <a:latin typeface="Quattrocento Sans"/>
                <a:ea typeface="Quattrocento Sans"/>
              </a:rPr>
              <a:t>Data quality gates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54"/>
          <p:cNvSpPr/>
          <p:nvPr/>
        </p:nvSpPr>
        <p:spPr>
          <a:xfrm>
            <a:off x="4415040" y="611208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55"/>
          <p:cNvSpPr/>
          <p:nvPr/>
        </p:nvSpPr>
        <p:spPr>
          <a:xfrm>
            <a:off x="4605120" y="608472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ff8a65"/>
                </a:solidFill>
                <a:latin typeface="Quattrocento Sans"/>
                <a:ea typeface="Quattrocento Sans"/>
              </a:rPr>
              <a:t>RBAC &amp; encryption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56"/>
          <p:cNvSpPr/>
          <p:nvPr/>
        </p:nvSpPr>
        <p:spPr>
          <a:xfrm>
            <a:off x="4415040" y="636732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57"/>
          <p:cNvSpPr/>
          <p:nvPr/>
        </p:nvSpPr>
        <p:spPr>
          <a:xfrm>
            <a:off x="4605120" y="633996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ff8a65"/>
                </a:solidFill>
                <a:latin typeface="Quattrocento Sans"/>
                <a:ea typeface="Quattrocento Sans"/>
              </a:rPr>
              <a:t>PII detection &amp; masking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Shape 58"/>
          <p:cNvSpPr/>
          <p:nvPr/>
        </p:nvSpPr>
        <p:spPr>
          <a:xfrm>
            <a:off x="8107560" y="4074120"/>
            <a:ext cx="3710880" cy="2598480"/>
          </a:xfrm>
          <a:custGeom>
            <a:avLst/>
            <a:gdLst>
              <a:gd name="textAreaLeft" fmla="*/ 0 w 3710880"/>
              <a:gd name="textAreaRight" fmla="*/ 3711240 w 3710880"/>
              <a:gd name="textAreaTop" fmla="*/ 0 h 2598480"/>
              <a:gd name="textAreaBottom" fmla="*/ 2598840 h 2598480"/>
            </a:gdLst>
            <a:ahLst/>
            <a:rect l="textAreaLeft" t="textAreaTop" r="textAreaRight" b="textAreaBottom"/>
            <a:pathLst>
              <a:path w="3711402" h="2598893">
                <a:moveTo>
                  <a:pt x="109439" y="0"/>
                </a:moveTo>
                <a:lnTo>
                  <a:pt x="3601962" y="0"/>
                </a:lnTo>
                <a:cubicBezTo>
                  <a:pt x="3662404" y="0"/>
                  <a:pt x="3711402" y="48998"/>
                  <a:pt x="3711402" y="109439"/>
                </a:cubicBezTo>
                <a:lnTo>
                  <a:pt x="3711402" y="2489454"/>
                </a:lnTo>
                <a:cubicBezTo>
                  <a:pt x="3711402" y="2549895"/>
                  <a:pt x="3662404" y="2598893"/>
                  <a:pt x="3601962" y="2598893"/>
                </a:cubicBezTo>
                <a:lnTo>
                  <a:pt x="109439" y="2598893"/>
                </a:lnTo>
                <a:cubicBezTo>
                  <a:pt x="48998" y="2598893"/>
                  <a:pt x="0" y="2549895"/>
                  <a:pt x="0" y="2489454"/>
                </a:cubicBezTo>
                <a:lnTo>
                  <a:pt x="0" y="109439"/>
                </a:lnTo>
                <a:cubicBezTo>
                  <a:pt x="0" y="49038"/>
                  <a:pt x="49038" y="0"/>
                  <a:pt x="109439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59"/>
          <p:cNvSpPr/>
          <p:nvPr/>
        </p:nvSpPr>
        <p:spPr>
          <a:xfrm>
            <a:off x="8258040" y="4224600"/>
            <a:ext cx="437400" cy="437400"/>
          </a:xfrm>
          <a:custGeom>
            <a:avLst/>
            <a:gdLst>
              <a:gd name="textAreaLeft" fmla="*/ 0 w 437400"/>
              <a:gd name="textAreaRight" fmla="*/ 437760 w 437400"/>
              <a:gd name="textAreaTop" fmla="*/ 0 h 437400"/>
              <a:gd name="textAreaBottom" fmla="*/ 437760 h 437400"/>
            </a:gdLst>
            <a:ahLst/>
            <a:rect l="textAreaLeft" t="textAreaTop" r="textAreaRight" b="textAreaBottom"/>
            <a:pathLst>
              <a:path w="437708" h="437708">
                <a:moveTo>
                  <a:pt x="72953" y="0"/>
                </a:moveTo>
                <a:lnTo>
                  <a:pt x="364755" y="0"/>
                </a:lnTo>
                <a:cubicBezTo>
                  <a:pt x="405019" y="0"/>
                  <a:pt x="437708" y="32689"/>
                  <a:pt x="437708" y="72953"/>
                </a:cubicBezTo>
                <a:lnTo>
                  <a:pt x="437708" y="364755"/>
                </a:lnTo>
                <a:cubicBezTo>
                  <a:pt x="437708" y="405046"/>
                  <a:pt x="405046" y="437708"/>
                  <a:pt x="364755" y="437708"/>
                </a:cubicBezTo>
                <a:lnTo>
                  <a:pt x="72953" y="437708"/>
                </a:lnTo>
                <a:cubicBezTo>
                  <a:pt x="32662" y="437708"/>
                  <a:pt x="0" y="405046"/>
                  <a:pt x="0" y="364755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Shape 60"/>
          <p:cNvSpPr/>
          <p:nvPr/>
        </p:nvSpPr>
        <p:spPr>
          <a:xfrm>
            <a:off x="8408520" y="4334040"/>
            <a:ext cx="136440" cy="218520"/>
          </a:xfrm>
          <a:custGeom>
            <a:avLst/>
            <a:gdLst>
              <a:gd name="textAreaLeft" fmla="*/ 0 w 136440"/>
              <a:gd name="textAreaRight" fmla="*/ 136800 w 136440"/>
              <a:gd name="textAreaTop" fmla="*/ 0 h 218520"/>
              <a:gd name="textAreaBottom" fmla="*/ 218880 h 218520"/>
            </a:gdLst>
            <a:ahLst/>
            <a:rect l="textAreaLeft" t="textAreaTop" r="textAreaRight" b="textAreaBottom"/>
            <a:pathLst>
              <a:path w="136784" h="218854">
                <a:moveTo>
                  <a:pt x="58133" y="10259"/>
                </a:moveTo>
                <a:cubicBezTo>
                  <a:pt x="58133" y="4574"/>
                  <a:pt x="62707" y="0"/>
                  <a:pt x="68392" y="0"/>
                </a:cubicBezTo>
                <a:cubicBezTo>
                  <a:pt x="74077" y="0"/>
                  <a:pt x="78651" y="4574"/>
                  <a:pt x="78651" y="10259"/>
                </a:cubicBezTo>
                <a:lnTo>
                  <a:pt x="78651" y="27357"/>
                </a:lnTo>
                <a:lnTo>
                  <a:pt x="102588" y="27357"/>
                </a:lnTo>
                <a:cubicBezTo>
                  <a:pt x="110154" y="27357"/>
                  <a:pt x="116266" y="33469"/>
                  <a:pt x="116266" y="41035"/>
                </a:cubicBezTo>
                <a:cubicBezTo>
                  <a:pt x="116266" y="48601"/>
                  <a:pt x="110154" y="54714"/>
                  <a:pt x="102588" y="54714"/>
                </a:cubicBezTo>
                <a:lnTo>
                  <a:pt x="53474" y="54714"/>
                </a:lnTo>
                <a:cubicBezTo>
                  <a:pt x="42830" y="54714"/>
                  <a:pt x="34196" y="63348"/>
                  <a:pt x="34196" y="73992"/>
                </a:cubicBezTo>
                <a:cubicBezTo>
                  <a:pt x="34196" y="83609"/>
                  <a:pt x="41249" y="91731"/>
                  <a:pt x="50738" y="93099"/>
                </a:cubicBezTo>
                <a:lnTo>
                  <a:pt x="89893" y="98698"/>
                </a:lnTo>
                <a:cubicBezTo>
                  <a:pt x="112889" y="101989"/>
                  <a:pt x="129945" y="121652"/>
                  <a:pt x="129945" y="144863"/>
                </a:cubicBezTo>
                <a:cubicBezTo>
                  <a:pt x="129945" y="170638"/>
                  <a:pt x="109042" y="191497"/>
                  <a:pt x="83310" y="191497"/>
                </a:cubicBezTo>
                <a:lnTo>
                  <a:pt x="78651" y="191497"/>
                </a:lnTo>
                <a:lnTo>
                  <a:pt x="78651" y="208595"/>
                </a:lnTo>
                <a:cubicBezTo>
                  <a:pt x="78651" y="214280"/>
                  <a:pt x="74077" y="218854"/>
                  <a:pt x="68392" y="218854"/>
                </a:cubicBezTo>
                <a:cubicBezTo>
                  <a:pt x="62707" y="218854"/>
                  <a:pt x="58133" y="214280"/>
                  <a:pt x="58133" y="208595"/>
                </a:cubicBezTo>
                <a:lnTo>
                  <a:pt x="58133" y="191497"/>
                </a:lnTo>
                <a:lnTo>
                  <a:pt x="27357" y="191497"/>
                </a:lnTo>
                <a:cubicBezTo>
                  <a:pt x="19791" y="191497"/>
                  <a:pt x="13678" y="185385"/>
                  <a:pt x="13678" y="177819"/>
                </a:cubicBezTo>
                <a:cubicBezTo>
                  <a:pt x="13678" y="170253"/>
                  <a:pt x="19791" y="164141"/>
                  <a:pt x="27357" y="164141"/>
                </a:cubicBezTo>
                <a:lnTo>
                  <a:pt x="83310" y="164141"/>
                </a:lnTo>
                <a:cubicBezTo>
                  <a:pt x="93953" y="164141"/>
                  <a:pt x="102588" y="155506"/>
                  <a:pt x="102588" y="144863"/>
                </a:cubicBezTo>
                <a:cubicBezTo>
                  <a:pt x="102588" y="135245"/>
                  <a:pt x="95535" y="127123"/>
                  <a:pt x="86046" y="125756"/>
                </a:cubicBezTo>
                <a:lnTo>
                  <a:pt x="46891" y="120156"/>
                </a:lnTo>
                <a:cubicBezTo>
                  <a:pt x="23894" y="116907"/>
                  <a:pt x="6839" y="97202"/>
                  <a:pt x="6839" y="73992"/>
                </a:cubicBezTo>
                <a:cubicBezTo>
                  <a:pt x="6839" y="48259"/>
                  <a:pt x="27741" y="27357"/>
                  <a:pt x="53474" y="27357"/>
                </a:cubicBezTo>
                <a:lnTo>
                  <a:pt x="58133" y="27357"/>
                </a:lnTo>
                <a:lnTo>
                  <a:pt x="58133" y="10259"/>
                </a:ln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61"/>
          <p:cNvSpPr/>
          <p:nvPr/>
        </p:nvSpPr>
        <p:spPr>
          <a:xfrm>
            <a:off x="8804880" y="4315680"/>
            <a:ext cx="2625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430" spc="-1" strike="noStrike">
                <a:solidFill>
                  <a:srgbClr val="eceff1"/>
                </a:solidFill>
                <a:latin typeface="Liter"/>
                <a:ea typeface="Liter"/>
              </a:rPr>
              <a:t>Cost Optimization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62"/>
          <p:cNvSpPr/>
          <p:nvPr/>
        </p:nvSpPr>
        <p:spPr>
          <a:xfrm>
            <a:off x="8258040" y="4771440"/>
            <a:ext cx="348300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15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Monitor compute and storage costs. Use appropriate instance types, implement data lifecycle policies, and optimize query performance.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Shape 63"/>
          <p:cNvSpPr/>
          <p:nvPr/>
        </p:nvSpPr>
        <p:spPr>
          <a:xfrm>
            <a:off x="8283960" y="585684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64"/>
          <p:cNvSpPr/>
          <p:nvPr/>
        </p:nvSpPr>
        <p:spPr>
          <a:xfrm>
            <a:off x="8474400" y="582948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607d8b"/>
                </a:solidFill>
                <a:latin typeface="Quattrocento Sans"/>
                <a:ea typeface="Quattrocento Sans"/>
              </a:rPr>
              <a:t>Right-size resources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Shape 65"/>
          <p:cNvSpPr/>
          <p:nvPr/>
        </p:nvSpPr>
        <p:spPr>
          <a:xfrm>
            <a:off x="8283960" y="611208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66"/>
          <p:cNvSpPr/>
          <p:nvPr/>
        </p:nvSpPr>
        <p:spPr>
          <a:xfrm>
            <a:off x="8474400" y="608472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607d8b"/>
                </a:solidFill>
                <a:latin typeface="Quattrocento Sans"/>
                <a:ea typeface="Quattrocento Sans"/>
              </a:rPr>
              <a:t>Data tiering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Shape 67"/>
          <p:cNvSpPr/>
          <p:nvPr/>
        </p:nvSpPr>
        <p:spPr>
          <a:xfrm>
            <a:off x="8283960" y="6367320"/>
            <a:ext cx="111240" cy="127440"/>
          </a:xfrm>
          <a:custGeom>
            <a:avLst/>
            <a:gdLst>
              <a:gd name="textAreaLeft" fmla="*/ 0 w 111240"/>
              <a:gd name="textAreaRight" fmla="*/ 111600 w 111240"/>
              <a:gd name="textAreaTop" fmla="*/ 0 h 127440"/>
              <a:gd name="textAreaBottom" fmla="*/ 127800 h 127440"/>
            </a:gdLst>
            <a:ahLst/>
            <a:rect l="textAreaLeft" t="textAreaTop" r="textAreaRight" b="textAreaBottom"/>
            <a:pathLst>
              <a:path w="111707" h="127665">
                <a:moveTo>
                  <a:pt x="108415" y="17479"/>
                </a:moveTo>
                <a:cubicBezTo>
                  <a:pt x="111981" y="20072"/>
                  <a:pt x="112779" y="25059"/>
                  <a:pt x="110186" y="28625"/>
                </a:cubicBezTo>
                <a:lnTo>
                  <a:pt x="46353" y="116395"/>
                </a:lnTo>
                <a:cubicBezTo>
                  <a:pt x="44982" y="118290"/>
                  <a:pt x="42863" y="119461"/>
                  <a:pt x="40519" y="119661"/>
                </a:cubicBezTo>
                <a:cubicBezTo>
                  <a:pt x="38175" y="119860"/>
                  <a:pt x="35906" y="118988"/>
                  <a:pt x="34260" y="117342"/>
                </a:cubicBezTo>
                <a:lnTo>
                  <a:pt x="2344" y="85426"/>
                </a:lnTo>
                <a:cubicBezTo>
                  <a:pt x="-773" y="82309"/>
                  <a:pt x="-773" y="77247"/>
                  <a:pt x="2344" y="74130"/>
                </a:cubicBezTo>
                <a:cubicBezTo>
                  <a:pt x="5461" y="71014"/>
                  <a:pt x="10522" y="71014"/>
                  <a:pt x="13639" y="74130"/>
                </a:cubicBezTo>
                <a:lnTo>
                  <a:pt x="38948" y="99439"/>
                </a:lnTo>
                <a:lnTo>
                  <a:pt x="97295" y="19225"/>
                </a:lnTo>
                <a:cubicBezTo>
                  <a:pt x="99888" y="15659"/>
                  <a:pt x="104875" y="14861"/>
                  <a:pt x="108440" y="17454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 68"/>
          <p:cNvSpPr/>
          <p:nvPr/>
        </p:nvSpPr>
        <p:spPr>
          <a:xfrm>
            <a:off x="8474400" y="6339960"/>
            <a:ext cx="3257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10" spc="-1" strike="noStrike">
                <a:solidFill>
                  <a:srgbClr val="607d8b"/>
                </a:solidFill>
                <a:latin typeface="Quattrocento Sans"/>
                <a:ea typeface="Quattrocento Sans"/>
              </a:rPr>
              <a:t>Query optimization</a:t>
            </a:r>
            <a:endParaRPr b="0" lang="en-US" sz="101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Text 0"/>
          <p:cNvSpPr/>
          <p:nvPr/>
        </p:nvSpPr>
        <p:spPr>
          <a:xfrm>
            <a:off x="370440" y="370440"/>
            <a:ext cx="115246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70" spc="55" strike="noStrike">
                <a:solidFill>
                  <a:srgbClr val="4db6ac"/>
                </a:solidFill>
                <a:latin typeface="Quattrocento Sans"/>
                <a:ea typeface="Quattrocento Sans"/>
              </a:rPr>
              <a:t>REAL-WORLD EXAMPLE</a:t>
            </a:r>
            <a:endParaRPr b="0" lang="en-US" sz="11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1"/>
          <p:cNvSpPr/>
          <p:nvPr/>
        </p:nvSpPr>
        <p:spPr>
          <a:xfrm>
            <a:off x="370440" y="667080"/>
            <a:ext cx="1161720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620" spc="-1" strike="noStrike">
                <a:solidFill>
                  <a:srgbClr val="eceff1"/>
                </a:solidFill>
                <a:latin typeface="Liter"/>
                <a:ea typeface="Liter"/>
              </a:rPr>
              <a:t>Case Study: Retail Company Data Integration</a:t>
            </a:r>
            <a:endParaRPr b="0" lang="en-US" sz="26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2"/>
          <p:cNvSpPr/>
          <p:nvPr/>
        </p:nvSpPr>
        <p:spPr>
          <a:xfrm>
            <a:off x="370440" y="1111680"/>
            <a:ext cx="115340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32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Integrating CRM, ERP, and Web Analytics for Unified Business Intelligence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Shape 3"/>
          <p:cNvSpPr/>
          <p:nvPr/>
        </p:nvSpPr>
        <p:spPr>
          <a:xfrm>
            <a:off x="375120" y="1451880"/>
            <a:ext cx="6744240" cy="1972800"/>
          </a:xfrm>
          <a:custGeom>
            <a:avLst/>
            <a:gdLst>
              <a:gd name="textAreaLeft" fmla="*/ 0 w 6744240"/>
              <a:gd name="textAreaRight" fmla="*/ 6744600 w 6744240"/>
              <a:gd name="textAreaTop" fmla="*/ 0 h 1972800"/>
              <a:gd name="textAreaBottom" fmla="*/ 1973160 h 1972800"/>
            </a:gdLst>
            <a:ahLst/>
            <a:rect l="textAreaLeft" t="textAreaTop" r="textAreaRight" b="textAreaBottom"/>
            <a:pathLst>
              <a:path w="6744511" h="1973325">
                <a:moveTo>
                  <a:pt x="111177" y="0"/>
                </a:moveTo>
                <a:lnTo>
                  <a:pt x="6633333" y="0"/>
                </a:lnTo>
                <a:cubicBezTo>
                  <a:pt x="6694735" y="0"/>
                  <a:pt x="6744511" y="49776"/>
                  <a:pt x="6744511" y="111177"/>
                </a:cubicBezTo>
                <a:lnTo>
                  <a:pt x="6744511" y="1862148"/>
                </a:lnTo>
                <a:cubicBezTo>
                  <a:pt x="6744511" y="1923550"/>
                  <a:pt x="6694735" y="1973325"/>
                  <a:pt x="6633333" y="1973325"/>
                </a:cubicBezTo>
                <a:lnTo>
                  <a:pt x="111177" y="1973325"/>
                </a:lnTo>
                <a:cubicBezTo>
                  <a:pt x="49776" y="1973325"/>
                  <a:pt x="0" y="1923550"/>
                  <a:pt x="0" y="1862148"/>
                </a:cubicBezTo>
                <a:lnTo>
                  <a:pt x="0" y="111177"/>
                </a:lnTo>
                <a:cubicBezTo>
                  <a:pt x="0" y="49817"/>
                  <a:pt x="49817" y="0"/>
                  <a:pt x="111177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Shape 4"/>
          <p:cNvSpPr/>
          <p:nvPr/>
        </p:nvSpPr>
        <p:spPr>
          <a:xfrm>
            <a:off x="572040" y="1651320"/>
            <a:ext cx="124560" cy="166320"/>
          </a:xfrm>
          <a:custGeom>
            <a:avLst/>
            <a:gdLst>
              <a:gd name="textAreaLeft" fmla="*/ 0 w 124560"/>
              <a:gd name="textAreaRight" fmla="*/ 124920 w 124560"/>
              <a:gd name="textAreaTop" fmla="*/ 0 h 166320"/>
              <a:gd name="textAreaBottom" fmla="*/ 166680 h 166320"/>
            </a:gdLst>
            <a:ahLst/>
            <a:rect l="textAreaLeft" t="textAreaTop" r="textAreaRight" b="textAreaBottom"/>
            <a:pathLst>
              <a:path w="125070" h="166760">
                <a:moveTo>
                  <a:pt x="20845" y="0"/>
                </a:moveTo>
                <a:cubicBezTo>
                  <a:pt x="9348" y="0"/>
                  <a:pt x="0" y="9348"/>
                  <a:pt x="0" y="20845"/>
                </a:cubicBezTo>
                <a:lnTo>
                  <a:pt x="0" y="145915"/>
                </a:lnTo>
                <a:cubicBezTo>
                  <a:pt x="0" y="157412"/>
                  <a:pt x="9348" y="166760"/>
                  <a:pt x="20845" y="166760"/>
                </a:cubicBezTo>
                <a:lnTo>
                  <a:pt x="104225" y="166760"/>
                </a:lnTo>
                <a:cubicBezTo>
                  <a:pt x="115722" y="166760"/>
                  <a:pt x="125070" y="157412"/>
                  <a:pt x="125070" y="145915"/>
                </a:cubicBezTo>
                <a:lnTo>
                  <a:pt x="125070" y="20845"/>
                </a:lnTo>
                <a:cubicBezTo>
                  <a:pt x="125070" y="9348"/>
                  <a:pt x="115722" y="0"/>
                  <a:pt x="104225" y="0"/>
                </a:cubicBezTo>
                <a:lnTo>
                  <a:pt x="20845" y="0"/>
                </a:lnTo>
                <a:close/>
                <a:moveTo>
                  <a:pt x="57324" y="114647"/>
                </a:moveTo>
                <a:lnTo>
                  <a:pt x="67746" y="114647"/>
                </a:lnTo>
                <a:cubicBezTo>
                  <a:pt x="73511" y="114647"/>
                  <a:pt x="78169" y="119305"/>
                  <a:pt x="78169" y="125070"/>
                </a:cubicBezTo>
                <a:lnTo>
                  <a:pt x="78169" y="151126"/>
                </a:lnTo>
                <a:lnTo>
                  <a:pt x="46901" y="151126"/>
                </a:lnTo>
                <a:lnTo>
                  <a:pt x="46901" y="125070"/>
                </a:lnTo>
                <a:cubicBezTo>
                  <a:pt x="46901" y="119305"/>
                  <a:pt x="51559" y="114647"/>
                  <a:pt x="57324" y="114647"/>
                </a:cubicBezTo>
                <a:close/>
                <a:moveTo>
                  <a:pt x="31267" y="36479"/>
                </a:moveTo>
                <a:cubicBezTo>
                  <a:pt x="31267" y="33613"/>
                  <a:pt x="33613" y="31267"/>
                  <a:pt x="36479" y="31267"/>
                </a:cubicBezTo>
                <a:lnTo>
                  <a:pt x="46901" y="31267"/>
                </a:lnTo>
                <a:cubicBezTo>
                  <a:pt x="49767" y="31267"/>
                  <a:pt x="52112" y="33613"/>
                  <a:pt x="52112" y="36479"/>
                </a:cubicBezTo>
                <a:lnTo>
                  <a:pt x="52112" y="46901"/>
                </a:lnTo>
                <a:cubicBezTo>
                  <a:pt x="52112" y="49767"/>
                  <a:pt x="49767" y="52112"/>
                  <a:pt x="46901" y="52112"/>
                </a:cubicBezTo>
                <a:lnTo>
                  <a:pt x="36479" y="52112"/>
                </a:lnTo>
                <a:cubicBezTo>
                  <a:pt x="33613" y="52112"/>
                  <a:pt x="31267" y="49767"/>
                  <a:pt x="31267" y="46901"/>
                </a:cubicBezTo>
                <a:lnTo>
                  <a:pt x="31267" y="36479"/>
                </a:lnTo>
                <a:close/>
                <a:moveTo>
                  <a:pt x="78169" y="31267"/>
                </a:moveTo>
                <a:lnTo>
                  <a:pt x="88591" y="31267"/>
                </a:lnTo>
                <a:cubicBezTo>
                  <a:pt x="91457" y="31267"/>
                  <a:pt x="93802" y="33613"/>
                  <a:pt x="93802" y="36479"/>
                </a:cubicBezTo>
                <a:lnTo>
                  <a:pt x="93802" y="46901"/>
                </a:lnTo>
                <a:cubicBezTo>
                  <a:pt x="93802" y="49767"/>
                  <a:pt x="91457" y="52112"/>
                  <a:pt x="88591" y="52112"/>
                </a:cubicBezTo>
                <a:lnTo>
                  <a:pt x="78169" y="52112"/>
                </a:lnTo>
                <a:cubicBezTo>
                  <a:pt x="75303" y="52112"/>
                  <a:pt x="72957" y="49767"/>
                  <a:pt x="72957" y="46901"/>
                </a:cubicBezTo>
                <a:lnTo>
                  <a:pt x="72957" y="36479"/>
                </a:lnTo>
                <a:cubicBezTo>
                  <a:pt x="72957" y="33613"/>
                  <a:pt x="75303" y="31267"/>
                  <a:pt x="78169" y="31267"/>
                </a:cubicBezTo>
                <a:close/>
                <a:moveTo>
                  <a:pt x="31267" y="78169"/>
                </a:moveTo>
                <a:cubicBezTo>
                  <a:pt x="31267" y="75303"/>
                  <a:pt x="33613" y="72957"/>
                  <a:pt x="36479" y="72957"/>
                </a:cubicBezTo>
                <a:lnTo>
                  <a:pt x="46901" y="72957"/>
                </a:lnTo>
                <a:cubicBezTo>
                  <a:pt x="49767" y="72957"/>
                  <a:pt x="52112" y="75303"/>
                  <a:pt x="52112" y="78169"/>
                </a:cubicBezTo>
                <a:lnTo>
                  <a:pt x="52112" y="88591"/>
                </a:lnTo>
                <a:cubicBezTo>
                  <a:pt x="52112" y="91457"/>
                  <a:pt x="49767" y="93802"/>
                  <a:pt x="46901" y="93802"/>
                </a:cubicBezTo>
                <a:lnTo>
                  <a:pt x="36479" y="93802"/>
                </a:lnTo>
                <a:cubicBezTo>
                  <a:pt x="33613" y="93802"/>
                  <a:pt x="31267" y="91457"/>
                  <a:pt x="31267" y="88591"/>
                </a:cubicBezTo>
                <a:lnTo>
                  <a:pt x="31267" y="78169"/>
                </a:lnTo>
                <a:close/>
                <a:moveTo>
                  <a:pt x="78169" y="72957"/>
                </a:moveTo>
                <a:lnTo>
                  <a:pt x="88591" y="72957"/>
                </a:lnTo>
                <a:cubicBezTo>
                  <a:pt x="91457" y="72957"/>
                  <a:pt x="93802" y="75303"/>
                  <a:pt x="93802" y="78169"/>
                </a:cubicBezTo>
                <a:lnTo>
                  <a:pt x="93802" y="88591"/>
                </a:lnTo>
                <a:cubicBezTo>
                  <a:pt x="93802" y="91457"/>
                  <a:pt x="91457" y="93802"/>
                  <a:pt x="88591" y="93802"/>
                </a:cubicBezTo>
                <a:lnTo>
                  <a:pt x="78169" y="93802"/>
                </a:lnTo>
                <a:cubicBezTo>
                  <a:pt x="75303" y="93802"/>
                  <a:pt x="72957" y="91457"/>
                  <a:pt x="72957" y="88591"/>
                </a:cubicBezTo>
                <a:lnTo>
                  <a:pt x="72957" y="78169"/>
                </a:lnTo>
                <a:cubicBezTo>
                  <a:pt x="72957" y="75303"/>
                  <a:pt x="75303" y="72957"/>
                  <a:pt x="78169" y="72957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5"/>
          <p:cNvSpPr/>
          <p:nvPr/>
        </p:nvSpPr>
        <p:spPr>
          <a:xfrm>
            <a:off x="795240" y="1604880"/>
            <a:ext cx="62546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320" spc="-1" strike="noStrike">
                <a:solidFill>
                  <a:srgbClr val="4db6ac"/>
                </a:solidFill>
                <a:latin typeface="Liter"/>
                <a:ea typeface="Liter"/>
              </a:rPr>
              <a:t>The Challenge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6"/>
          <p:cNvSpPr/>
          <p:nvPr/>
        </p:nvSpPr>
        <p:spPr>
          <a:xfrm>
            <a:off x="528120" y="1975320"/>
            <a:ext cx="651240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17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A mid-size retail company with 50+ stores struggled with siloed data across multiple systems. Leadership couldn't get a unified view of customer behavior, inventory, and sales performance.</a:t>
            </a:r>
            <a:endParaRPr b="0" lang="en-US" sz="11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Shape 7"/>
          <p:cNvSpPr/>
          <p:nvPr/>
        </p:nvSpPr>
        <p:spPr>
          <a:xfrm>
            <a:off x="528120" y="2640240"/>
            <a:ext cx="2075040" cy="703800"/>
          </a:xfrm>
          <a:custGeom>
            <a:avLst/>
            <a:gdLst>
              <a:gd name="textAreaLeft" fmla="*/ 0 w 2075040"/>
              <a:gd name="textAreaRight" fmla="*/ 2075400 w 2075040"/>
              <a:gd name="textAreaTop" fmla="*/ 0 h 703800"/>
              <a:gd name="textAreaBottom" fmla="*/ 704160 h 703800"/>
            </a:gdLst>
            <a:ahLst/>
            <a:rect l="textAreaLeft" t="textAreaTop" r="textAreaRight" b="textAreaBottom"/>
            <a:pathLst>
              <a:path w="2075234" h="704097">
                <a:moveTo>
                  <a:pt x="74113" y="0"/>
                </a:moveTo>
                <a:lnTo>
                  <a:pt x="2001121" y="0"/>
                </a:lnTo>
                <a:cubicBezTo>
                  <a:pt x="2042052" y="0"/>
                  <a:pt x="2075234" y="33182"/>
                  <a:pt x="2075234" y="74113"/>
                </a:cubicBezTo>
                <a:lnTo>
                  <a:pt x="2075234" y="629984"/>
                </a:lnTo>
                <a:cubicBezTo>
                  <a:pt x="2075234" y="670916"/>
                  <a:pt x="2042052" y="704097"/>
                  <a:pt x="2001121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8"/>
          <p:cNvSpPr/>
          <p:nvPr/>
        </p:nvSpPr>
        <p:spPr>
          <a:xfrm>
            <a:off x="583560" y="2751480"/>
            <a:ext cx="19638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</a:pPr>
            <a:r>
              <a:rPr b="1" lang="en-US" sz="175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3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9"/>
          <p:cNvSpPr/>
          <p:nvPr/>
        </p:nvSpPr>
        <p:spPr>
          <a:xfrm>
            <a:off x="606960" y="3048120"/>
            <a:ext cx="19173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2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Data Silos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Shape 10"/>
          <p:cNvSpPr/>
          <p:nvPr/>
        </p:nvSpPr>
        <p:spPr>
          <a:xfrm>
            <a:off x="2712240" y="2640240"/>
            <a:ext cx="2075040" cy="703800"/>
          </a:xfrm>
          <a:custGeom>
            <a:avLst/>
            <a:gdLst>
              <a:gd name="textAreaLeft" fmla="*/ 0 w 2075040"/>
              <a:gd name="textAreaRight" fmla="*/ 2075400 w 2075040"/>
              <a:gd name="textAreaTop" fmla="*/ 0 h 703800"/>
              <a:gd name="textAreaBottom" fmla="*/ 704160 h 703800"/>
            </a:gdLst>
            <a:ahLst/>
            <a:rect l="textAreaLeft" t="textAreaTop" r="textAreaRight" b="textAreaBottom"/>
            <a:pathLst>
              <a:path w="2075234" h="704097">
                <a:moveTo>
                  <a:pt x="74113" y="0"/>
                </a:moveTo>
                <a:lnTo>
                  <a:pt x="2001121" y="0"/>
                </a:lnTo>
                <a:cubicBezTo>
                  <a:pt x="2042052" y="0"/>
                  <a:pt x="2075234" y="33182"/>
                  <a:pt x="2075234" y="74113"/>
                </a:cubicBezTo>
                <a:lnTo>
                  <a:pt x="2075234" y="629984"/>
                </a:lnTo>
                <a:cubicBezTo>
                  <a:pt x="2075234" y="670916"/>
                  <a:pt x="2042052" y="704097"/>
                  <a:pt x="2001121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 11"/>
          <p:cNvSpPr/>
          <p:nvPr/>
        </p:nvSpPr>
        <p:spPr>
          <a:xfrm>
            <a:off x="2768040" y="2751480"/>
            <a:ext cx="19638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</a:pPr>
            <a:r>
              <a:rPr b="1" lang="en-US" sz="1750" spc="-1" strike="noStrike">
                <a:solidFill>
                  <a:srgbClr val="ff8a65"/>
                </a:solidFill>
                <a:latin typeface="Quattrocento Sans"/>
                <a:ea typeface="Quattrocento Sans"/>
              </a:rPr>
              <a:t>24h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12"/>
          <p:cNvSpPr/>
          <p:nvPr/>
        </p:nvSpPr>
        <p:spPr>
          <a:xfrm>
            <a:off x="2791080" y="3048120"/>
            <a:ext cx="19173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2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Report Delay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Shape 13"/>
          <p:cNvSpPr/>
          <p:nvPr/>
        </p:nvSpPr>
        <p:spPr>
          <a:xfrm>
            <a:off x="4896720" y="2640240"/>
            <a:ext cx="2075040" cy="703800"/>
          </a:xfrm>
          <a:custGeom>
            <a:avLst/>
            <a:gdLst>
              <a:gd name="textAreaLeft" fmla="*/ 0 w 2075040"/>
              <a:gd name="textAreaRight" fmla="*/ 2075400 w 2075040"/>
              <a:gd name="textAreaTop" fmla="*/ 0 h 703800"/>
              <a:gd name="textAreaBottom" fmla="*/ 704160 h 703800"/>
            </a:gdLst>
            <a:ahLst/>
            <a:rect l="textAreaLeft" t="textAreaTop" r="textAreaRight" b="textAreaBottom"/>
            <a:pathLst>
              <a:path w="2075234" h="704097">
                <a:moveTo>
                  <a:pt x="74113" y="0"/>
                </a:moveTo>
                <a:lnTo>
                  <a:pt x="2001121" y="0"/>
                </a:lnTo>
                <a:cubicBezTo>
                  <a:pt x="2042052" y="0"/>
                  <a:pt x="2075234" y="33182"/>
                  <a:pt x="2075234" y="74113"/>
                </a:cubicBezTo>
                <a:lnTo>
                  <a:pt x="2075234" y="629984"/>
                </a:lnTo>
                <a:cubicBezTo>
                  <a:pt x="2075234" y="670916"/>
                  <a:pt x="2042052" y="704097"/>
                  <a:pt x="2001121" y="704097"/>
                </a:cubicBezTo>
                <a:lnTo>
                  <a:pt x="74113" y="704097"/>
                </a:lnTo>
                <a:cubicBezTo>
                  <a:pt x="33209" y="704097"/>
                  <a:pt x="0" y="670888"/>
                  <a:pt x="0" y="629984"/>
                </a:cubicBezTo>
                <a:lnTo>
                  <a:pt x="0" y="74113"/>
                </a:lnTo>
                <a:cubicBezTo>
                  <a:pt x="0" y="33209"/>
                  <a:pt x="33209" y="0"/>
                  <a:pt x="74113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14"/>
          <p:cNvSpPr/>
          <p:nvPr/>
        </p:nvSpPr>
        <p:spPr>
          <a:xfrm>
            <a:off x="4952160" y="2751480"/>
            <a:ext cx="19638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</a:pPr>
            <a:r>
              <a:rPr b="1" lang="en-US" sz="1750" spc="-1" strike="noStrike">
                <a:solidFill>
                  <a:srgbClr val="607d8b"/>
                </a:solidFill>
                <a:latin typeface="Quattrocento Sans"/>
                <a:ea typeface="Quattrocento Sans"/>
              </a:rPr>
              <a:t>0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15"/>
          <p:cNvSpPr/>
          <p:nvPr/>
        </p:nvSpPr>
        <p:spPr>
          <a:xfrm>
            <a:off x="4975560" y="3048120"/>
            <a:ext cx="19173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102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Real-time Insights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Shape 16"/>
          <p:cNvSpPr/>
          <p:nvPr/>
        </p:nvSpPr>
        <p:spPr>
          <a:xfrm>
            <a:off x="375120" y="3510720"/>
            <a:ext cx="6744240" cy="3195720"/>
          </a:xfrm>
          <a:custGeom>
            <a:avLst/>
            <a:gdLst>
              <a:gd name="textAreaLeft" fmla="*/ 0 w 6744240"/>
              <a:gd name="textAreaRight" fmla="*/ 6744600 w 6744240"/>
              <a:gd name="textAreaTop" fmla="*/ 0 h 3195720"/>
              <a:gd name="textAreaBottom" fmla="*/ 3196080 h 3195720"/>
            </a:gdLst>
            <a:ahLst/>
            <a:rect l="textAreaLeft" t="textAreaTop" r="textAreaRight" b="textAreaBottom"/>
            <a:pathLst>
              <a:path w="6744511" h="3196231">
                <a:moveTo>
                  <a:pt x="111165" y="0"/>
                </a:moveTo>
                <a:lnTo>
                  <a:pt x="6633346" y="0"/>
                </a:lnTo>
                <a:cubicBezTo>
                  <a:pt x="6694740" y="0"/>
                  <a:pt x="6744511" y="49770"/>
                  <a:pt x="6744511" y="111165"/>
                </a:cubicBezTo>
                <a:lnTo>
                  <a:pt x="6744511" y="3085066"/>
                </a:lnTo>
                <a:cubicBezTo>
                  <a:pt x="6744511" y="3146461"/>
                  <a:pt x="6694740" y="3196231"/>
                  <a:pt x="6633346" y="3196231"/>
                </a:cubicBezTo>
                <a:lnTo>
                  <a:pt x="111165" y="3196231"/>
                </a:lnTo>
                <a:cubicBezTo>
                  <a:pt x="49770" y="3196231"/>
                  <a:pt x="0" y="3146461"/>
                  <a:pt x="0" y="3085066"/>
                </a:cubicBezTo>
                <a:lnTo>
                  <a:pt x="0" y="111165"/>
                </a:lnTo>
                <a:cubicBezTo>
                  <a:pt x="0" y="49770"/>
                  <a:pt x="49770" y="0"/>
                  <a:pt x="111165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12700">
            <a:solidFill>
              <a:srgbClr val="4db6ac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Shape 17"/>
          <p:cNvSpPr/>
          <p:nvPr/>
        </p:nvSpPr>
        <p:spPr>
          <a:xfrm>
            <a:off x="551160" y="3710160"/>
            <a:ext cx="166320" cy="166320"/>
          </a:xfrm>
          <a:custGeom>
            <a:avLst/>
            <a:gdLst>
              <a:gd name="textAreaLeft" fmla="*/ 0 w 166320"/>
              <a:gd name="textAreaRight" fmla="*/ 166680 w 166320"/>
              <a:gd name="textAreaTop" fmla="*/ 0 h 166320"/>
              <a:gd name="textAreaBottom" fmla="*/ 166680 h 166320"/>
            </a:gdLst>
            <a:ahLst/>
            <a:rect l="textAreaLeft" t="textAreaTop" r="textAreaRight" b="textAreaBottom"/>
            <a:pathLst>
              <a:path w="166760" h="166760">
                <a:moveTo>
                  <a:pt x="62535" y="20845"/>
                </a:moveTo>
                <a:cubicBezTo>
                  <a:pt x="62535" y="15080"/>
                  <a:pt x="67193" y="10422"/>
                  <a:pt x="72957" y="10422"/>
                </a:cubicBezTo>
                <a:lnTo>
                  <a:pt x="93802" y="10422"/>
                </a:lnTo>
                <a:cubicBezTo>
                  <a:pt x="99567" y="10422"/>
                  <a:pt x="104225" y="15080"/>
                  <a:pt x="104225" y="20845"/>
                </a:cubicBezTo>
                <a:lnTo>
                  <a:pt x="104225" y="41690"/>
                </a:lnTo>
                <a:cubicBezTo>
                  <a:pt x="104225" y="47455"/>
                  <a:pt x="99567" y="52112"/>
                  <a:pt x="93802" y="52112"/>
                </a:cubicBezTo>
                <a:lnTo>
                  <a:pt x="91197" y="52112"/>
                </a:lnTo>
                <a:lnTo>
                  <a:pt x="91197" y="72957"/>
                </a:lnTo>
                <a:lnTo>
                  <a:pt x="130281" y="72957"/>
                </a:lnTo>
                <a:cubicBezTo>
                  <a:pt x="143244" y="72957"/>
                  <a:pt x="153732" y="83445"/>
                  <a:pt x="153732" y="96408"/>
                </a:cubicBezTo>
                <a:lnTo>
                  <a:pt x="153732" y="114647"/>
                </a:lnTo>
                <a:lnTo>
                  <a:pt x="156337" y="114647"/>
                </a:lnTo>
                <a:cubicBezTo>
                  <a:pt x="162102" y="114647"/>
                  <a:pt x="166760" y="119305"/>
                  <a:pt x="166760" y="125070"/>
                </a:cubicBezTo>
                <a:lnTo>
                  <a:pt x="166760" y="145915"/>
                </a:lnTo>
                <a:cubicBezTo>
                  <a:pt x="166760" y="151680"/>
                  <a:pt x="162102" y="156337"/>
                  <a:pt x="156337" y="156337"/>
                </a:cubicBezTo>
                <a:lnTo>
                  <a:pt x="135492" y="156337"/>
                </a:lnTo>
                <a:cubicBezTo>
                  <a:pt x="129727" y="156337"/>
                  <a:pt x="125070" y="151680"/>
                  <a:pt x="125070" y="145915"/>
                </a:cubicBezTo>
                <a:lnTo>
                  <a:pt x="125070" y="125070"/>
                </a:lnTo>
                <a:cubicBezTo>
                  <a:pt x="125070" y="119305"/>
                  <a:pt x="129727" y="114647"/>
                  <a:pt x="135492" y="114647"/>
                </a:cubicBezTo>
                <a:lnTo>
                  <a:pt x="138098" y="114647"/>
                </a:lnTo>
                <a:lnTo>
                  <a:pt x="138098" y="96408"/>
                </a:lnTo>
                <a:cubicBezTo>
                  <a:pt x="138098" y="92076"/>
                  <a:pt x="134613" y="88591"/>
                  <a:pt x="130281" y="88591"/>
                </a:cubicBezTo>
                <a:lnTo>
                  <a:pt x="91197" y="88591"/>
                </a:lnTo>
                <a:lnTo>
                  <a:pt x="91197" y="114647"/>
                </a:lnTo>
                <a:lnTo>
                  <a:pt x="93802" y="114647"/>
                </a:lnTo>
                <a:cubicBezTo>
                  <a:pt x="99567" y="114647"/>
                  <a:pt x="104225" y="119305"/>
                  <a:pt x="104225" y="125070"/>
                </a:cubicBezTo>
                <a:lnTo>
                  <a:pt x="104225" y="145915"/>
                </a:lnTo>
                <a:cubicBezTo>
                  <a:pt x="104225" y="151680"/>
                  <a:pt x="99567" y="156337"/>
                  <a:pt x="93802" y="156337"/>
                </a:cubicBezTo>
                <a:lnTo>
                  <a:pt x="72957" y="156337"/>
                </a:lnTo>
                <a:cubicBezTo>
                  <a:pt x="67193" y="156337"/>
                  <a:pt x="62535" y="151680"/>
                  <a:pt x="62535" y="145915"/>
                </a:cubicBezTo>
                <a:lnTo>
                  <a:pt x="62535" y="125070"/>
                </a:lnTo>
                <a:cubicBezTo>
                  <a:pt x="62535" y="119305"/>
                  <a:pt x="67193" y="114647"/>
                  <a:pt x="72957" y="114647"/>
                </a:cubicBezTo>
                <a:lnTo>
                  <a:pt x="75563" y="114647"/>
                </a:lnTo>
                <a:lnTo>
                  <a:pt x="75563" y="88591"/>
                </a:lnTo>
                <a:lnTo>
                  <a:pt x="36479" y="88591"/>
                </a:lnTo>
                <a:cubicBezTo>
                  <a:pt x="32147" y="88591"/>
                  <a:pt x="28662" y="92076"/>
                  <a:pt x="28662" y="96408"/>
                </a:cubicBezTo>
                <a:lnTo>
                  <a:pt x="28662" y="114647"/>
                </a:lnTo>
                <a:lnTo>
                  <a:pt x="31267" y="114647"/>
                </a:lnTo>
                <a:cubicBezTo>
                  <a:pt x="37032" y="114647"/>
                  <a:pt x="41690" y="119305"/>
                  <a:pt x="41690" y="125070"/>
                </a:cubicBezTo>
                <a:lnTo>
                  <a:pt x="41690" y="145915"/>
                </a:lnTo>
                <a:cubicBezTo>
                  <a:pt x="41690" y="151680"/>
                  <a:pt x="37032" y="156337"/>
                  <a:pt x="31267" y="156337"/>
                </a:cubicBezTo>
                <a:lnTo>
                  <a:pt x="10422" y="156337"/>
                </a:lnTo>
                <a:cubicBezTo>
                  <a:pt x="4658" y="156337"/>
                  <a:pt x="0" y="151680"/>
                  <a:pt x="0" y="145915"/>
                </a:cubicBezTo>
                <a:lnTo>
                  <a:pt x="0" y="125070"/>
                </a:lnTo>
                <a:cubicBezTo>
                  <a:pt x="0" y="119305"/>
                  <a:pt x="4658" y="114647"/>
                  <a:pt x="10422" y="114647"/>
                </a:cubicBezTo>
                <a:lnTo>
                  <a:pt x="13028" y="114647"/>
                </a:lnTo>
                <a:lnTo>
                  <a:pt x="13028" y="96408"/>
                </a:lnTo>
                <a:cubicBezTo>
                  <a:pt x="13028" y="83445"/>
                  <a:pt x="23516" y="72957"/>
                  <a:pt x="36479" y="72957"/>
                </a:cubicBezTo>
                <a:lnTo>
                  <a:pt x="75563" y="72957"/>
                </a:lnTo>
                <a:lnTo>
                  <a:pt x="75563" y="52112"/>
                </a:lnTo>
                <a:lnTo>
                  <a:pt x="72957" y="52112"/>
                </a:lnTo>
                <a:cubicBezTo>
                  <a:pt x="67193" y="52112"/>
                  <a:pt x="62535" y="47455"/>
                  <a:pt x="62535" y="41690"/>
                </a:cubicBezTo>
                <a:lnTo>
                  <a:pt x="62535" y="20845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18"/>
          <p:cNvSpPr/>
          <p:nvPr/>
        </p:nvSpPr>
        <p:spPr>
          <a:xfrm>
            <a:off x="795240" y="3663720"/>
            <a:ext cx="62546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320" spc="-1" strike="noStrike">
                <a:solidFill>
                  <a:srgbClr val="4db6ac"/>
                </a:solidFill>
                <a:latin typeface="Liter"/>
                <a:ea typeface="Liter"/>
              </a:rPr>
              <a:t>Architecture Solution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Shape 19"/>
          <p:cNvSpPr/>
          <p:nvPr/>
        </p:nvSpPr>
        <p:spPr>
          <a:xfrm>
            <a:off x="528120" y="4052880"/>
            <a:ext cx="370080" cy="370080"/>
          </a:xfrm>
          <a:custGeom>
            <a:avLst/>
            <a:gdLst>
              <a:gd name="textAreaLeft" fmla="*/ 0 w 370080"/>
              <a:gd name="textAreaRight" fmla="*/ 370440 w 370080"/>
              <a:gd name="textAreaTop" fmla="*/ 0 h 370080"/>
              <a:gd name="textAreaBottom" fmla="*/ 370440 h 370080"/>
            </a:gdLst>
            <a:ahLst/>
            <a:rect l="textAreaLeft" t="textAreaTop" r="textAreaRight" b="textAreaBottom"/>
            <a:pathLst>
              <a:path w="370578" h="370578">
                <a:moveTo>
                  <a:pt x="74116" y="0"/>
                </a:moveTo>
                <a:lnTo>
                  <a:pt x="296462" y="0"/>
                </a:lnTo>
                <a:cubicBezTo>
                  <a:pt x="337395" y="0"/>
                  <a:pt x="370578" y="33183"/>
                  <a:pt x="370578" y="74116"/>
                </a:cubicBezTo>
                <a:lnTo>
                  <a:pt x="370578" y="296462"/>
                </a:lnTo>
                <a:cubicBezTo>
                  <a:pt x="370578" y="337395"/>
                  <a:pt x="337395" y="370578"/>
                  <a:pt x="296462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Shape 20"/>
          <p:cNvSpPr/>
          <p:nvPr/>
        </p:nvSpPr>
        <p:spPr>
          <a:xfrm>
            <a:off x="620640" y="4164120"/>
            <a:ext cx="185040" cy="147960"/>
          </a:xfrm>
          <a:custGeom>
            <a:avLst/>
            <a:gdLst>
              <a:gd name="textAreaLeft" fmla="*/ 0 w 185040"/>
              <a:gd name="textAreaRight" fmla="*/ 185400 w 185040"/>
              <a:gd name="textAreaTop" fmla="*/ 0 h 147960"/>
              <a:gd name="textAreaBottom" fmla="*/ 148320 h 147960"/>
            </a:gdLst>
            <a:ahLst/>
            <a:rect l="textAreaLeft" t="textAreaTop" r="textAreaRight" b="textAreaBottom"/>
            <a:pathLst>
              <a:path w="185289" h="148231">
                <a:moveTo>
                  <a:pt x="92644" y="4632"/>
                </a:moveTo>
                <a:cubicBezTo>
                  <a:pt x="109262" y="4632"/>
                  <a:pt x="122754" y="18124"/>
                  <a:pt x="122754" y="34742"/>
                </a:cubicBezTo>
                <a:cubicBezTo>
                  <a:pt x="122754" y="51359"/>
                  <a:pt x="109262" y="64851"/>
                  <a:pt x="92644" y="64851"/>
                </a:cubicBezTo>
                <a:cubicBezTo>
                  <a:pt x="76027" y="64851"/>
                  <a:pt x="62535" y="51359"/>
                  <a:pt x="62535" y="34742"/>
                </a:cubicBezTo>
                <a:cubicBezTo>
                  <a:pt x="62535" y="18124"/>
                  <a:pt x="76027" y="4632"/>
                  <a:pt x="92644" y="4632"/>
                </a:cubicBezTo>
                <a:close/>
                <a:moveTo>
                  <a:pt x="27793" y="25477"/>
                </a:moveTo>
                <a:cubicBezTo>
                  <a:pt x="39298" y="25477"/>
                  <a:pt x="48638" y="34818"/>
                  <a:pt x="48638" y="46322"/>
                </a:cubicBezTo>
                <a:cubicBezTo>
                  <a:pt x="48638" y="57827"/>
                  <a:pt x="39298" y="67167"/>
                  <a:pt x="27793" y="67167"/>
                </a:cubicBezTo>
                <a:cubicBezTo>
                  <a:pt x="16289" y="67167"/>
                  <a:pt x="6948" y="57827"/>
                  <a:pt x="6948" y="46322"/>
                </a:cubicBezTo>
                <a:cubicBezTo>
                  <a:pt x="6948" y="34818"/>
                  <a:pt x="16289" y="25477"/>
                  <a:pt x="27793" y="25477"/>
                </a:cubicBezTo>
                <a:close/>
                <a:moveTo>
                  <a:pt x="0" y="120438"/>
                </a:moveTo>
                <a:cubicBezTo>
                  <a:pt x="0" y="99969"/>
                  <a:pt x="16589" y="83380"/>
                  <a:pt x="37058" y="83380"/>
                </a:cubicBezTo>
                <a:cubicBezTo>
                  <a:pt x="40764" y="83380"/>
                  <a:pt x="44353" y="83930"/>
                  <a:pt x="47741" y="84943"/>
                </a:cubicBezTo>
                <a:cubicBezTo>
                  <a:pt x="38216" y="95597"/>
                  <a:pt x="32426" y="109668"/>
                  <a:pt x="32426" y="125070"/>
                </a:cubicBezTo>
                <a:lnTo>
                  <a:pt x="32426" y="129702"/>
                </a:lnTo>
                <a:cubicBezTo>
                  <a:pt x="32426" y="133003"/>
                  <a:pt x="33120" y="136129"/>
                  <a:pt x="34365" y="138967"/>
                </a:cubicBezTo>
                <a:lnTo>
                  <a:pt x="9264" y="138967"/>
                </a:lnTo>
                <a:cubicBezTo>
                  <a:pt x="4140" y="138967"/>
                  <a:pt x="0" y="134827"/>
                  <a:pt x="0" y="129702"/>
                </a:cubicBezTo>
                <a:lnTo>
                  <a:pt x="0" y="120438"/>
                </a:lnTo>
                <a:close/>
                <a:moveTo>
                  <a:pt x="150923" y="138967"/>
                </a:moveTo>
                <a:cubicBezTo>
                  <a:pt x="152168" y="136129"/>
                  <a:pt x="152863" y="133003"/>
                  <a:pt x="152863" y="129702"/>
                </a:cubicBezTo>
                <a:lnTo>
                  <a:pt x="152863" y="125070"/>
                </a:lnTo>
                <a:cubicBezTo>
                  <a:pt x="152863" y="109668"/>
                  <a:pt x="147073" y="95597"/>
                  <a:pt x="137548" y="84943"/>
                </a:cubicBezTo>
                <a:cubicBezTo>
                  <a:pt x="140935" y="83930"/>
                  <a:pt x="144525" y="83380"/>
                  <a:pt x="148231" y="83380"/>
                </a:cubicBezTo>
                <a:cubicBezTo>
                  <a:pt x="168700" y="83380"/>
                  <a:pt x="185289" y="99969"/>
                  <a:pt x="185289" y="120438"/>
                </a:cubicBezTo>
                <a:lnTo>
                  <a:pt x="185289" y="129702"/>
                </a:lnTo>
                <a:cubicBezTo>
                  <a:pt x="185289" y="134827"/>
                  <a:pt x="181149" y="138967"/>
                  <a:pt x="176024" y="138967"/>
                </a:cubicBezTo>
                <a:lnTo>
                  <a:pt x="150923" y="138967"/>
                </a:lnTo>
                <a:close/>
                <a:moveTo>
                  <a:pt x="136650" y="46322"/>
                </a:moveTo>
                <a:cubicBezTo>
                  <a:pt x="136650" y="34818"/>
                  <a:pt x="145991" y="25477"/>
                  <a:pt x="157495" y="25477"/>
                </a:cubicBezTo>
                <a:cubicBezTo>
                  <a:pt x="169000" y="25477"/>
                  <a:pt x="178340" y="34818"/>
                  <a:pt x="178340" y="46322"/>
                </a:cubicBezTo>
                <a:cubicBezTo>
                  <a:pt x="178340" y="57827"/>
                  <a:pt x="169000" y="67167"/>
                  <a:pt x="157495" y="67167"/>
                </a:cubicBezTo>
                <a:cubicBezTo>
                  <a:pt x="145991" y="67167"/>
                  <a:pt x="136650" y="57827"/>
                  <a:pt x="136650" y="46322"/>
                </a:cubicBezTo>
                <a:close/>
                <a:moveTo>
                  <a:pt x="46322" y="125070"/>
                </a:moveTo>
                <a:cubicBezTo>
                  <a:pt x="46322" y="99477"/>
                  <a:pt x="67051" y="78748"/>
                  <a:pt x="92644" y="78748"/>
                </a:cubicBezTo>
                <a:cubicBezTo>
                  <a:pt x="118237" y="78748"/>
                  <a:pt x="138967" y="99477"/>
                  <a:pt x="138967" y="125070"/>
                </a:cubicBezTo>
                <a:lnTo>
                  <a:pt x="138967" y="129702"/>
                </a:lnTo>
                <a:cubicBezTo>
                  <a:pt x="138967" y="134827"/>
                  <a:pt x="134827" y="138967"/>
                  <a:pt x="129702" y="138967"/>
                </a:cubicBezTo>
                <a:lnTo>
                  <a:pt x="55587" y="138967"/>
                </a:lnTo>
                <a:cubicBezTo>
                  <a:pt x="50462" y="138967"/>
                  <a:pt x="46322" y="134827"/>
                  <a:pt x="46322" y="129702"/>
                </a:cubicBezTo>
                <a:lnTo>
                  <a:pt x="46322" y="125070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21"/>
          <p:cNvSpPr/>
          <p:nvPr/>
        </p:nvSpPr>
        <p:spPr>
          <a:xfrm>
            <a:off x="1009800" y="4034160"/>
            <a:ext cx="603072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7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CRM (Salesforce)</a:t>
            </a:r>
            <a:endParaRPr b="0" lang="en-US" sz="11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22"/>
          <p:cNvSpPr/>
          <p:nvPr/>
        </p:nvSpPr>
        <p:spPr>
          <a:xfrm>
            <a:off x="1009800" y="4256640"/>
            <a:ext cx="60213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2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Customer profiles, interactions, loyalty data → Fivetran →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Shape 23"/>
          <p:cNvSpPr/>
          <p:nvPr/>
        </p:nvSpPr>
        <p:spPr>
          <a:xfrm>
            <a:off x="528120" y="4534560"/>
            <a:ext cx="370080" cy="370080"/>
          </a:xfrm>
          <a:custGeom>
            <a:avLst/>
            <a:gdLst>
              <a:gd name="textAreaLeft" fmla="*/ 0 w 370080"/>
              <a:gd name="textAreaRight" fmla="*/ 370440 w 370080"/>
              <a:gd name="textAreaTop" fmla="*/ 0 h 370080"/>
              <a:gd name="textAreaBottom" fmla="*/ 370440 h 370080"/>
            </a:gdLst>
            <a:ahLst/>
            <a:rect l="textAreaLeft" t="textAreaTop" r="textAreaRight" b="textAreaBottom"/>
            <a:pathLst>
              <a:path w="370578" h="370578">
                <a:moveTo>
                  <a:pt x="74116" y="0"/>
                </a:moveTo>
                <a:lnTo>
                  <a:pt x="296462" y="0"/>
                </a:lnTo>
                <a:cubicBezTo>
                  <a:pt x="337395" y="0"/>
                  <a:pt x="370578" y="33183"/>
                  <a:pt x="370578" y="74116"/>
                </a:cubicBezTo>
                <a:lnTo>
                  <a:pt x="370578" y="296462"/>
                </a:lnTo>
                <a:cubicBezTo>
                  <a:pt x="370578" y="337395"/>
                  <a:pt x="337395" y="370578"/>
                  <a:pt x="296462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24"/>
          <p:cNvSpPr/>
          <p:nvPr/>
        </p:nvSpPr>
        <p:spPr>
          <a:xfrm>
            <a:off x="639360" y="4645800"/>
            <a:ext cx="147960" cy="147960"/>
          </a:xfrm>
          <a:custGeom>
            <a:avLst/>
            <a:gdLst>
              <a:gd name="textAreaLeft" fmla="*/ 0 w 147960"/>
              <a:gd name="textAreaRight" fmla="*/ 148320 w 147960"/>
              <a:gd name="textAreaTop" fmla="*/ 0 h 147960"/>
              <a:gd name="textAreaBottom" fmla="*/ 148320 h 147960"/>
            </a:gdLst>
            <a:ahLst/>
            <a:rect l="textAreaLeft" t="textAreaTop" r="textAreaRight" b="textAreaBottom"/>
            <a:pathLst>
              <a:path w="148231" h="148231">
                <a:moveTo>
                  <a:pt x="64851" y="0"/>
                </a:moveTo>
                <a:lnTo>
                  <a:pt x="64851" y="18529"/>
                </a:lnTo>
                <a:cubicBezTo>
                  <a:pt x="64851" y="21077"/>
                  <a:pt x="66936" y="23161"/>
                  <a:pt x="69483" y="23161"/>
                </a:cubicBezTo>
                <a:lnTo>
                  <a:pt x="78748" y="23161"/>
                </a:lnTo>
                <a:cubicBezTo>
                  <a:pt x="81295" y="23161"/>
                  <a:pt x="83380" y="21077"/>
                  <a:pt x="83380" y="18529"/>
                </a:cubicBezTo>
                <a:lnTo>
                  <a:pt x="83380" y="0"/>
                </a:lnTo>
                <a:lnTo>
                  <a:pt x="92644" y="0"/>
                </a:lnTo>
                <a:cubicBezTo>
                  <a:pt x="102864" y="0"/>
                  <a:pt x="111173" y="8309"/>
                  <a:pt x="111173" y="18529"/>
                </a:cubicBezTo>
                <a:lnTo>
                  <a:pt x="111173" y="55587"/>
                </a:lnTo>
                <a:cubicBezTo>
                  <a:pt x="111173" y="57179"/>
                  <a:pt x="110971" y="58742"/>
                  <a:pt x="110594" y="60219"/>
                </a:cubicBezTo>
                <a:lnTo>
                  <a:pt x="37637" y="60219"/>
                </a:lnTo>
                <a:cubicBezTo>
                  <a:pt x="37260" y="58742"/>
                  <a:pt x="37058" y="57179"/>
                  <a:pt x="37058" y="55587"/>
                </a:cubicBezTo>
                <a:lnTo>
                  <a:pt x="37058" y="18529"/>
                </a:lnTo>
                <a:cubicBezTo>
                  <a:pt x="37058" y="8309"/>
                  <a:pt x="45367" y="0"/>
                  <a:pt x="55587" y="0"/>
                </a:cubicBezTo>
                <a:lnTo>
                  <a:pt x="64851" y="0"/>
                </a:lnTo>
                <a:close/>
                <a:moveTo>
                  <a:pt x="92644" y="148231"/>
                </a:moveTo>
                <a:cubicBezTo>
                  <a:pt x="89402" y="148231"/>
                  <a:pt x="86333" y="147391"/>
                  <a:pt x="83669" y="145915"/>
                </a:cubicBezTo>
                <a:cubicBezTo>
                  <a:pt x="86420" y="141138"/>
                  <a:pt x="88012" y="135608"/>
                  <a:pt x="88012" y="129702"/>
                </a:cubicBezTo>
                <a:lnTo>
                  <a:pt x="88012" y="92644"/>
                </a:lnTo>
                <a:cubicBezTo>
                  <a:pt x="88012" y="86738"/>
                  <a:pt x="86420" y="81209"/>
                  <a:pt x="83669" y="76432"/>
                </a:cubicBezTo>
                <a:cubicBezTo>
                  <a:pt x="86333" y="74955"/>
                  <a:pt x="89373" y="74116"/>
                  <a:pt x="92644" y="74116"/>
                </a:cubicBezTo>
                <a:lnTo>
                  <a:pt x="101909" y="74116"/>
                </a:lnTo>
                <a:lnTo>
                  <a:pt x="101909" y="92644"/>
                </a:lnTo>
                <a:cubicBezTo>
                  <a:pt x="101909" y="95192"/>
                  <a:pt x="103993" y="97277"/>
                  <a:pt x="106541" y="97277"/>
                </a:cubicBezTo>
                <a:lnTo>
                  <a:pt x="115805" y="97277"/>
                </a:lnTo>
                <a:cubicBezTo>
                  <a:pt x="118353" y="97277"/>
                  <a:pt x="120438" y="95192"/>
                  <a:pt x="120438" y="92644"/>
                </a:cubicBezTo>
                <a:lnTo>
                  <a:pt x="120438" y="74116"/>
                </a:lnTo>
                <a:lnTo>
                  <a:pt x="129702" y="74116"/>
                </a:lnTo>
                <a:cubicBezTo>
                  <a:pt x="139922" y="74116"/>
                  <a:pt x="148231" y="82425"/>
                  <a:pt x="148231" y="92644"/>
                </a:cubicBezTo>
                <a:lnTo>
                  <a:pt x="148231" y="129702"/>
                </a:lnTo>
                <a:cubicBezTo>
                  <a:pt x="148231" y="139922"/>
                  <a:pt x="139922" y="148231"/>
                  <a:pt x="129702" y="148231"/>
                </a:cubicBezTo>
                <a:lnTo>
                  <a:pt x="92644" y="148231"/>
                </a:lnTo>
                <a:close/>
                <a:moveTo>
                  <a:pt x="0" y="92644"/>
                </a:moveTo>
                <a:cubicBezTo>
                  <a:pt x="0" y="82425"/>
                  <a:pt x="8309" y="74116"/>
                  <a:pt x="18529" y="74116"/>
                </a:cubicBezTo>
                <a:lnTo>
                  <a:pt x="27793" y="74116"/>
                </a:lnTo>
                <a:lnTo>
                  <a:pt x="27793" y="92644"/>
                </a:lnTo>
                <a:cubicBezTo>
                  <a:pt x="27793" y="95192"/>
                  <a:pt x="29878" y="97277"/>
                  <a:pt x="32426" y="97277"/>
                </a:cubicBezTo>
                <a:lnTo>
                  <a:pt x="41690" y="97277"/>
                </a:lnTo>
                <a:cubicBezTo>
                  <a:pt x="44238" y="97277"/>
                  <a:pt x="46322" y="95192"/>
                  <a:pt x="46322" y="92644"/>
                </a:cubicBezTo>
                <a:lnTo>
                  <a:pt x="46322" y="74116"/>
                </a:lnTo>
                <a:lnTo>
                  <a:pt x="55587" y="74116"/>
                </a:lnTo>
                <a:cubicBezTo>
                  <a:pt x="65806" y="74116"/>
                  <a:pt x="74116" y="82425"/>
                  <a:pt x="74116" y="92644"/>
                </a:cubicBezTo>
                <a:lnTo>
                  <a:pt x="74116" y="129702"/>
                </a:lnTo>
                <a:cubicBezTo>
                  <a:pt x="74116" y="139922"/>
                  <a:pt x="65806" y="148231"/>
                  <a:pt x="55587" y="148231"/>
                </a:cubicBezTo>
                <a:lnTo>
                  <a:pt x="18529" y="148231"/>
                </a:lnTo>
                <a:cubicBezTo>
                  <a:pt x="8309" y="148231"/>
                  <a:pt x="0" y="139922"/>
                  <a:pt x="0" y="129702"/>
                </a:cubicBezTo>
                <a:lnTo>
                  <a:pt x="0" y="92644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 25"/>
          <p:cNvSpPr/>
          <p:nvPr/>
        </p:nvSpPr>
        <p:spPr>
          <a:xfrm>
            <a:off x="1009800" y="4515840"/>
            <a:ext cx="603072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7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ERP (SAP)</a:t>
            </a:r>
            <a:endParaRPr b="0" lang="en-US" sz="11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26"/>
          <p:cNvSpPr/>
          <p:nvPr/>
        </p:nvSpPr>
        <p:spPr>
          <a:xfrm>
            <a:off x="1009800" y="4738320"/>
            <a:ext cx="60213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2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Inventory, orders, supply chain → Python API →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Shape 27"/>
          <p:cNvSpPr/>
          <p:nvPr/>
        </p:nvSpPr>
        <p:spPr>
          <a:xfrm>
            <a:off x="528120" y="5016240"/>
            <a:ext cx="370080" cy="370080"/>
          </a:xfrm>
          <a:custGeom>
            <a:avLst/>
            <a:gdLst>
              <a:gd name="textAreaLeft" fmla="*/ 0 w 370080"/>
              <a:gd name="textAreaRight" fmla="*/ 370440 w 370080"/>
              <a:gd name="textAreaTop" fmla="*/ 0 h 370080"/>
              <a:gd name="textAreaBottom" fmla="*/ 370440 h 370080"/>
            </a:gdLst>
            <a:ahLst/>
            <a:rect l="textAreaLeft" t="textAreaTop" r="textAreaRight" b="textAreaBottom"/>
            <a:pathLst>
              <a:path w="370578" h="370578">
                <a:moveTo>
                  <a:pt x="74116" y="0"/>
                </a:moveTo>
                <a:lnTo>
                  <a:pt x="296462" y="0"/>
                </a:lnTo>
                <a:cubicBezTo>
                  <a:pt x="337395" y="0"/>
                  <a:pt x="370578" y="33183"/>
                  <a:pt x="370578" y="74116"/>
                </a:cubicBezTo>
                <a:lnTo>
                  <a:pt x="370578" y="296462"/>
                </a:lnTo>
                <a:cubicBezTo>
                  <a:pt x="370578" y="337395"/>
                  <a:pt x="337395" y="370578"/>
                  <a:pt x="296462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Shape 28"/>
          <p:cNvSpPr/>
          <p:nvPr/>
        </p:nvSpPr>
        <p:spPr>
          <a:xfrm>
            <a:off x="639360" y="5127480"/>
            <a:ext cx="147960" cy="147960"/>
          </a:xfrm>
          <a:custGeom>
            <a:avLst/>
            <a:gdLst>
              <a:gd name="textAreaLeft" fmla="*/ 0 w 147960"/>
              <a:gd name="textAreaRight" fmla="*/ 148320 w 147960"/>
              <a:gd name="textAreaTop" fmla="*/ 0 h 147960"/>
              <a:gd name="textAreaBottom" fmla="*/ 148320 h 147960"/>
            </a:gdLst>
            <a:ahLst/>
            <a:rect l="textAreaLeft" t="textAreaTop" r="textAreaRight" b="textAreaBottom"/>
            <a:pathLst>
              <a:path w="148231" h="148231">
                <a:moveTo>
                  <a:pt x="101880" y="81064"/>
                </a:moveTo>
                <a:lnTo>
                  <a:pt x="46612" y="81064"/>
                </a:lnTo>
                <a:cubicBezTo>
                  <a:pt x="47451" y="99737"/>
                  <a:pt x="51591" y="116935"/>
                  <a:pt x="57468" y="129528"/>
                </a:cubicBezTo>
                <a:cubicBezTo>
                  <a:pt x="60769" y="136622"/>
                  <a:pt x="64330" y="141630"/>
                  <a:pt x="67630" y="144699"/>
                </a:cubicBezTo>
                <a:cubicBezTo>
                  <a:pt x="70873" y="147739"/>
                  <a:pt x="73102" y="148231"/>
                  <a:pt x="74260" y="148231"/>
                </a:cubicBezTo>
                <a:cubicBezTo>
                  <a:pt x="75418" y="148231"/>
                  <a:pt x="77648" y="147739"/>
                  <a:pt x="80890" y="144699"/>
                </a:cubicBezTo>
                <a:cubicBezTo>
                  <a:pt x="84191" y="141630"/>
                  <a:pt x="87752" y="136593"/>
                  <a:pt x="91052" y="129528"/>
                </a:cubicBezTo>
                <a:cubicBezTo>
                  <a:pt x="96929" y="116935"/>
                  <a:pt x="101069" y="99737"/>
                  <a:pt x="101909" y="81064"/>
                </a:cubicBezTo>
                <a:close/>
                <a:moveTo>
                  <a:pt x="46583" y="67167"/>
                </a:moveTo>
                <a:lnTo>
                  <a:pt x="101851" y="67167"/>
                </a:lnTo>
                <a:cubicBezTo>
                  <a:pt x="101040" y="48494"/>
                  <a:pt x="96900" y="31296"/>
                  <a:pt x="91023" y="18703"/>
                </a:cubicBezTo>
                <a:cubicBezTo>
                  <a:pt x="87723" y="11638"/>
                  <a:pt x="84162" y="6601"/>
                  <a:pt x="80861" y="3532"/>
                </a:cubicBezTo>
                <a:cubicBezTo>
                  <a:pt x="77619" y="492"/>
                  <a:pt x="75389" y="0"/>
                  <a:pt x="74231" y="0"/>
                </a:cubicBezTo>
                <a:cubicBezTo>
                  <a:pt x="73073" y="0"/>
                  <a:pt x="70844" y="492"/>
                  <a:pt x="67601" y="3532"/>
                </a:cubicBezTo>
                <a:cubicBezTo>
                  <a:pt x="64301" y="6601"/>
                  <a:pt x="60740" y="11638"/>
                  <a:pt x="57440" y="18703"/>
                </a:cubicBezTo>
                <a:cubicBezTo>
                  <a:pt x="51562" y="31296"/>
                  <a:pt x="47422" y="48494"/>
                  <a:pt x="46583" y="67167"/>
                </a:cubicBezTo>
                <a:close/>
                <a:moveTo>
                  <a:pt x="32686" y="67167"/>
                </a:moveTo>
                <a:cubicBezTo>
                  <a:pt x="33699" y="42385"/>
                  <a:pt x="40098" y="19368"/>
                  <a:pt x="49449" y="4256"/>
                </a:cubicBezTo>
                <a:cubicBezTo>
                  <a:pt x="22785" y="13694"/>
                  <a:pt x="3156" y="37984"/>
                  <a:pt x="434" y="67167"/>
                </a:cubicBezTo>
                <a:lnTo>
                  <a:pt x="32686" y="67167"/>
                </a:lnTo>
                <a:close/>
                <a:moveTo>
                  <a:pt x="434" y="81064"/>
                </a:moveTo>
                <a:cubicBezTo>
                  <a:pt x="3156" y="110247"/>
                  <a:pt x="22785" y="134537"/>
                  <a:pt x="49449" y="143975"/>
                </a:cubicBezTo>
                <a:cubicBezTo>
                  <a:pt x="40098" y="128863"/>
                  <a:pt x="33699" y="105846"/>
                  <a:pt x="32686" y="81064"/>
                </a:cubicBezTo>
                <a:lnTo>
                  <a:pt x="434" y="81064"/>
                </a:lnTo>
                <a:close/>
                <a:moveTo>
                  <a:pt x="115777" y="81064"/>
                </a:moveTo>
                <a:cubicBezTo>
                  <a:pt x="114763" y="105846"/>
                  <a:pt x="108365" y="128863"/>
                  <a:pt x="99014" y="143975"/>
                </a:cubicBezTo>
                <a:cubicBezTo>
                  <a:pt x="125678" y="134508"/>
                  <a:pt x="145307" y="110247"/>
                  <a:pt x="148028" y="81064"/>
                </a:cubicBezTo>
                <a:lnTo>
                  <a:pt x="115777" y="81064"/>
                </a:lnTo>
                <a:close/>
                <a:moveTo>
                  <a:pt x="148028" y="67167"/>
                </a:moveTo>
                <a:cubicBezTo>
                  <a:pt x="145307" y="37984"/>
                  <a:pt x="125678" y="13694"/>
                  <a:pt x="99014" y="4256"/>
                </a:cubicBezTo>
                <a:cubicBezTo>
                  <a:pt x="108365" y="19368"/>
                  <a:pt x="114763" y="42385"/>
                  <a:pt x="115777" y="67167"/>
                </a:cubicBezTo>
                <a:lnTo>
                  <a:pt x="148028" y="67167"/>
                </a:ln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29"/>
          <p:cNvSpPr/>
          <p:nvPr/>
        </p:nvSpPr>
        <p:spPr>
          <a:xfrm>
            <a:off x="1009800" y="4997880"/>
            <a:ext cx="603072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7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Web Analytics (GA4)</a:t>
            </a:r>
            <a:endParaRPr b="0" lang="en-US" sz="11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30"/>
          <p:cNvSpPr/>
          <p:nvPr/>
        </p:nvSpPr>
        <p:spPr>
          <a:xfrm>
            <a:off x="1009800" y="5220000"/>
            <a:ext cx="60213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2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User behavior, conversions, sessions → Airbyte →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31"/>
          <p:cNvSpPr/>
          <p:nvPr/>
        </p:nvSpPr>
        <p:spPr>
          <a:xfrm>
            <a:off x="3665520" y="5479560"/>
            <a:ext cx="166320" cy="222120"/>
          </a:xfrm>
          <a:custGeom>
            <a:avLst/>
            <a:gdLst>
              <a:gd name="textAreaLeft" fmla="*/ 0 w 166320"/>
              <a:gd name="textAreaRight" fmla="*/ 166680 w 166320"/>
              <a:gd name="textAreaTop" fmla="*/ 0 h 222120"/>
              <a:gd name="textAreaBottom" fmla="*/ 222480 h 222120"/>
            </a:gdLst>
            <a:ahLst/>
            <a:rect l="textAreaLeft" t="textAreaTop" r="textAreaRight" b="textAreaBottom"/>
            <a:pathLst>
              <a:path w="166760" h="222347">
                <a:moveTo>
                  <a:pt x="73565" y="218264"/>
                </a:moveTo>
                <a:cubicBezTo>
                  <a:pt x="78994" y="223693"/>
                  <a:pt x="87809" y="223693"/>
                  <a:pt x="93238" y="218264"/>
                </a:cubicBezTo>
                <a:lnTo>
                  <a:pt x="162721" y="148781"/>
                </a:lnTo>
                <a:cubicBezTo>
                  <a:pt x="168150" y="143353"/>
                  <a:pt x="168150" y="134537"/>
                  <a:pt x="162721" y="129109"/>
                </a:cubicBezTo>
                <a:cubicBezTo>
                  <a:pt x="157293" y="123680"/>
                  <a:pt x="148477" y="123680"/>
                  <a:pt x="143049" y="129109"/>
                </a:cubicBezTo>
                <a:lnTo>
                  <a:pt x="97277" y="174881"/>
                </a:lnTo>
                <a:lnTo>
                  <a:pt x="97277" y="13897"/>
                </a:lnTo>
                <a:cubicBezTo>
                  <a:pt x="97277" y="6210"/>
                  <a:pt x="91067" y="0"/>
                  <a:pt x="83380" y="0"/>
                </a:cubicBezTo>
                <a:cubicBezTo>
                  <a:pt x="75693" y="0"/>
                  <a:pt x="69483" y="6210"/>
                  <a:pt x="69483" y="13897"/>
                </a:cubicBezTo>
                <a:lnTo>
                  <a:pt x="69483" y="174881"/>
                </a:lnTo>
                <a:lnTo>
                  <a:pt x="23711" y="129109"/>
                </a:lnTo>
                <a:cubicBezTo>
                  <a:pt x="18283" y="123680"/>
                  <a:pt x="9467" y="123680"/>
                  <a:pt x="4039" y="129109"/>
                </a:cubicBezTo>
                <a:cubicBezTo>
                  <a:pt x="-1390" y="134537"/>
                  <a:pt x="-1390" y="143353"/>
                  <a:pt x="4039" y="148781"/>
                </a:cubicBezTo>
                <a:lnTo>
                  <a:pt x="73522" y="218264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Shape 32"/>
          <p:cNvSpPr/>
          <p:nvPr/>
        </p:nvSpPr>
        <p:spPr>
          <a:xfrm>
            <a:off x="528120" y="5794560"/>
            <a:ext cx="370080" cy="370080"/>
          </a:xfrm>
          <a:custGeom>
            <a:avLst/>
            <a:gdLst>
              <a:gd name="textAreaLeft" fmla="*/ 0 w 370080"/>
              <a:gd name="textAreaRight" fmla="*/ 370440 w 370080"/>
              <a:gd name="textAreaTop" fmla="*/ 0 h 370080"/>
              <a:gd name="textAreaBottom" fmla="*/ 370440 h 370080"/>
            </a:gdLst>
            <a:ahLst/>
            <a:rect l="textAreaLeft" t="textAreaTop" r="textAreaRight" b="textAreaBottom"/>
            <a:pathLst>
              <a:path w="370578" h="370578">
                <a:moveTo>
                  <a:pt x="74116" y="0"/>
                </a:moveTo>
                <a:lnTo>
                  <a:pt x="296462" y="0"/>
                </a:lnTo>
                <a:cubicBezTo>
                  <a:pt x="337395" y="0"/>
                  <a:pt x="370578" y="33183"/>
                  <a:pt x="370578" y="74116"/>
                </a:cubicBezTo>
                <a:lnTo>
                  <a:pt x="370578" y="296462"/>
                </a:lnTo>
                <a:cubicBezTo>
                  <a:pt x="370578" y="337395"/>
                  <a:pt x="337395" y="370578"/>
                  <a:pt x="296462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Shape 33"/>
          <p:cNvSpPr/>
          <p:nvPr/>
        </p:nvSpPr>
        <p:spPr>
          <a:xfrm>
            <a:off x="639360" y="5905800"/>
            <a:ext cx="147960" cy="147960"/>
          </a:xfrm>
          <a:custGeom>
            <a:avLst/>
            <a:gdLst>
              <a:gd name="textAreaLeft" fmla="*/ 0 w 147960"/>
              <a:gd name="textAreaRight" fmla="*/ 148320 w 147960"/>
              <a:gd name="textAreaTop" fmla="*/ 0 h 147960"/>
              <a:gd name="textAreaBottom" fmla="*/ 148320 h 147960"/>
            </a:gdLst>
            <a:ahLst/>
            <a:rect l="textAreaLeft" t="textAreaTop" r="textAreaRight" b="textAreaBottom"/>
            <a:pathLst>
              <a:path w="148231" h="148231">
                <a:moveTo>
                  <a:pt x="83438" y="0"/>
                </a:moveTo>
                <a:cubicBezTo>
                  <a:pt x="83438" y="-5124"/>
                  <a:pt x="79298" y="-9264"/>
                  <a:pt x="74173" y="-9264"/>
                </a:cubicBezTo>
                <a:cubicBezTo>
                  <a:pt x="69049" y="-9264"/>
                  <a:pt x="64909" y="-5124"/>
                  <a:pt x="64909" y="0"/>
                </a:cubicBezTo>
                <a:lnTo>
                  <a:pt x="64909" y="17979"/>
                </a:lnTo>
                <a:lnTo>
                  <a:pt x="60566" y="13636"/>
                </a:lnTo>
                <a:cubicBezTo>
                  <a:pt x="57845" y="10915"/>
                  <a:pt x="53444" y="10915"/>
                  <a:pt x="50752" y="13636"/>
                </a:cubicBezTo>
                <a:cubicBezTo>
                  <a:pt x="48059" y="16358"/>
                  <a:pt x="48030" y="20758"/>
                  <a:pt x="50752" y="23451"/>
                </a:cubicBezTo>
                <a:lnTo>
                  <a:pt x="64938" y="37637"/>
                </a:lnTo>
                <a:lnTo>
                  <a:pt x="64938" y="58076"/>
                </a:lnTo>
                <a:lnTo>
                  <a:pt x="47220" y="47857"/>
                </a:lnTo>
                <a:lnTo>
                  <a:pt x="42037" y="28488"/>
                </a:lnTo>
                <a:cubicBezTo>
                  <a:pt x="41053" y="24782"/>
                  <a:pt x="37231" y="22582"/>
                  <a:pt x="33526" y="23566"/>
                </a:cubicBezTo>
                <a:cubicBezTo>
                  <a:pt x="29820" y="24551"/>
                  <a:pt x="27591" y="28372"/>
                  <a:pt x="28575" y="32078"/>
                </a:cubicBezTo>
                <a:lnTo>
                  <a:pt x="30167" y="38013"/>
                </a:lnTo>
                <a:lnTo>
                  <a:pt x="14620" y="29038"/>
                </a:lnTo>
                <a:cubicBezTo>
                  <a:pt x="10191" y="26491"/>
                  <a:pt x="4516" y="27996"/>
                  <a:pt x="1969" y="32426"/>
                </a:cubicBezTo>
                <a:cubicBezTo>
                  <a:pt x="-579" y="36855"/>
                  <a:pt x="926" y="42530"/>
                  <a:pt x="5356" y="45077"/>
                </a:cubicBezTo>
                <a:lnTo>
                  <a:pt x="20903" y="54052"/>
                </a:lnTo>
                <a:lnTo>
                  <a:pt x="14968" y="55645"/>
                </a:lnTo>
                <a:cubicBezTo>
                  <a:pt x="11262" y="56629"/>
                  <a:pt x="9062" y="60450"/>
                  <a:pt x="10046" y="64156"/>
                </a:cubicBezTo>
                <a:cubicBezTo>
                  <a:pt x="11030" y="67862"/>
                  <a:pt x="14852" y="70062"/>
                  <a:pt x="18558" y="69078"/>
                </a:cubicBezTo>
                <a:lnTo>
                  <a:pt x="37926" y="63896"/>
                </a:lnTo>
                <a:lnTo>
                  <a:pt x="55645" y="74116"/>
                </a:lnTo>
                <a:lnTo>
                  <a:pt x="37926" y="84335"/>
                </a:lnTo>
                <a:lnTo>
                  <a:pt x="18558" y="79153"/>
                </a:lnTo>
                <a:cubicBezTo>
                  <a:pt x="14852" y="78169"/>
                  <a:pt x="11030" y="80369"/>
                  <a:pt x="10046" y="84075"/>
                </a:cubicBezTo>
                <a:cubicBezTo>
                  <a:pt x="9062" y="87781"/>
                  <a:pt x="11262" y="91602"/>
                  <a:pt x="14968" y="92586"/>
                </a:cubicBezTo>
                <a:lnTo>
                  <a:pt x="20903" y="94179"/>
                </a:lnTo>
                <a:lnTo>
                  <a:pt x="5356" y="103154"/>
                </a:lnTo>
                <a:cubicBezTo>
                  <a:pt x="926" y="105701"/>
                  <a:pt x="-579" y="111376"/>
                  <a:pt x="1969" y="115805"/>
                </a:cubicBezTo>
                <a:cubicBezTo>
                  <a:pt x="4516" y="120235"/>
                  <a:pt x="10191" y="121769"/>
                  <a:pt x="14620" y="119193"/>
                </a:cubicBezTo>
                <a:lnTo>
                  <a:pt x="30167" y="110218"/>
                </a:lnTo>
                <a:lnTo>
                  <a:pt x="28575" y="116153"/>
                </a:lnTo>
                <a:cubicBezTo>
                  <a:pt x="27591" y="119859"/>
                  <a:pt x="29791" y="123680"/>
                  <a:pt x="33497" y="124665"/>
                </a:cubicBezTo>
                <a:cubicBezTo>
                  <a:pt x="37203" y="125649"/>
                  <a:pt x="41024" y="123449"/>
                  <a:pt x="42008" y="119743"/>
                </a:cubicBezTo>
                <a:lnTo>
                  <a:pt x="47191" y="100374"/>
                </a:lnTo>
                <a:lnTo>
                  <a:pt x="64909" y="90155"/>
                </a:lnTo>
                <a:lnTo>
                  <a:pt x="64909" y="110594"/>
                </a:lnTo>
                <a:lnTo>
                  <a:pt x="50723" y="124780"/>
                </a:lnTo>
                <a:cubicBezTo>
                  <a:pt x="48001" y="127502"/>
                  <a:pt x="48001" y="131902"/>
                  <a:pt x="50723" y="134595"/>
                </a:cubicBezTo>
                <a:cubicBezTo>
                  <a:pt x="53444" y="137287"/>
                  <a:pt x="57845" y="137316"/>
                  <a:pt x="60537" y="134595"/>
                </a:cubicBezTo>
                <a:lnTo>
                  <a:pt x="64880" y="130252"/>
                </a:lnTo>
                <a:lnTo>
                  <a:pt x="64880" y="148231"/>
                </a:lnTo>
                <a:cubicBezTo>
                  <a:pt x="64880" y="153355"/>
                  <a:pt x="69020" y="157495"/>
                  <a:pt x="74144" y="157495"/>
                </a:cubicBezTo>
                <a:cubicBezTo>
                  <a:pt x="79269" y="157495"/>
                  <a:pt x="83409" y="153355"/>
                  <a:pt x="83409" y="148231"/>
                </a:cubicBezTo>
                <a:lnTo>
                  <a:pt x="83409" y="130252"/>
                </a:lnTo>
                <a:lnTo>
                  <a:pt x="87752" y="134595"/>
                </a:lnTo>
                <a:cubicBezTo>
                  <a:pt x="90473" y="137316"/>
                  <a:pt x="94874" y="137316"/>
                  <a:pt x="97566" y="134595"/>
                </a:cubicBezTo>
                <a:cubicBezTo>
                  <a:pt x="100259" y="131873"/>
                  <a:pt x="100288" y="127473"/>
                  <a:pt x="97566" y="124780"/>
                </a:cubicBezTo>
                <a:lnTo>
                  <a:pt x="83380" y="110594"/>
                </a:lnTo>
                <a:lnTo>
                  <a:pt x="83380" y="90155"/>
                </a:lnTo>
                <a:lnTo>
                  <a:pt x="101098" y="100374"/>
                </a:lnTo>
                <a:lnTo>
                  <a:pt x="106280" y="119743"/>
                </a:lnTo>
                <a:cubicBezTo>
                  <a:pt x="107265" y="123449"/>
                  <a:pt x="111086" y="125649"/>
                  <a:pt x="114792" y="124665"/>
                </a:cubicBezTo>
                <a:cubicBezTo>
                  <a:pt x="118498" y="123680"/>
                  <a:pt x="120698" y="119859"/>
                  <a:pt x="119714" y="116153"/>
                </a:cubicBezTo>
                <a:lnTo>
                  <a:pt x="118122" y="110218"/>
                </a:lnTo>
                <a:lnTo>
                  <a:pt x="133668" y="119193"/>
                </a:lnTo>
                <a:cubicBezTo>
                  <a:pt x="138098" y="121741"/>
                  <a:pt x="143772" y="120235"/>
                  <a:pt x="146320" y="115805"/>
                </a:cubicBezTo>
                <a:cubicBezTo>
                  <a:pt x="148868" y="111376"/>
                  <a:pt x="147362" y="105701"/>
                  <a:pt x="142933" y="103154"/>
                </a:cubicBezTo>
                <a:lnTo>
                  <a:pt x="127386" y="94179"/>
                </a:lnTo>
                <a:lnTo>
                  <a:pt x="133321" y="92586"/>
                </a:lnTo>
                <a:cubicBezTo>
                  <a:pt x="137027" y="91602"/>
                  <a:pt x="139227" y="87781"/>
                  <a:pt x="138243" y="84075"/>
                </a:cubicBezTo>
                <a:cubicBezTo>
                  <a:pt x="137258" y="80369"/>
                  <a:pt x="133437" y="78169"/>
                  <a:pt x="129731" y="79153"/>
                </a:cubicBezTo>
                <a:lnTo>
                  <a:pt x="110363" y="84335"/>
                </a:lnTo>
                <a:lnTo>
                  <a:pt x="92644" y="74116"/>
                </a:lnTo>
                <a:lnTo>
                  <a:pt x="110363" y="63896"/>
                </a:lnTo>
                <a:lnTo>
                  <a:pt x="129731" y="69078"/>
                </a:lnTo>
                <a:cubicBezTo>
                  <a:pt x="133437" y="70062"/>
                  <a:pt x="137258" y="67862"/>
                  <a:pt x="138243" y="64156"/>
                </a:cubicBezTo>
                <a:cubicBezTo>
                  <a:pt x="139227" y="60450"/>
                  <a:pt x="137027" y="56629"/>
                  <a:pt x="133321" y="55645"/>
                </a:cubicBezTo>
                <a:lnTo>
                  <a:pt x="127386" y="54052"/>
                </a:lnTo>
                <a:lnTo>
                  <a:pt x="142933" y="45077"/>
                </a:lnTo>
                <a:cubicBezTo>
                  <a:pt x="147362" y="42530"/>
                  <a:pt x="148897" y="36855"/>
                  <a:pt x="146320" y="32426"/>
                </a:cubicBezTo>
                <a:cubicBezTo>
                  <a:pt x="143744" y="27996"/>
                  <a:pt x="138098" y="26491"/>
                  <a:pt x="133668" y="29038"/>
                </a:cubicBezTo>
                <a:lnTo>
                  <a:pt x="118122" y="38013"/>
                </a:lnTo>
                <a:lnTo>
                  <a:pt x="119714" y="32078"/>
                </a:lnTo>
                <a:cubicBezTo>
                  <a:pt x="120698" y="28372"/>
                  <a:pt x="118498" y="24551"/>
                  <a:pt x="114792" y="23566"/>
                </a:cubicBezTo>
                <a:cubicBezTo>
                  <a:pt x="111086" y="22582"/>
                  <a:pt x="107265" y="24782"/>
                  <a:pt x="106280" y="28488"/>
                </a:cubicBezTo>
                <a:lnTo>
                  <a:pt x="101098" y="47857"/>
                </a:lnTo>
                <a:lnTo>
                  <a:pt x="83380" y="58076"/>
                </a:lnTo>
                <a:lnTo>
                  <a:pt x="83380" y="37637"/>
                </a:lnTo>
                <a:lnTo>
                  <a:pt x="97566" y="23451"/>
                </a:lnTo>
                <a:cubicBezTo>
                  <a:pt x="100288" y="20729"/>
                  <a:pt x="100288" y="16329"/>
                  <a:pt x="97566" y="13636"/>
                </a:cubicBezTo>
                <a:cubicBezTo>
                  <a:pt x="94845" y="10944"/>
                  <a:pt x="90444" y="10915"/>
                  <a:pt x="87752" y="13636"/>
                </a:cubicBezTo>
                <a:lnTo>
                  <a:pt x="83409" y="17979"/>
                </a:lnTo>
                <a:lnTo>
                  <a:pt x="83409" y="0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34"/>
          <p:cNvSpPr/>
          <p:nvPr/>
        </p:nvSpPr>
        <p:spPr>
          <a:xfrm>
            <a:off x="1009800" y="5775840"/>
            <a:ext cx="603072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7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Snowflake Data Warehouse</a:t>
            </a:r>
            <a:endParaRPr b="0" lang="en-US" sz="11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35"/>
          <p:cNvSpPr/>
          <p:nvPr/>
        </p:nvSpPr>
        <p:spPr>
          <a:xfrm>
            <a:off x="1009800" y="5998320"/>
            <a:ext cx="60213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2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dbt transformations → Star schema → BI layer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Shape 36"/>
          <p:cNvSpPr/>
          <p:nvPr/>
        </p:nvSpPr>
        <p:spPr>
          <a:xfrm>
            <a:off x="7317360" y="1415880"/>
            <a:ext cx="4492800" cy="2639880"/>
          </a:xfrm>
          <a:custGeom>
            <a:avLst/>
            <a:gdLst>
              <a:gd name="textAreaLeft" fmla="*/ 0 w 4492800"/>
              <a:gd name="textAreaRight" fmla="*/ 4493160 w 4492800"/>
              <a:gd name="textAreaTop" fmla="*/ 0 h 2639880"/>
              <a:gd name="textAreaBottom" fmla="*/ 2640240 h 2639880"/>
            </a:gdLst>
            <a:ahLst/>
            <a:rect l="textAreaLeft" t="textAreaTop" r="textAreaRight" b="textAreaBottom"/>
            <a:pathLst>
              <a:path w="4493252" h="2640365">
                <a:moveTo>
                  <a:pt x="111186" y="0"/>
                </a:moveTo>
                <a:lnTo>
                  <a:pt x="4382067" y="0"/>
                </a:lnTo>
                <a:cubicBezTo>
                  <a:pt x="4443473" y="0"/>
                  <a:pt x="4493252" y="49780"/>
                  <a:pt x="4493252" y="111186"/>
                </a:cubicBezTo>
                <a:lnTo>
                  <a:pt x="4493252" y="2529179"/>
                </a:lnTo>
                <a:cubicBezTo>
                  <a:pt x="4493252" y="2590585"/>
                  <a:pt x="4443473" y="2640365"/>
                  <a:pt x="4382067" y="2640365"/>
                </a:cubicBezTo>
                <a:lnTo>
                  <a:pt x="111186" y="2640365"/>
                </a:lnTo>
                <a:cubicBezTo>
                  <a:pt x="49780" y="2640365"/>
                  <a:pt x="0" y="2590585"/>
                  <a:pt x="0" y="2529179"/>
                </a:cubicBezTo>
                <a:lnTo>
                  <a:pt x="0" y="111186"/>
                </a:lnTo>
                <a:cubicBezTo>
                  <a:pt x="0" y="49821"/>
                  <a:pt x="49821" y="0"/>
                  <a:pt x="111186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12700">
            <a:solidFill>
              <a:srgbClr val="ff8a65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37"/>
          <p:cNvSpPr/>
          <p:nvPr/>
        </p:nvSpPr>
        <p:spPr>
          <a:xfrm>
            <a:off x="7482960" y="1615320"/>
            <a:ext cx="187200" cy="166320"/>
          </a:xfrm>
          <a:custGeom>
            <a:avLst/>
            <a:gdLst>
              <a:gd name="textAreaLeft" fmla="*/ 0 w 187200"/>
              <a:gd name="textAreaRight" fmla="*/ 187560 w 187200"/>
              <a:gd name="textAreaTop" fmla="*/ 0 h 166320"/>
              <a:gd name="textAreaBottom" fmla="*/ 166680 h 166320"/>
            </a:gdLst>
            <a:ahLst/>
            <a:rect l="textAreaLeft" t="textAreaTop" r="textAreaRight" b="textAreaBottom"/>
            <a:pathLst>
              <a:path w="187605" h="166760">
                <a:moveTo>
                  <a:pt x="72990" y="31626"/>
                </a:moveTo>
                <a:lnTo>
                  <a:pt x="72990" y="47781"/>
                </a:lnTo>
                <a:lnTo>
                  <a:pt x="73153" y="47943"/>
                </a:lnTo>
                <a:cubicBezTo>
                  <a:pt x="75270" y="21106"/>
                  <a:pt x="97711" y="0"/>
                  <a:pt x="125102" y="0"/>
                </a:cubicBezTo>
                <a:cubicBezTo>
                  <a:pt x="131649" y="0"/>
                  <a:pt x="137935" y="1205"/>
                  <a:pt x="143700" y="3420"/>
                </a:cubicBezTo>
                <a:cubicBezTo>
                  <a:pt x="146957" y="4658"/>
                  <a:pt x="147543" y="8794"/>
                  <a:pt x="145101" y="11269"/>
                </a:cubicBezTo>
                <a:lnTo>
                  <a:pt x="116211" y="40159"/>
                </a:lnTo>
                <a:cubicBezTo>
                  <a:pt x="115234" y="41136"/>
                  <a:pt x="114680" y="42472"/>
                  <a:pt x="114680" y="43840"/>
                </a:cubicBezTo>
                <a:lnTo>
                  <a:pt x="114680" y="57324"/>
                </a:lnTo>
                <a:cubicBezTo>
                  <a:pt x="114680" y="60190"/>
                  <a:pt x="117025" y="62535"/>
                  <a:pt x="119891" y="62535"/>
                </a:cubicBezTo>
                <a:lnTo>
                  <a:pt x="133375" y="62535"/>
                </a:lnTo>
                <a:cubicBezTo>
                  <a:pt x="134743" y="62535"/>
                  <a:pt x="136079" y="61981"/>
                  <a:pt x="137056" y="61004"/>
                </a:cubicBezTo>
                <a:lnTo>
                  <a:pt x="165946" y="32114"/>
                </a:lnTo>
                <a:cubicBezTo>
                  <a:pt x="168421" y="29639"/>
                  <a:pt x="172557" y="30258"/>
                  <a:pt x="173795" y="33515"/>
                </a:cubicBezTo>
                <a:cubicBezTo>
                  <a:pt x="176010" y="39280"/>
                  <a:pt x="177215" y="45566"/>
                  <a:pt x="177215" y="52112"/>
                </a:cubicBezTo>
                <a:cubicBezTo>
                  <a:pt x="177215" y="71850"/>
                  <a:pt x="166239" y="89047"/>
                  <a:pt x="150019" y="97874"/>
                </a:cubicBezTo>
                <a:lnTo>
                  <a:pt x="176564" y="124419"/>
                </a:lnTo>
                <a:cubicBezTo>
                  <a:pt x="182654" y="130509"/>
                  <a:pt x="182654" y="140411"/>
                  <a:pt x="176564" y="146534"/>
                </a:cubicBezTo>
                <a:lnTo>
                  <a:pt x="156989" y="166108"/>
                </a:lnTo>
                <a:cubicBezTo>
                  <a:pt x="150898" y="172199"/>
                  <a:pt x="140997" y="172199"/>
                  <a:pt x="134874" y="166108"/>
                </a:cubicBezTo>
                <a:lnTo>
                  <a:pt x="93835" y="125070"/>
                </a:lnTo>
                <a:cubicBezTo>
                  <a:pt x="84911" y="116146"/>
                  <a:pt x="82891" y="102955"/>
                  <a:pt x="87809" y="92076"/>
                </a:cubicBezTo>
                <a:lnTo>
                  <a:pt x="58268" y="62535"/>
                </a:lnTo>
                <a:lnTo>
                  <a:pt x="42113" y="62535"/>
                </a:lnTo>
                <a:cubicBezTo>
                  <a:pt x="38628" y="62535"/>
                  <a:pt x="35371" y="60809"/>
                  <a:pt x="33450" y="57910"/>
                </a:cubicBezTo>
                <a:lnTo>
                  <a:pt x="7621" y="19184"/>
                </a:lnTo>
                <a:cubicBezTo>
                  <a:pt x="6253" y="17132"/>
                  <a:pt x="6514" y="14363"/>
                  <a:pt x="8273" y="12605"/>
                </a:cubicBezTo>
                <a:lnTo>
                  <a:pt x="23060" y="-2182"/>
                </a:lnTo>
                <a:cubicBezTo>
                  <a:pt x="24819" y="-3941"/>
                  <a:pt x="27554" y="-4202"/>
                  <a:pt x="29639" y="-2834"/>
                </a:cubicBezTo>
                <a:lnTo>
                  <a:pt x="68365" y="22962"/>
                </a:lnTo>
                <a:cubicBezTo>
                  <a:pt x="71264" y="24884"/>
                  <a:pt x="72990" y="28141"/>
                  <a:pt x="72990" y="31626"/>
                </a:cubicBezTo>
                <a:close/>
                <a:moveTo>
                  <a:pt x="70222" y="96603"/>
                </a:moveTo>
                <a:cubicBezTo>
                  <a:pt x="68170" y="108654"/>
                  <a:pt x="71003" y="121389"/>
                  <a:pt x="78820" y="131584"/>
                </a:cubicBezTo>
                <a:lnTo>
                  <a:pt x="47878" y="162493"/>
                </a:lnTo>
                <a:cubicBezTo>
                  <a:pt x="38726" y="171645"/>
                  <a:pt x="23874" y="171645"/>
                  <a:pt x="14722" y="162493"/>
                </a:cubicBezTo>
                <a:cubicBezTo>
                  <a:pt x="5570" y="153341"/>
                  <a:pt x="5570" y="138489"/>
                  <a:pt x="14722" y="129337"/>
                </a:cubicBezTo>
                <a:lnTo>
                  <a:pt x="58822" y="85236"/>
                </a:lnTo>
                <a:lnTo>
                  <a:pt x="70222" y="96636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38"/>
          <p:cNvSpPr/>
          <p:nvPr/>
        </p:nvSpPr>
        <p:spPr>
          <a:xfrm>
            <a:off x="7737480" y="1568880"/>
            <a:ext cx="400356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320" spc="-1" strike="noStrike">
                <a:solidFill>
                  <a:srgbClr val="ff8a65"/>
                </a:solidFill>
                <a:latin typeface="Liter"/>
                <a:ea typeface="Liter"/>
              </a:rPr>
              <a:t>Tech Stack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Shape 39"/>
          <p:cNvSpPr/>
          <p:nvPr/>
        </p:nvSpPr>
        <p:spPr>
          <a:xfrm>
            <a:off x="7470000" y="1958040"/>
            <a:ext cx="296280" cy="296280"/>
          </a:xfrm>
          <a:custGeom>
            <a:avLst/>
            <a:gdLst>
              <a:gd name="textAreaLeft" fmla="*/ 0 w 296280"/>
              <a:gd name="textAreaRight" fmla="*/ 296640 w 296280"/>
              <a:gd name="textAreaTop" fmla="*/ 0 h 296280"/>
              <a:gd name="textAreaBottom" fmla="*/ 296640 h 296280"/>
            </a:gdLst>
            <a:ahLst/>
            <a:rect l="textAreaLeft" t="textAreaTop" r="textAreaRight" b="textAreaBottom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Shape 40"/>
          <p:cNvSpPr/>
          <p:nvPr/>
        </p:nvSpPr>
        <p:spPr>
          <a:xfrm>
            <a:off x="7547760" y="2041200"/>
            <a:ext cx="145440" cy="129240"/>
          </a:xfrm>
          <a:custGeom>
            <a:avLst/>
            <a:gdLst>
              <a:gd name="textAreaLeft" fmla="*/ 0 w 145440"/>
              <a:gd name="textAreaRight" fmla="*/ 145800 w 145440"/>
              <a:gd name="textAreaTop" fmla="*/ 0 h 129240"/>
              <a:gd name="textAreaBottom" fmla="*/ 129600 h 129240"/>
            </a:gdLst>
            <a:ahLst/>
            <a:rect l="textAreaLeft" t="textAreaTop" r="textAreaRight" b="textAreaBottom"/>
            <a:pathLst>
              <a:path w="145915" h="129702">
                <a:moveTo>
                  <a:pt x="131729" y="50665"/>
                </a:moveTo>
                <a:cubicBezTo>
                  <a:pt x="139556" y="50665"/>
                  <a:pt x="145915" y="57023"/>
                  <a:pt x="145915" y="64851"/>
                </a:cubicBezTo>
                <a:cubicBezTo>
                  <a:pt x="145915" y="72679"/>
                  <a:pt x="139556" y="79037"/>
                  <a:pt x="131729" y="79037"/>
                </a:cubicBezTo>
                <a:lnTo>
                  <a:pt x="99481" y="79037"/>
                </a:lnTo>
                <a:lnTo>
                  <a:pt x="59151" y="123014"/>
                </a:lnTo>
                <a:cubicBezTo>
                  <a:pt x="57606" y="124686"/>
                  <a:pt x="55453" y="125649"/>
                  <a:pt x="53173" y="125649"/>
                </a:cubicBezTo>
                <a:lnTo>
                  <a:pt x="42103" y="125649"/>
                </a:lnTo>
                <a:cubicBezTo>
                  <a:pt x="39341" y="125649"/>
                  <a:pt x="37391" y="122938"/>
                  <a:pt x="38252" y="120304"/>
                </a:cubicBezTo>
                <a:lnTo>
                  <a:pt x="52008" y="79037"/>
                </a:lnTo>
                <a:lnTo>
                  <a:pt x="26751" y="79037"/>
                </a:lnTo>
                <a:lnTo>
                  <a:pt x="13376" y="95757"/>
                </a:lnTo>
                <a:cubicBezTo>
                  <a:pt x="12616" y="96719"/>
                  <a:pt x="11450" y="97277"/>
                  <a:pt x="10209" y="97277"/>
                </a:cubicBezTo>
                <a:lnTo>
                  <a:pt x="5193" y="97277"/>
                </a:lnTo>
                <a:cubicBezTo>
                  <a:pt x="2559" y="97277"/>
                  <a:pt x="633" y="94794"/>
                  <a:pt x="1267" y="92235"/>
                </a:cubicBezTo>
                <a:lnTo>
                  <a:pt x="8106" y="64851"/>
                </a:lnTo>
                <a:lnTo>
                  <a:pt x="1267" y="37467"/>
                </a:lnTo>
                <a:cubicBezTo>
                  <a:pt x="608" y="34908"/>
                  <a:pt x="2559" y="32426"/>
                  <a:pt x="5193" y="32426"/>
                </a:cubicBezTo>
                <a:lnTo>
                  <a:pt x="10209" y="32426"/>
                </a:lnTo>
                <a:cubicBezTo>
                  <a:pt x="11450" y="32426"/>
                  <a:pt x="12616" y="32983"/>
                  <a:pt x="13376" y="33945"/>
                </a:cubicBezTo>
                <a:lnTo>
                  <a:pt x="26751" y="50665"/>
                </a:lnTo>
                <a:lnTo>
                  <a:pt x="52008" y="50665"/>
                </a:lnTo>
                <a:lnTo>
                  <a:pt x="38252" y="9398"/>
                </a:lnTo>
                <a:cubicBezTo>
                  <a:pt x="37391" y="6764"/>
                  <a:pt x="39341" y="4053"/>
                  <a:pt x="42103" y="4053"/>
                </a:cubicBezTo>
                <a:lnTo>
                  <a:pt x="53173" y="4053"/>
                </a:lnTo>
                <a:cubicBezTo>
                  <a:pt x="55453" y="4053"/>
                  <a:pt x="57606" y="5016"/>
                  <a:pt x="59151" y="6688"/>
                </a:cubicBezTo>
                <a:lnTo>
                  <a:pt x="99481" y="50665"/>
                </a:lnTo>
                <a:lnTo>
                  <a:pt x="131729" y="50665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41"/>
          <p:cNvSpPr/>
          <p:nvPr/>
        </p:nvSpPr>
        <p:spPr>
          <a:xfrm>
            <a:off x="7840800" y="1939320"/>
            <a:ext cx="198900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2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Airbyte + Fivetran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42"/>
          <p:cNvSpPr/>
          <p:nvPr/>
        </p:nvSpPr>
        <p:spPr>
          <a:xfrm>
            <a:off x="7840800" y="2124720"/>
            <a:ext cx="1037160" cy="1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0" lang="en-US" sz="88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Data ingestion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Shape 43"/>
          <p:cNvSpPr/>
          <p:nvPr/>
        </p:nvSpPr>
        <p:spPr>
          <a:xfrm>
            <a:off x="7470000" y="2365560"/>
            <a:ext cx="296280" cy="296280"/>
          </a:xfrm>
          <a:custGeom>
            <a:avLst/>
            <a:gdLst>
              <a:gd name="textAreaLeft" fmla="*/ 0 w 296280"/>
              <a:gd name="textAreaRight" fmla="*/ 296640 w 296280"/>
              <a:gd name="textAreaTop" fmla="*/ 0 h 296280"/>
              <a:gd name="textAreaBottom" fmla="*/ 296640 h 296280"/>
            </a:gdLst>
            <a:ahLst/>
            <a:rect l="textAreaLeft" t="textAreaTop" r="textAreaRight" b="textAreaBottom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44"/>
          <p:cNvSpPr/>
          <p:nvPr/>
        </p:nvSpPr>
        <p:spPr>
          <a:xfrm>
            <a:off x="7556040" y="2449080"/>
            <a:ext cx="129240" cy="129240"/>
          </a:xfrm>
          <a:custGeom>
            <a:avLst/>
            <a:gdLst>
              <a:gd name="textAreaLeft" fmla="*/ 0 w 129240"/>
              <a:gd name="textAreaRight" fmla="*/ 129600 w 129240"/>
              <a:gd name="textAreaTop" fmla="*/ 0 h 129240"/>
              <a:gd name="textAreaBottom" fmla="*/ 129600 h 129240"/>
            </a:gdLst>
            <a:ahLst/>
            <a:rect l="textAreaLeft" t="textAreaTop" r="textAreaRight" b="textAreaBottom"/>
            <a:pathLst>
              <a:path w="129702" h="129702">
                <a:moveTo>
                  <a:pt x="56821" y="-633"/>
                </a:moveTo>
                <a:cubicBezTo>
                  <a:pt x="61837" y="-3521"/>
                  <a:pt x="68018" y="-3521"/>
                  <a:pt x="73033" y="-633"/>
                </a:cubicBezTo>
                <a:lnTo>
                  <a:pt x="117593" y="25079"/>
                </a:lnTo>
                <a:cubicBezTo>
                  <a:pt x="122609" y="27967"/>
                  <a:pt x="125700" y="33338"/>
                  <a:pt x="125700" y="39113"/>
                </a:cubicBezTo>
                <a:lnTo>
                  <a:pt x="125700" y="90538"/>
                </a:lnTo>
                <a:cubicBezTo>
                  <a:pt x="125700" y="96339"/>
                  <a:pt x="122609" y="101684"/>
                  <a:pt x="117593" y="104572"/>
                </a:cubicBezTo>
                <a:lnTo>
                  <a:pt x="73033" y="130335"/>
                </a:lnTo>
                <a:cubicBezTo>
                  <a:pt x="68018" y="133223"/>
                  <a:pt x="61837" y="133223"/>
                  <a:pt x="56821" y="130335"/>
                </a:cubicBezTo>
                <a:lnTo>
                  <a:pt x="12286" y="104623"/>
                </a:lnTo>
                <a:cubicBezTo>
                  <a:pt x="7270" y="101735"/>
                  <a:pt x="4180" y="96365"/>
                  <a:pt x="4180" y="90589"/>
                </a:cubicBezTo>
                <a:lnTo>
                  <a:pt x="4180" y="39164"/>
                </a:lnTo>
                <a:cubicBezTo>
                  <a:pt x="4180" y="33363"/>
                  <a:pt x="7270" y="28018"/>
                  <a:pt x="12286" y="25130"/>
                </a:cubicBezTo>
                <a:lnTo>
                  <a:pt x="56821" y="-633"/>
                </a:lnTo>
                <a:close/>
                <a:moveTo>
                  <a:pt x="109462" y="90563"/>
                </a:moveTo>
                <a:lnTo>
                  <a:pt x="109462" y="48486"/>
                </a:lnTo>
                <a:lnTo>
                  <a:pt x="73033" y="69512"/>
                </a:lnTo>
                <a:lnTo>
                  <a:pt x="73033" y="111589"/>
                </a:lnTo>
                <a:lnTo>
                  <a:pt x="109462" y="90563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45"/>
          <p:cNvSpPr/>
          <p:nvPr/>
        </p:nvSpPr>
        <p:spPr>
          <a:xfrm>
            <a:off x="7840800" y="2311200"/>
            <a:ext cx="8427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2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dbt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46"/>
          <p:cNvSpPr/>
          <p:nvPr/>
        </p:nvSpPr>
        <p:spPr>
          <a:xfrm>
            <a:off x="7840800" y="2532240"/>
            <a:ext cx="130320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0" lang="en-US" sz="88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Transformations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Shape 47"/>
          <p:cNvSpPr/>
          <p:nvPr/>
        </p:nvSpPr>
        <p:spPr>
          <a:xfrm>
            <a:off x="7470000" y="2773080"/>
            <a:ext cx="296280" cy="296280"/>
          </a:xfrm>
          <a:custGeom>
            <a:avLst/>
            <a:gdLst>
              <a:gd name="textAreaLeft" fmla="*/ 0 w 296280"/>
              <a:gd name="textAreaRight" fmla="*/ 296640 w 296280"/>
              <a:gd name="textAreaTop" fmla="*/ 0 h 296280"/>
              <a:gd name="textAreaBottom" fmla="*/ 296640 h 296280"/>
            </a:gdLst>
            <a:ahLst/>
            <a:rect l="textAreaLeft" t="textAreaTop" r="textAreaRight" b="textAreaBottom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Shape 48"/>
          <p:cNvSpPr/>
          <p:nvPr/>
        </p:nvSpPr>
        <p:spPr>
          <a:xfrm>
            <a:off x="7556040" y="2856600"/>
            <a:ext cx="129240" cy="129240"/>
          </a:xfrm>
          <a:custGeom>
            <a:avLst/>
            <a:gdLst>
              <a:gd name="textAreaLeft" fmla="*/ 0 w 129240"/>
              <a:gd name="textAreaRight" fmla="*/ 129600 w 129240"/>
              <a:gd name="textAreaTop" fmla="*/ 0 h 129240"/>
              <a:gd name="textAreaBottom" fmla="*/ 129600 h 129240"/>
            </a:gdLst>
            <a:ahLst/>
            <a:rect l="textAreaLeft" t="textAreaTop" r="textAreaRight" b="textAreaBottom"/>
            <a:pathLst>
              <a:path w="129702" h="129702">
                <a:moveTo>
                  <a:pt x="73008" y="0"/>
                </a:moveTo>
                <a:cubicBezTo>
                  <a:pt x="73008" y="-4484"/>
                  <a:pt x="69386" y="-8106"/>
                  <a:pt x="64902" y="-8106"/>
                </a:cubicBezTo>
                <a:cubicBezTo>
                  <a:pt x="60418" y="-8106"/>
                  <a:pt x="56795" y="-4484"/>
                  <a:pt x="56795" y="0"/>
                </a:cubicBezTo>
                <a:lnTo>
                  <a:pt x="56795" y="15731"/>
                </a:lnTo>
                <a:lnTo>
                  <a:pt x="52995" y="11932"/>
                </a:lnTo>
                <a:cubicBezTo>
                  <a:pt x="50614" y="9550"/>
                  <a:pt x="46764" y="9550"/>
                  <a:pt x="44408" y="11932"/>
                </a:cubicBezTo>
                <a:cubicBezTo>
                  <a:pt x="42052" y="14313"/>
                  <a:pt x="42027" y="18163"/>
                  <a:pt x="44408" y="20519"/>
                </a:cubicBezTo>
                <a:lnTo>
                  <a:pt x="56821" y="32932"/>
                </a:lnTo>
                <a:lnTo>
                  <a:pt x="56821" y="50817"/>
                </a:lnTo>
                <a:lnTo>
                  <a:pt x="41317" y="41875"/>
                </a:lnTo>
                <a:lnTo>
                  <a:pt x="36783" y="24927"/>
                </a:lnTo>
                <a:cubicBezTo>
                  <a:pt x="35921" y="21685"/>
                  <a:pt x="32578" y="19759"/>
                  <a:pt x="29335" y="20621"/>
                </a:cubicBezTo>
                <a:cubicBezTo>
                  <a:pt x="26092" y="21482"/>
                  <a:pt x="24142" y="24826"/>
                  <a:pt x="25003" y="28068"/>
                </a:cubicBezTo>
                <a:lnTo>
                  <a:pt x="26396" y="33262"/>
                </a:lnTo>
                <a:lnTo>
                  <a:pt x="12793" y="25408"/>
                </a:lnTo>
                <a:cubicBezTo>
                  <a:pt x="8917" y="23179"/>
                  <a:pt x="3952" y="24496"/>
                  <a:pt x="1723" y="28372"/>
                </a:cubicBezTo>
                <a:cubicBezTo>
                  <a:pt x="-507" y="32248"/>
                  <a:pt x="811" y="37213"/>
                  <a:pt x="4687" y="39443"/>
                </a:cubicBezTo>
                <a:lnTo>
                  <a:pt x="18290" y="47296"/>
                </a:lnTo>
                <a:lnTo>
                  <a:pt x="13097" y="48689"/>
                </a:lnTo>
                <a:cubicBezTo>
                  <a:pt x="9854" y="49550"/>
                  <a:pt x="7929" y="52894"/>
                  <a:pt x="8790" y="56137"/>
                </a:cubicBezTo>
                <a:cubicBezTo>
                  <a:pt x="9652" y="59379"/>
                  <a:pt x="12996" y="61305"/>
                  <a:pt x="16238" y="60443"/>
                </a:cubicBezTo>
                <a:lnTo>
                  <a:pt x="33186" y="55909"/>
                </a:lnTo>
                <a:lnTo>
                  <a:pt x="48689" y="64851"/>
                </a:lnTo>
                <a:lnTo>
                  <a:pt x="33186" y="73793"/>
                </a:lnTo>
                <a:lnTo>
                  <a:pt x="16238" y="69259"/>
                </a:lnTo>
                <a:cubicBezTo>
                  <a:pt x="12996" y="68398"/>
                  <a:pt x="9652" y="70323"/>
                  <a:pt x="8790" y="73565"/>
                </a:cubicBezTo>
                <a:cubicBezTo>
                  <a:pt x="7929" y="76808"/>
                  <a:pt x="9854" y="80152"/>
                  <a:pt x="13097" y="81013"/>
                </a:cubicBezTo>
                <a:lnTo>
                  <a:pt x="18290" y="82406"/>
                </a:lnTo>
                <a:lnTo>
                  <a:pt x="4687" y="90260"/>
                </a:lnTo>
                <a:cubicBezTo>
                  <a:pt x="811" y="92489"/>
                  <a:pt x="-507" y="97454"/>
                  <a:pt x="1723" y="101330"/>
                </a:cubicBezTo>
                <a:cubicBezTo>
                  <a:pt x="3952" y="105206"/>
                  <a:pt x="8917" y="106548"/>
                  <a:pt x="12793" y="104294"/>
                </a:cubicBezTo>
                <a:lnTo>
                  <a:pt x="26396" y="96441"/>
                </a:lnTo>
                <a:lnTo>
                  <a:pt x="25003" y="101634"/>
                </a:lnTo>
                <a:cubicBezTo>
                  <a:pt x="24142" y="104876"/>
                  <a:pt x="26067" y="108220"/>
                  <a:pt x="29310" y="109082"/>
                </a:cubicBezTo>
                <a:cubicBezTo>
                  <a:pt x="32552" y="109943"/>
                  <a:pt x="35896" y="108018"/>
                  <a:pt x="36757" y="104775"/>
                </a:cubicBezTo>
                <a:lnTo>
                  <a:pt x="41292" y="87828"/>
                </a:lnTo>
                <a:lnTo>
                  <a:pt x="56795" y="78885"/>
                </a:lnTo>
                <a:lnTo>
                  <a:pt x="56795" y="96770"/>
                </a:lnTo>
                <a:lnTo>
                  <a:pt x="44382" y="109183"/>
                </a:lnTo>
                <a:cubicBezTo>
                  <a:pt x="42001" y="111564"/>
                  <a:pt x="42001" y="115415"/>
                  <a:pt x="44382" y="117771"/>
                </a:cubicBezTo>
                <a:cubicBezTo>
                  <a:pt x="46764" y="120126"/>
                  <a:pt x="50614" y="120152"/>
                  <a:pt x="52970" y="117771"/>
                </a:cubicBezTo>
                <a:lnTo>
                  <a:pt x="56770" y="113971"/>
                </a:lnTo>
                <a:lnTo>
                  <a:pt x="56770" y="129702"/>
                </a:lnTo>
                <a:cubicBezTo>
                  <a:pt x="56770" y="134186"/>
                  <a:pt x="60393" y="137809"/>
                  <a:pt x="64876" y="137809"/>
                </a:cubicBezTo>
                <a:cubicBezTo>
                  <a:pt x="69360" y="137809"/>
                  <a:pt x="72983" y="134186"/>
                  <a:pt x="72983" y="129702"/>
                </a:cubicBezTo>
                <a:lnTo>
                  <a:pt x="72983" y="113971"/>
                </a:lnTo>
                <a:lnTo>
                  <a:pt x="76783" y="117771"/>
                </a:lnTo>
                <a:cubicBezTo>
                  <a:pt x="79164" y="120152"/>
                  <a:pt x="83014" y="120152"/>
                  <a:pt x="85370" y="117771"/>
                </a:cubicBezTo>
                <a:cubicBezTo>
                  <a:pt x="87726" y="115389"/>
                  <a:pt x="87752" y="111539"/>
                  <a:pt x="85370" y="109183"/>
                </a:cubicBezTo>
                <a:lnTo>
                  <a:pt x="72957" y="96770"/>
                </a:lnTo>
                <a:lnTo>
                  <a:pt x="72957" y="78885"/>
                </a:lnTo>
                <a:lnTo>
                  <a:pt x="88461" y="87828"/>
                </a:lnTo>
                <a:lnTo>
                  <a:pt x="92995" y="104775"/>
                </a:lnTo>
                <a:cubicBezTo>
                  <a:pt x="93857" y="108018"/>
                  <a:pt x="97201" y="109943"/>
                  <a:pt x="100443" y="109082"/>
                </a:cubicBezTo>
                <a:cubicBezTo>
                  <a:pt x="103686" y="108220"/>
                  <a:pt x="105611" y="104876"/>
                  <a:pt x="104750" y="101634"/>
                </a:cubicBezTo>
                <a:lnTo>
                  <a:pt x="103356" y="96441"/>
                </a:lnTo>
                <a:lnTo>
                  <a:pt x="116960" y="104294"/>
                </a:lnTo>
                <a:cubicBezTo>
                  <a:pt x="120836" y="106523"/>
                  <a:pt x="125801" y="105206"/>
                  <a:pt x="128030" y="101330"/>
                </a:cubicBezTo>
                <a:cubicBezTo>
                  <a:pt x="130259" y="97454"/>
                  <a:pt x="128942" y="92489"/>
                  <a:pt x="125066" y="90260"/>
                </a:cubicBezTo>
                <a:lnTo>
                  <a:pt x="111463" y="82406"/>
                </a:lnTo>
                <a:lnTo>
                  <a:pt x="116656" y="81013"/>
                </a:lnTo>
                <a:cubicBezTo>
                  <a:pt x="119898" y="80152"/>
                  <a:pt x="121824" y="76808"/>
                  <a:pt x="120962" y="73565"/>
                </a:cubicBezTo>
                <a:cubicBezTo>
                  <a:pt x="120101" y="70323"/>
                  <a:pt x="116757" y="68398"/>
                  <a:pt x="113515" y="69259"/>
                </a:cubicBezTo>
                <a:lnTo>
                  <a:pt x="96567" y="73793"/>
                </a:lnTo>
                <a:lnTo>
                  <a:pt x="81064" y="64851"/>
                </a:lnTo>
                <a:lnTo>
                  <a:pt x="96567" y="55909"/>
                </a:lnTo>
                <a:lnTo>
                  <a:pt x="113515" y="60443"/>
                </a:lnTo>
                <a:cubicBezTo>
                  <a:pt x="116757" y="61305"/>
                  <a:pt x="120101" y="59379"/>
                  <a:pt x="120962" y="56137"/>
                </a:cubicBezTo>
                <a:cubicBezTo>
                  <a:pt x="121824" y="52894"/>
                  <a:pt x="119898" y="49550"/>
                  <a:pt x="116656" y="48689"/>
                </a:cubicBezTo>
                <a:lnTo>
                  <a:pt x="111463" y="47296"/>
                </a:lnTo>
                <a:lnTo>
                  <a:pt x="125066" y="39443"/>
                </a:lnTo>
                <a:cubicBezTo>
                  <a:pt x="128942" y="37213"/>
                  <a:pt x="130285" y="32248"/>
                  <a:pt x="128030" y="28372"/>
                </a:cubicBezTo>
                <a:cubicBezTo>
                  <a:pt x="125776" y="24496"/>
                  <a:pt x="120836" y="23179"/>
                  <a:pt x="116960" y="25408"/>
                </a:cubicBezTo>
                <a:lnTo>
                  <a:pt x="103356" y="33262"/>
                </a:lnTo>
                <a:lnTo>
                  <a:pt x="104750" y="28068"/>
                </a:lnTo>
                <a:cubicBezTo>
                  <a:pt x="105611" y="24826"/>
                  <a:pt x="103686" y="21482"/>
                  <a:pt x="100443" y="20621"/>
                </a:cubicBezTo>
                <a:cubicBezTo>
                  <a:pt x="97201" y="19759"/>
                  <a:pt x="93857" y="21685"/>
                  <a:pt x="92995" y="24927"/>
                </a:cubicBezTo>
                <a:lnTo>
                  <a:pt x="88461" y="41875"/>
                </a:lnTo>
                <a:lnTo>
                  <a:pt x="72957" y="50817"/>
                </a:lnTo>
                <a:lnTo>
                  <a:pt x="72957" y="32932"/>
                </a:lnTo>
                <a:lnTo>
                  <a:pt x="85370" y="20519"/>
                </a:lnTo>
                <a:cubicBezTo>
                  <a:pt x="87752" y="18138"/>
                  <a:pt x="87752" y="14287"/>
                  <a:pt x="85370" y="11932"/>
                </a:cubicBezTo>
                <a:cubicBezTo>
                  <a:pt x="82989" y="9576"/>
                  <a:pt x="79139" y="9550"/>
                  <a:pt x="76783" y="11932"/>
                </a:cubicBezTo>
                <a:lnTo>
                  <a:pt x="72983" y="15731"/>
                </a:lnTo>
                <a:lnTo>
                  <a:pt x="72983" y="0"/>
                </a:ln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49"/>
          <p:cNvSpPr/>
          <p:nvPr/>
        </p:nvSpPr>
        <p:spPr>
          <a:xfrm>
            <a:off x="7840800" y="2754720"/>
            <a:ext cx="85212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2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Snowflake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50"/>
          <p:cNvSpPr/>
          <p:nvPr/>
        </p:nvSpPr>
        <p:spPr>
          <a:xfrm>
            <a:off x="7840800" y="2940120"/>
            <a:ext cx="1989000" cy="1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0" lang="en-US" sz="88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Data warehouse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Shape 51"/>
          <p:cNvSpPr/>
          <p:nvPr/>
        </p:nvSpPr>
        <p:spPr>
          <a:xfrm>
            <a:off x="7470000" y="3180960"/>
            <a:ext cx="296280" cy="296280"/>
          </a:xfrm>
          <a:custGeom>
            <a:avLst/>
            <a:gdLst>
              <a:gd name="textAreaLeft" fmla="*/ 0 w 296280"/>
              <a:gd name="textAreaRight" fmla="*/ 296640 w 296280"/>
              <a:gd name="textAreaTop" fmla="*/ 0 h 296280"/>
              <a:gd name="textAreaBottom" fmla="*/ 296640 h 296280"/>
            </a:gdLst>
            <a:ahLst/>
            <a:rect l="textAreaLeft" t="textAreaTop" r="textAreaRight" b="textAreaBottom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Shape 52"/>
          <p:cNvSpPr/>
          <p:nvPr/>
        </p:nvSpPr>
        <p:spPr>
          <a:xfrm>
            <a:off x="7556040" y="3264120"/>
            <a:ext cx="129240" cy="129240"/>
          </a:xfrm>
          <a:custGeom>
            <a:avLst/>
            <a:gdLst>
              <a:gd name="textAreaLeft" fmla="*/ 0 w 129240"/>
              <a:gd name="textAreaRight" fmla="*/ 129600 w 129240"/>
              <a:gd name="textAreaTop" fmla="*/ 0 h 129240"/>
              <a:gd name="textAreaBottom" fmla="*/ 129600 h 129240"/>
            </a:gdLst>
            <a:ahLst/>
            <a:rect l="textAreaLeft" t="textAreaTop" r="textAreaRight" b="textAreaBottom"/>
            <a:pathLst>
              <a:path w="129702" h="129702">
                <a:moveTo>
                  <a:pt x="72957" y="8106"/>
                </a:moveTo>
                <a:cubicBezTo>
                  <a:pt x="72957" y="12590"/>
                  <a:pt x="76580" y="16213"/>
                  <a:pt x="81064" y="16213"/>
                </a:cubicBezTo>
                <a:lnTo>
                  <a:pt x="91197" y="16213"/>
                </a:lnTo>
                <a:cubicBezTo>
                  <a:pt x="94566" y="16213"/>
                  <a:pt x="97277" y="18923"/>
                  <a:pt x="97277" y="22293"/>
                </a:cubicBezTo>
                <a:cubicBezTo>
                  <a:pt x="97277" y="25662"/>
                  <a:pt x="94566" y="28372"/>
                  <a:pt x="91197" y="28372"/>
                </a:cubicBezTo>
                <a:lnTo>
                  <a:pt x="8106" y="28372"/>
                </a:lnTo>
                <a:cubicBezTo>
                  <a:pt x="3623" y="28372"/>
                  <a:pt x="0" y="31995"/>
                  <a:pt x="0" y="36479"/>
                </a:cubicBezTo>
                <a:cubicBezTo>
                  <a:pt x="0" y="40963"/>
                  <a:pt x="3623" y="44585"/>
                  <a:pt x="8106" y="44585"/>
                </a:cubicBezTo>
                <a:lnTo>
                  <a:pt x="91197" y="44585"/>
                </a:lnTo>
                <a:cubicBezTo>
                  <a:pt x="103508" y="44585"/>
                  <a:pt x="113489" y="34604"/>
                  <a:pt x="113489" y="22293"/>
                </a:cubicBezTo>
                <a:cubicBezTo>
                  <a:pt x="113489" y="9981"/>
                  <a:pt x="103508" y="0"/>
                  <a:pt x="91197" y="0"/>
                </a:cubicBezTo>
                <a:lnTo>
                  <a:pt x="81064" y="0"/>
                </a:lnTo>
                <a:cubicBezTo>
                  <a:pt x="76580" y="0"/>
                  <a:pt x="72957" y="3623"/>
                  <a:pt x="72957" y="8106"/>
                </a:cubicBezTo>
                <a:close/>
                <a:moveTo>
                  <a:pt x="89170" y="97277"/>
                </a:moveTo>
                <a:cubicBezTo>
                  <a:pt x="89170" y="101760"/>
                  <a:pt x="92793" y="105383"/>
                  <a:pt x="97277" y="105383"/>
                </a:cubicBezTo>
                <a:lnTo>
                  <a:pt x="105383" y="105383"/>
                </a:lnTo>
                <a:cubicBezTo>
                  <a:pt x="118809" y="105383"/>
                  <a:pt x="129702" y="94490"/>
                  <a:pt x="129702" y="81064"/>
                </a:cubicBezTo>
                <a:cubicBezTo>
                  <a:pt x="129702" y="67638"/>
                  <a:pt x="118809" y="56745"/>
                  <a:pt x="105383" y="56745"/>
                </a:cubicBezTo>
                <a:lnTo>
                  <a:pt x="8106" y="56745"/>
                </a:lnTo>
                <a:cubicBezTo>
                  <a:pt x="3623" y="56745"/>
                  <a:pt x="0" y="60367"/>
                  <a:pt x="0" y="64851"/>
                </a:cubicBezTo>
                <a:cubicBezTo>
                  <a:pt x="0" y="69335"/>
                  <a:pt x="3623" y="72957"/>
                  <a:pt x="8106" y="72957"/>
                </a:cubicBezTo>
                <a:lnTo>
                  <a:pt x="105383" y="72957"/>
                </a:lnTo>
                <a:cubicBezTo>
                  <a:pt x="109867" y="72957"/>
                  <a:pt x="113489" y="76580"/>
                  <a:pt x="113489" y="81064"/>
                </a:cubicBezTo>
                <a:cubicBezTo>
                  <a:pt x="113489" y="85548"/>
                  <a:pt x="109867" y="89170"/>
                  <a:pt x="105383" y="89170"/>
                </a:cubicBezTo>
                <a:lnTo>
                  <a:pt x="97277" y="89170"/>
                </a:lnTo>
                <a:cubicBezTo>
                  <a:pt x="92793" y="89170"/>
                  <a:pt x="89170" y="92793"/>
                  <a:pt x="89170" y="97277"/>
                </a:cubicBezTo>
                <a:close/>
                <a:moveTo>
                  <a:pt x="32426" y="129702"/>
                </a:moveTo>
                <a:lnTo>
                  <a:pt x="42559" y="129702"/>
                </a:lnTo>
                <a:cubicBezTo>
                  <a:pt x="54870" y="129702"/>
                  <a:pt x="64851" y="119721"/>
                  <a:pt x="64851" y="107410"/>
                </a:cubicBezTo>
                <a:cubicBezTo>
                  <a:pt x="64851" y="95098"/>
                  <a:pt x="54870" y="85117"/>
                  <a:pt x="42559" y="85117"/>
                </a:cubicBezTo>
                <a:lnTo>
                  <a:pt x="8106" y="85117"/>
                </a:lnTo>
                <a:cubicBezTo>
                  <a:pt x="3623" y="85117"/>
                  <a:pt x="0" y="88740"/>
                  <a:pt x="0" y="93223"/>
                </a:cubicBezTo>
                <a:cubicBezTo>
                  <a:pt x="0" y="97707"/>
                  <a:pt x="3623" y="101330"/>
                  <a:pt x="8106" y="101330"/>
                </a:cubicBezTo>
                <a:lnTo>
                  <a:pt x="42559" y="101330"/>
                </a:lnTo>
                <a:cubicBezTo>
                  <a:pt x="45928" y="101330"/>
                  <a:pt x="48638" y="104040"/>
                  <a:pt x="48638" y="107410"/>
                </a:cubicBezTo>
                <a:cubicBezTo>
                  <a:pt x="48638" y="110779"/>
                  <a:pt x="45928" y="113489"/>
                  <a:pt x="42559" y="113489"/>
                </a:cubicBezTo>
                <a:lnTo>
                  <a:pt x="32426" y="113489"/>
                </a:lnTo>
                <a:cubicBezTo>
                  <a:pt x="27942" y="113489"/>
                  <a:pt x="24319" y="117112"/>
                  <a:pt x="24319" y="121596"/>
                </a:cubicBezTo>
                <a:cubicBezTo>
                  <a:pt x="24319" y="126080"/>
                  <a:pt x="27942" y="129702"/>
                  <a:pt x="32426" y="129702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 53"/>
          <p:cNvSpPr/>
          <p:nvPr/>
        </p:nvSpPr>
        <p:spPr>
          <a:xfrm>
            <a:off x="7840800" y="3162240"/>
            <a:ext cx="7221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2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Airflow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54"/>
          <p:cNvSpPr/>
          <p:nvPr/>
        </p:nvSpPr>
        <p:spPr>
          <a:xfrm>
            <a:off x="7840800" y="3347640"/>
            <a:ext cx="1303200" cy="1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0" lang="en-US" sz="88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Orchestration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Shape 55"/>
          <p:cNvSpPr/>
          <p:nvPr/>
        </p:nvSpPr>
        <p:spPr>
          <a:xfrm>
            <a:off x="7470000" y="3588480"/>
            <a:ext cx="296280" cy="296280"/>
          </a:xfrm>
          <a:custGeom>
            <a:avLst/>
            <a:gdLst>
              <a:gd name="textAreaLeft" fmla="*/ 0 w 296280"/>
              <a:gd name="textAreaRight" fmla="*/ 296640 w 296280"/>
              <a:gd name="textAreaTop" fmla="*/ 0 h 296280"/>
              <a:gd name="textAreaBottom" fmla="*/ 296640 h 296280"/>
            </a:gdLst>
            <a:ahLst/>
            <a:rect l="textAreaLeft" t="textAreaTop" r="textAreaRight" b="textAreaBottom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56"/>
          <p:cNvSpPr/>
          <p:nvPr/>
        </p:nvSpPr>
        <p:spPr>
          <a:xfrm>
            <a:off x="7547760" y="3672000"/>
            <a:ext cx="145440" cy="129240"/>
          </a:xfrm>
          <a:custGeom>
            <a:avLst/>
            <a:gdLst>
              <a:gd name="textAreaLeft" fmla="*/ 0 w 145440"/>
              <a:gd name="textAreaRight" fmla="*/ 145800 w 145440"/>
              <a:gd name="textAreaTop" fmla="*/ 0 h 129240"/>
              <a:gd name="textAreaBottom" fmla="*/ 129600 h 129240"/>
            </a:gdLst>
            <a:ahLst/>
            <a:rect l="textAreaLeft" t="textAreaTop" r="textAreaRight" b="textAreaBottom"/>
            <a:pathLst>
              <a:path w="145915" h="129702">
                <a:moveTo>
                  <a:pt x="129803" y="60798"/>
                </a:moveTo>
                <a:lnTo>
                  <a:pt x="85218" y="60798"/>
                </a:lnTo>
                <a:cubicBezTo>
                  <a:pt x="80735" y="60798"/>
                  <a:pt x="77112" y="57175"/>
                  <a:pt x="77112" y="52691"/>
                </a:cubicBezTo>
                <a:lnTo>
                  <a:pt x="77112" y="8106"/>
                </a:lnTo>
                <a:cubicBezTo>
                  <a:pt x="77112" y="3623"/>
                  <a:pt x="80760" y="-51"/>
                  <a:pt x="85193" y="532"/>
                </a:cubicBezTo>
                <a:cubicBezTo>
                  <a:pt x="112299" y="4129"/>
                  <a:pt x="133781" y="25611"/>
                  <a:pt x="137378" y="52717"/>
                </a:cubicBezTo>
                <a:cubicBezTo>
                  <a:pt x="137961" y="57150"/>
                  <a:pt x="134287" y="60798"/>
                  <a:pt x="129803" y="60798"/>
                </a:cubicBezTo>
                <a:close/>
                <a:moveTo>
                  <a:pt x="56390" y="9424"/>
                </a:moveTo>
                <a:cubicBezTo>
                  <a:pt x="60975" y="8461"/>
                  <a:pt x="64952" y="12210"/>
                  <a:pt x="64952" y="16897"/>
                </a:cubicBezTo>
                <a:lnTo>
                  <a:pt x="64952" y="66878"/>
                </a:lnTo>
                <a:cubicBezTo>
                  <a:pt x="64952" y="68296"/>
                  <a:pt x="65459" y="69664"/>
                  <a:pt x="66346" y="70754"/>
                </a:cubicBezTo>
                <a:lnTo>
                  <a:pt x="99810" y="111133"/>
                </a:lnTo>
                <a:cubicBezTo>
                  <a:pt x="102774" y="114705"/>
                  <a:pt x="102140" y="120101"/>
                  <a:pt x="98062" y="122305"/>
                </a:cubicBezTo>
                <a:cubicBezTo>
                  <a:pt x="89424" y="127017"/>
                  <a:pt x="79519" y="129702"/>
                  <a:pt x="69006" y="129702"/>
                </a:cubicBezTo>
                <a:cubicBezTo>
                  <a:pt x="35440" y="129702"/>
                  <a:pt x="8208" y="102470"/>
                  <a:pt x="8208" y="68904"/>
                </a:cubicBezTo>
                <a:cubicBezTo>
                  <a:pt x="8208" y="39645"/>
                  <a:pt x="28854" y="15225"/>
                  <a:pt x="56390" y="9424"/>
                </a:cubicBezTo>
                <a:close/>
                <a:moveTo>
                  <a:pt x="121038" y="72957"/>
                </a:moveTo>
                <a:lnTo>
                  <a:pt x="137251" y="72957"/>
                </a:lnTo>
                <a:cubicBezTo>
                  <a:pt x="141938" y="72957"/>
                  <a:pt x="145687" y="76935"/>
                  <a:pt x="144724" y="81520"/>
                </a:cubicBezTo>
                <a:cubicBezTo>
                  <a:pt x="142140" y="93781"/>
                  <a:pt x="135858" y="104674"/>
                  <a:pt x="127093" y="112983"/>
                </a:cubicBezTo>
                <a:cubicBezTo>
                  <a:pt x="123977" y="115947"/>
                  <a:pt x="119088" y="115313"/>
                  <a:pt x="116352" y="111995"/>
                </a:cubicBezTo>
                <a:lnTo>
                  <a:pt x="94971" y="86232"/>
                </a:lnTo>
                <a:cubicBezTo>
                  <a:pt x="90589" y="80937"/>
                  <a:pt x="94363" y="72957"/>
                  <a:pt x="101203" y="72957"/>
                </a:cubicBezTo>
                <a:lnTo>
                  <a:pt x="121013" y="72957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 57"/>
          <p:cNvSpPr/>
          <p:nvPr/>
        </p:nvSpPr>
        <p:spPr>
          <a:xfrm>
            <a:off x="7840800" y="3570120"/>
            <a:ext cx="66672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02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Tableau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58"/>
          <p:cNvSpPr/>
          <p:nvPr/>
        </p:nvSpPr>
        <p:spPr>
          <a:xfrm>
            <a:off x="7840800" y="3755160"/>
            <a:ext cx="657360" cy="1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0" lang="en-US" sz="88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Visualization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Shape 59"/>
          <p:cNvSpPr/>
          <p:nvPr/>
        </p:nvSpPr>
        <p:spPr>
          <a:xfrm>
            <a:off x="7317360" y="4141800"/>
            <a:ext cx="4492800" cy="2529000"/>
          </a:xfrm>
          <a:custGeom>
            <a:avLst/>
            <a:gdLst>
              <a:gd name="textAreaLeft" fmla="*/ 0 w 4492800"/>
              <a:gd name="textAreaRight" fmla="*/ 4493160 w 4492800"/>
              <a:gd name="textAreaTop" fmla="*/ 0 h 2529000"/>
              <a:gd name="textAreaBottom" fmla="*/ 2529360 h 2529000"/>
            </a:gdLst>
            <a:ahLst/>
            <a:rect l="textAreaLeft" t="textAreaTop" r="textAreaRight" b="textAreaBottom"/>
            <a:pathLst>
              <a:path w="4493252" h="2529191">
                <a:moveTo>
                  <a:pt x="111183" y="0"/>
                </a:moveTo>
                <a:lnTo>
                  <a:pt x="4382069" y="0"/>
                </a:lnTo>
                <a:cubicBezTo>
                  <a:pt x="4443474" y="0"/>
                  <a:pt x="4493252" y="49778"/>
                  <a:pt x="4493252" y="111183"/>
                </a:cubicBezTo>
                <a:lnTo>
                  <a:pt x="4493252" y="2418008"/>
                </a:lnTo>
                <a:cubicBezTo>
                  <a:pt x="4493252" y="2479413"/>
                  <a:pt x="4443474" y="2529191"/>
                  <a:pt x="4382069" y="2529191"/>
                </a:cubicBezTo>
                <a:lnTo>
                  <a:pt x="111183" y="2529191"/>
                </a:lnTo>
                <a:cubicBezTo>
                  <a:pt x="49778" y="2529191"/>
                  <a:pt x="0" y="2479413"/>
                  <a:pt x="0" y="2418008"/>
                </a:cubicBezTo>
                <a:lnTo>
                  <a:pt x="0" y="111183"/>
                </a:lnTo>
                <a:cubicBezTo>
                  <a:pt x="0" y="49820"/>
                  <a:pt x="49820" y="0"/>
                  <a:pt x="111183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12700">
            <a:solidFill>
              <a:srgbClr val="4db6ac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Shape 60"/>
          <p:cNvSpPr/>
          <p:nvPr/>
        </p:nvSpPr>
        <p:spPr>
          <a:xfrm>
            <a:off x="7493400" y="4340880"/>
            <a:ext cx="166320" cy="166320"/>
          </a:xfrm>
          <a:custGeom>
            <a:avLst/>
            <a:gdLst>
              <a:gd name="textAreaLeft" fmla="*/ 0 w 166320"/>
              <a:gd name="textAreaRight" fmla="*/ 166680 w 166320"/>
              <a:gd name="textAreaTop" fmla="*/ 0 h 166320"/>
              <a:gd name="textAreaBottom" fmla="*/ 166680 h 166320"/>
            </a:gdLst>
            <a:ahLst/>
            <a:rect l="textAreaLeft" t="textAreaTop" r="textAreaRight" b="textAreaBottom"/>
            <a:pathLst>
              <a:path w="166760" h="166760">
                <a:moveTo>
                  <a:pt x="46999" y="0"/>
                </a:moveTo>
                <a:lnTo>
                  <a:pt x="119956" y="0"/>
                </a:lnTo>
                <a:cubicBezTo>
                  <a:pt x="128588" y="0"/>
                  <a:pt x="135623" y="7100"/>
                  <a:pt x="135297" y="15699"/>
                </a:cubicBezTo>
                <a:cubicBezTo>
                  <a:pt x="135232" y="17425"/>
                  <a:pt x="135167" y="19151"/>
                  <a:pt x="135069" y="20845"/>
                </a:cubicBezTo>
                <a:lnTo>
                  <a:pt x="151224" y="20845"/>
                </a:lnTo>
                <a:cubicBezTo>
                  <a:pt x="159725" y="20845"/>
                  <a:pt x="167216" y="27880"/>
                  <a:pt x="166564" y="37065"/>
                </a:cubicBezTo>
                <a:cubicBezTo>
                  <a:pt x="164122" y="70840"/>
                  <a:pt x="146859" y="89405"/>
                  <a:pt x="128132" y="99111"/>
                </a:cubicBezTo>
                <a:cubicBezTo>
                  <a:pt x="122985" y="101782"/>
                  <a:pt x="117742" y="103769"/>
                  <a:pt x="112758" y="105235"/>
                </a:cubicBezTo>
                <a:cubicBezTo>
                  <a:pt x="106179" y="114550"/>
                  <a:pt x="99339" y="119468"/>
                  <a:pt x="93900" y="122106"/>
                </a:cubicBezTo>
                <a:lnTo>
                  <a:pt x="93900" y="145915"/>
                </a:lnTo>
                <a:lnTo>
                  <a:pt x="114745" y="145915"/>
                </a:lnTo>
                <a:cubicBezTo>
                  <a:pt x="120510" y="145915"/>
                  <a:pt x="125168" y="150572"/>
                  <a:pt x="125168" y="156337"/>
                </a:cubicBezTo>
                <a:cubicBezTo>
                  <a:pt x="125168" y="162102"/>
                  <a:pt x="120510" y="166760"/>
                  <a:pt x="114745" y="166760"/>
                </a:cubicBezTo>
                <a:lnTo>
                  <a:pt x="52210" y="166760"/>
                </a:lnTo>
                <a:cubicBezTo>
                  <a:pt x="46445" y="166760"/>
                  <a:pt x="41788" y="162102"/>
                  <a:pt x="41788" y="156337"/>
                </a:cubicBezTo>
                <a:cubicBezTo>
                  <a:pt x="41788" y="150572"/>
                  <a:pt x="46445" y="145915"/>
                  <a:pt x="52210" y="145915"/>
                </a:cubicBezTo>
                <a:lnTo>
                  <a:pt x="73055" y="145915"/>
                </a:lnTo>
                <a:lnTo>
                  <a:pt x="73055" y="122106"/>
                </a:lnTo>
                <a:cubicBezTo>
                  <a:pt x="67844" y="119598"/>
                  <a:pt x="61362" y="114941"/>
                  <a:pt x="55044" y="106375"/>
                </a:cubicBezTo>
                <a:cubicBezTo>
                  <a:pt x="49051" y="104811"/>
                  <a:pt x="42537" y="102434"/>
                  <a:pt x="36186" y="98851"/>
                </a:cubicBezTo>
                <a:cubicBezTo>
                  <a:pt x="18565" y="88982"/>
                  <a:pt x="2671" y="70384"/>
                  <a:pt x="391" y="37000"/>
                </a:cubicBezTo>
                <a:cubicBezTo>
                  <a:pt x="-228" y="27848"/>
                  <a:pt x="7231" y="20812"/>
                  <a:pt x="15731" y="20812"/>
                </a:cubicBezTo>
                <a:lnTo>
                  <a:pt x="31886" y="20812"/>
                </a:lnTo>
                <a:cubicBezTo>
                  <a:pt x="31789" y="19119"/>
                  <a:pt x="31723" y="17425"/>
                  <a:pt x="31658" y="15666"/>
                </a:cubicBezTo>
                <a:cubicBezTo>
                  <a:pt x="31333" y="7035"/>
                  <a:pt x="38368" y="-33"/>
                  <a:pt x="46999" y="-33"/>
                </a:cubicBezTo>
                <a:close/>
                <a:moveTo>
                  <a:pt x="33059" y="36479"/>
                </a:moveTo>
                <a:lnTo>
                  <a:pt x="15992" y="36479"/>
                </a:lnTo>
                <a:cubicBezTo>
                  <a:pt x="18011" y="64066"/>
                  <a:pt x="30681" y="77876"/>
                  <a:pt x="43742" y="85204"/>
                </a:cubicBezTo>
                <a:cubicBezTo>
                  <a:pt x="39052" y="73055"/>
                  <a:pt x="35176" y="57193"/>
                  <a:pt x="33059" y="36479"/>
                </a:cubicBezTo>
                <a:close/>
                <a:moveTo>
                  <a:pt x="123767" y="83641"/>
                </a:moveTo>
                <a:cubicBezTo>
                  <a:pt x="136958" y="75889"/>
                  <a:pt x="148879" y="62112"/>
                  <a:pt x="150898" y="36479"/>
                </a:cubicBezTo>
                <a:lnTo>
                  <a:pt x="133864" y="36479"/>
                </a:lnTo>
                <a:cubicBezTo>
                  <a:pt x="131845" y="56314"/>
                  <a:pt x="128197" y="71720"/>
                  <a:pt x="123767" y="83641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 61"/>
          <p:cNvSpPr/>
          <p:nvPr/>
        </p:nvSpPr>
        <p:spPr>
          <a:xfrm>
            <a:off x="7737480" y="4294800"/>
            <a:ext cx="400356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320" spc="-1" strike="noStrike">
                <a:solidFill>
                  <a:srgbClr val="4db6ac"/>
                </a:solidFill>
                <a:latin typeface="Liter"/>
                <a:ea typeface="Liter"/>
              </a:rPr>
              <a:t>Results</a:t>
            </a:r>
            <a:endParaRPr b="0" lang="en-US" sz="13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Shape 62"/>
          <p:cNvSpPr/>
          <p:nvPr/>
        </p:nvSpPr>
        <p:spPr>
          <a:xfrm>
            <a:off x="7470000" y="4683960"/>
            <a:ext cx="370080" cy="370080"/>
          </a:xfrm>
          <a:custGeom>
            <a:avLst/>
            <a:gdLst>
              <a:gd name="textAreaLeft" fmla="*/ 0 w 370080"/>
              <a:gd name="textAreaRight" fmla="*/ 370440 w 370080"/>
              <a:gd name="textAreaTop" fmla="*/ 0 h 370080"/>
              <a:gd name="textAreaBottom" fmla="*/ 370440 h 370080"/>
            </a:gdLst>
            <a:ahLst/>
            <a:rect l="textAreaLeft" t="textAreaTop" r="textAreaRight" b="textAreaBottom"/>
            <a:pathLst>
              <a:path w="370578" h="370578">
                <a:moveTo>
                  <a:pt x="185289" y="0"/>
                </a:moveTo>
                <a:lnTo>
                  <a:pt x="185289" y="0"/>
                </a:lnTo>
                <a:cubicBezTo>
                  <a:pt x="287552" y="0"/>
                  <a:pt x="370578" y="83025"/>
                  <a:pt x="370578" y="185289"/>
                </a:cubicBezTo>
                <a:lnTo>
                  <a:pt x="370578" y="185289"/>
                </a:lnTo>
                <a:cubicBezTo>
                  <a:pt x="370578" y="287552"/>
                  <a:pt x="287552" y="370578"/>
                  <a:pt x="185289" y="370578"/>
                </a:cubicBezTo>
                <a:lnTo>
                  <a:pt x="185289" y="370578"/>
                </a:lnTo>
                <a:cubicBezTo>
                  <a:pt x="83025" y="370578"/>
                  <a:pt x="0" y="287552"/>
                  <a:pt x="0" y="185289"/>
                </a:cubicBezTo>
                <a:lnTo>
                  <a:pt x="0" y="185289"/>
                </a:lnTo>
                <a:cubicBezTo>
                  <a:pt x="0" y="83025"/>
                  <a:pt x="83025" y="0"/>
                  <a:pt x="18528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Shape 63"/>
          <p:cNvSpPr/>
          <p:nvPr/>
        </p:nvSpPr>
        <p:spPr>
          <a:xfrm>
            <a:off x="7581240" y="4794840"/>
            <a:ext cx="147960" cy="147960"/>
          </a:xfrm>
          <a:custGeom>
            <a:avLst/>
            <a:gdLst>
              <a:gd name="textAreaLeft" fmla="*/ 0 w 147960"/>
              <a:gd name="textAreaRight" fmla="*/ 148320 w 147960"/>
              <a:gd name="textAreaTop" fmla="*/ 0 h 147960"/>
              <a:gd name="textAreaBottom" fmla="*/ 148320 h 147960"/>
            </a:gdLst>
            <a:ahLst/>
            <a:rect l="textAreaLeft" t="textAreaTop" r="textAreaRight" b="textAreaBottom"/>
            <a:pathLst>
              <a:path w="148231" h="148231">
                <a:moveTo>
                  <a:pt x="74116" y="0"/>
                </a:moveTo>
                <a:cubicBezTo>
                  <a:pt x="115021" y="0"/>
                  <a:pt x="148231" y="33210"/>
                  <a:pt x="148231" y="74116"/>
                </a:cubicBezTo>
                <a:cubicBezTo>
                  <a:pt x="148231" y="115021"/>
                  <a:pt x="115021" y="148231"/>
                  <a:pt x="74116" y="148231"/>
                </a:cubicBezTo>
                <a:cubicBezTo>
                  <a:pt x="33210" y="148231"/>
                  <a:pt x="0" y="115021"/>
                  <a:pt x="0" y="74116"/>
                </a:cubicBezTo>
                <a:cubicBezTo>
                  <a:pt x="0" y="33210"/>
                  <a:pt x="33210" y="0"/>
                  <a:pt x="74116" y="0"/>
                </a:cubicBezTo>
                <a:close/>
                <a:moveTo>
                  <a:pt x="67167" y="34742"/>
                </a:moveTo>
                <a:lnTo>
                  <a:pt x="67167" y="74116"/>
                </a:lnTo>
                <a:cubicBezTo>
                  <a:pt x="67167" y="76432"/>
                  <a:pt x="68325" y="78603"/>
                  <a:pt x="70265" y="79906"/>
                </a:cubicBezTo>
                <a:lnTo>
                  <a:pt x="98058" y="98435"/>
                </a:lnTo>
                <a:cubicBezTo>
                  <a:pt x="101243" y="100577"/>
                  <a:pt x="105557" y="99709"/>
                  <a:pt x="107699" y="96495"/>
                </a:cubicBezTo>
                <a:cubicBezTo>
                  <a:pt x="109841" y="93281"/>
                  <a:pt x="108973" y="88997"/>
                  <a:pt x="105759" y="86854"/>
                </a:cubicBezTo>
                <a:lnTo>
                  <a:pt x="81064" y="70410"/>
                </a:lnTo>
                <a:lnTo>
                  <a:pt x="81064" y="34742"/>
                </a:lnTo>
                <a:cubicBezTo>
                  <a:pt x="81064" y="30891"/>
                  <a:pt x="77966" y="27793"/>
                  <a:pt x="74116" y="27793"/>
                </a:cubicBezTo>
                <a:cubicBezTo>
                  <a:pt x="70265" y="27793"/>
                  <a:pt x="67167" y="30891"/>
                  <a:pt x="67167" y="34742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 64"/>
          <p:cNvSpPr/>
          <p:nvPr/>
        </p:nvSpPr>
        <p:spPr>
          <a:xfrm>
            <a:off x="7952040" y="4665240"/>
            <a:ext cx="208404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7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Real-Time Dashboards</a:t>
            </a:r>
            <a:endParaRPr b="0" lang="en-US" sz="11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 65"/>
          <p:cNvSpPr/>
          <p:nvPr/>
        </p:nvSpPr>
        <p:spPr>
          <a:xfrm>
            <a:off x="7952040" y="4887720"/>
            <a:ext cx="385812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2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From 24h delay to &lt;15 min freshness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Shape 66"/>
          <p:cNvSpPr/>
          <p:nvPr/>
        </p:nvSpPr>
        <p:spPr>
          <a:xfrm>
            <a:off x="7470000" y="5165640"/>
            <a:ext cx="370080" cy="370080"/>
          </a:xfrm>
          <a:custGeom>
            <a:avLst/>
            <a:gdLst>
              <a:gd name="textAreaLeft" fmla="*/ 0 w 370080"/>
              <a:gd name="textAreaRight" fmla="*/ 370440 w 370080"/>
              <a:gd name="textAreaTop" fmla="*/ 0 h 370080"/>
              <a:gd name="textAreaBottom" fmla="*/ 370440 h 370080"/>
            </a:gdLst>
            <a:ahLst/>
            <a:rect l="textAreaLeft" t="textAreaTop" r="textAreaRight" b="textAreaBottom"/>
            <a:pathLst>
              <a:path w="370578" h="370578">
                <a:moveTo>
                  <a:pt x="185289" y="0"/>
                </a:moveTo>
                <a:lnTo>
                  <a:pt x="185289" y="0"/>
                </a:lnTo>
                <a:cubicBezTo>
                  <a:pt x="287552" y="0"/>
                  <a:pt x="370578" y="83025"/>
                  <a:pt x="370578" y="185289"/>
                </a:cubicBezTo>
                <a:lnTo>
                  <a:pt x="370578" y="185289"/>
                </a:lnTo>
                <a:cubicBezTo>
                  <a:pt x="370578" y="287552"/>
                  <a:pt x="287552" y="370578"/>
                  <a:pt x="185289" y="370578"/>
                </a:cubicBezTo>
                <a:lnTo>
                  <a:pt x="185289" y="370578"/>
                </a:lnTo>
                <a:cubicBezTo>
                  <a:pt x="83025" y="370578"/>
                  <a:pt x="0" y="287552"/>
                  <a:pt x="0" y="185289"/>
                </a:cubicBezTo>
                <a:lnTo>
                  <a:pt x="0" y="185289"/>
                </a:lnTo>
                <a:cubicBezTo>
                  <a:pt x="0" y="83025"/>
                  <a:pt x="83025" y="0"/>
                  <a:pt x="185289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67"/>
          <p:cNvSpPr/>
          <p:nvPr/>
        </p:nvSpPr>
        <p:spPr>
          <a:xfrm>
            <a:off x="7562880" y="5276880"/>
            <a:ext cx="185040" cy="147960"/>
          </a:xfrm>
          <a:custGeom>
            <a:avLst/>
            <a:gdLst>
              <a:gd name="textAreaLeft" fmla="*/ 0 w 185040"/>
              <a:gd name="textAreaRight" fmla="*/ 185400 w 185040"/>
              <a:gd name="textAreaTop" fmla="*/ 0 h 147960"/>
              <a:gd name="textAreaBottom" fmla="*/ 148320 h 147960"/>
            </a:gdLst>
            <a:ahLst/>
            <a:rect l="textAreaLeft" t="textAreaTop" r="textAreaRight" b="textAreaBottom"/>
            <a:pathLst>
              <a:path w="185289" h="148231">
                <a:moveTo>
                  <a:pt x="92644" y="4632"/>
                </a:moveTo>
                <a:cubicBezTo>
                  <a:pt x="109262" y="4632"/>
                  <a:pt x="122754" y="18124"/>
                  <a:pt x="122754" y="34742"/>
                </a:cubicBezTo>
                <a:cubicBezTo>
                  <a:pt x="122754" y="51359"/>
                  <a:pt x="109262" y="64851"/>
                  <a:pt x="92644" y="64851"/>
                </a:cubicBezTo>
                <a:cubicBezTo>
                  <a:pt x="76027" y="64851"/>
                  <a:pt x="62535" y="51359"/>
                  <a:pt x="62535" y="34742"/>
                </a:cubicBezTo>
                <a:cubicBezTo>
                  <a:pt x="62535" y="18124"/>
                  <a:pt x="76027" y="4632"/>
                  <a:pt x="92644" y="4632"/>
                </a:cubicBezTo>
                <a:close/>
                <a:moveTo>
                  <a:pt x="27793" y="25477"/>
                </a:moveTo>
                <a:cubicBezTo>
                  <a:pt x="39298" y="25477"/>
                  <a:pt x="48638" y="34818"/>
                  <a:pt x="48638" y="46322"/>
                </a:cubicBezTo>
                <a:cubicBezTo>
                  <a:pt x="48638" y="57827"/>
                  <a:pt x="39298" y="67167"/>
                  <a:pt x="27793" y="67167"/>
                </a:cubicBezTo>
                <a:cubicBezTo>
                  <a:pt x="16289" y="67167"/>
                  <a:pt x="6948" y="57827"/>
                  <a:pt x="6948" y="46322"/>
                </a:cubicBezTo>
                <a:cubicBezTo>
                  <a:pt x="6948" y="34818"/>
                  <a:pt x="16289" y="25477"/>
                  <a:pt x="27793" y="25477"/>
                </a:cubicBezTo>
                <a:close/>
                <a:moveTo>
                  <a:pt x="0" y="120438"/>
                </a:moveTo>
                <a:cubicBezTo>
                  <a:pt x="0" y="99969"/>
                  <a:pt x="16589" y="83380"/>
                  <a:pt x="37058" y="83380"/>
                </a:cubicBezTo>
                <a:cubicBezTo>
                  <a:pt x="40764" y="83380"/>
                  <a:pt x="44353" y="83930"/>
                  <a:pt x="47741" y="84943"/>
                </a:cubicBezTo>
                <a:cubicBezTo>
                  <a:pt x="38216" y="95597"/>
                  <a:pt x="32426" y="109668"/>
                  <a:pt x="32426" y="125070"/>
                </a:cubicBezTo>
                <a:lnTo>
                  <a:pt x="32426" y="129702"/>
                </a:lnTo>
                <a:cubicBezTo>
                  <a:pt x="32426" y="133003"/>
                  <a:pt x="33120" y="136129"/>
                  <a:pt x="34365" y="138967"/>
                </a:cubicBezTo>
                <a:lnTo>
                  <a:pt x="9264" y="138967"/>
                </a:lnTo>
                <a:cubicBezTo>
                  <a:pt x="4140" y="138967"/>
                  <a:pt x="0" y="134827"/>
                  <a:pt x="0" y="129702"/>
                </a:cubicBezTo>
                <a:lnTo>
                  <a:pt x="0" y="120438"/>
                </a:lnTo>
                <a:close/>
                <a:moveTo>
                  <a:pt x="150923" y="138967"/>
                </a:moveTo>
                <a:cubicBezTo>
                  <a:pt x="152168" y="136129"/>
                  <a:pt x="152863" y="133003"/>
                  <a:pt x="152863" y="129702"/>
                </a:cubicBezTo>
                <a:lnTo>
                  <a:pt x="152863" y="125070"/>
                </a:lnTo>
                <a:cubicBezTo>
                  <a:pt x="152863" y="109668"/>
                  <a:pt x="147073" y="95597"/>
                  <a:pt x="137548" y="84943"/>
                </a:cubicBezTo>
                <a:cubicBezTo>
                  <a:pt x="140935" y="83930"/>
                  <a:pt x="144525" y="83380"/>
                  <a:pt x="148231" y="83380"/>
                </a:cubicBezTo>
                <a:cubicBezTo>
                  <a:pt x="168700" y="83380"/>
                  <a:pt x="185289" y="99969"/>
                  <a:pt x="185289" y="120438"/>
                </a:cubicBezTo>
                <a:lnTo>
                  <a:pt x="185289" y="129702"/>
                </a:lnTo>
                <a:cubicBezTo>
                  <a:pt x="185289" y="134827"/>
                  <a:pt x="181149" y="138967"/>
                  <a:pt x="176024" y="138967"/>
                </a:cubicBezTo>
                <a:lnTo>
                  <a:pt x="150923" y="138967"/>
                </a:lnTo>
                <a:close/>
                <a:moveTo>
                  <a:pt x="136650" y="46322"/>
                </a:moveTo>
                <a:cubicBezTo>
                  <a:pt x="136650" y="34818"/>
                  <a:pt x="145991" y="25477"/>
                  <a:pt x="157495" y="25477"/>
                </a:cubicBezTo>
                <a:cubicBezTo>
                  <a:pt x="169000" y="25477"/>
                  <a:pt x="178340" y="34818"/>
                  <a:pt x="178340" y="46322"/>
                </a:cubicBezTo>
                <a:cubicBezTo>
                  <a:pt x="178340" y="57827"/>
                  <a:pt x="169000" y="67167"/>
                  <a:pt x="157495" y="67167"/>
                </a:cubicBezTo>
                <a:cubicBezTo>
                  <a:pt x="145991" y="67167"/>
                  <a:pt x="136650" y="57827"/>
                  <a:pt x="136650" y="46322"/>
                </a:cubicBezTo>
                <a:close/>
                <a:moveTo>
                  <a:pt x="46322" y="125070"/>
                </a:moveTo>
                <a:cubicBezTo>
                  <a:pt x="46322" y="99477"/>
                  <a:pt x="67051" y="78748"/>
                  <a:pt x="92644" y="78748"/>
                </a:cubicBezTo>
                <a:cubicBezTo>
                  <a:pt x="118237" y="78748"/>
                  <a:pt x="138967" y="99477"/>
                  <a:pt x="138967" y="125070"/>
                </a:cubicBezTo>
                <a:lnTo>
                  <a:pt x="138967" y="129702"/>
                </a:lnTo>
                <a:cubicBezTo>
                  <a:pt x="138967" y="134827"/>
                  <a:pt x="134827" y="138967"/>
                  <a:pt x="129702" y="138967"/>
                </a:cubicBezTo>
                <a:lnTo>
                  <a:pt x="55587" y="138967"/>
                </a:lnTo>
                <a:cubicBezTo>
                  <a:pt x="50462" y="138967"/>
                  <a:pt x="46322" y="134827"/>
                  <a:pt x="46322" y="129702"/>
                </a:cubicBezTo>
                <a:lnTo>
                  <a:pt x="46322" y="125070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68"/>
          <p:cNvSpPr/>
          <p:nvPr/>
        </p:nvSpPr>
        <p:spPr>
          <a:xfrm>
            <a:off x="7952040" y="5146920"/>
            <a:ext cx="216756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7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360° Customer View</a:t>
            </a:r>
            <a:endParaRPr b="0" lang="en-US" sz="11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Text 69"/>
          <p:cNvSpPr/>
          <p:nvPr/>
        </p:nvSpPr>
        <p:spPr>
          <a:xfrm>
            <a:off x="7952040" y="5369400"/>
            <a:ext cx="37065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2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Unified profiles across all touchpoints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Shape 70"/>
          <p:cNvSpPr/>
          <p:nvPr/>
        </p:nvSpPr>
        <p:spPr>
          <a:xfrm>
            <a:off x="7470000" y="5647320"/>
            <a:ext cx="370080" cy="370080"/>
          </a:xfrm>
          <a:custGeom>
            <a:avLst/>
            <a:gdLst>
              <a:gd name="textAreaLeft" fmla="*/ 0 w 370080"/>
              <a:gd name="textAreaRight" fmla="*/ 370440 w 370080"/>
              <a:gd name="textAreaTop" fmla="*/ 0 h 370080"/>
              <a:gd name="textAreaBottom" fmla="*/ 370440 h 370080"/>
            </a:gdLst>
            <a:ahLst/>
            <a:rect l="textAreaLeft" t="textAreaTop" r="textAreaRight" b="textAreaBottom"/>
            <a:pathLst>
              <a:path w="370578" h="370578">
                <a:moveTo>
                  <a:pt x="185289" y="0"/>
                </a:moveTo>
                <a:lnTo>
                  <a:pt x="185289" y="0"/>
                </a:lnTo>
                <a:cubicBezTo>
                  <a:pt x="287552" y="0"/>
                  <a:pt x="370578" y="83025"/>
                  <a:pt x="370578" y="185289"/>
                </a:cubicBezTo>
                <a:lnTo>
                  <a:pt x="370578" y="185289"/>
                </a:lnTo>
                <a:cubicBezTo>
                  <a:pt x="370578" y="287552"/>
                  <a:pt x="287552" y="370578"/>
                  <a:pt x="185289" y="370578"/>
                </a:cubicBezTo>
                <a:lnTo>
                  <a:pt x="185289" y="370578"/>
                </a:lnTo>
                <a:cubicBezTo>
                  <a:pt x="83025" y="370578"/>
                  <a:pt x="0" y="287552"/>
                  <a:pt x="0" y="185289"/>
                </a:cubicBezTo>
                <a:lnTo>
                  <a:pt x="0" y="185289"/>
                </a:lnTo>
                <a:cubicBezTo>
                  <a:pt x="0" y="83025"/>
                  <a:pt x="83025" y="0"/>
                  <a:pt x="185289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Shape 71"/>
          <p:cNvSpPr/>
          <p:nvPr/>
        </p:nvSpPr>
        <p:spPr>
          <a:xfrm>
            <a:off x="7590600" y="5758560"/>
            <a:ext cx="129240" cy="147960"/>
          </a:xfrm>
          <a:custGeom>
            <a:avLst/>
            <a:gdLst>
              <a:gd name="textAreaLeft" fmla="*/ 0 w 129240"/>
              <a:gd name="textAreaRight" fmla="*/ 129600 w 129240"/>
              <a:gd name="textAreaTop" fmla="*/ 0 h 147960"/>
              <a:gd name="textAreaBottom" fmla="*/ 148320 h 147960"/>
            </a:gdLst>
            <a:ahLst/>
            <a:rect l="textAreaLeft" t="textAreaTop" r="textAreaRight" b="textAreaBottom"/>
            <a:pathLst>
              <a:path w="129702" h="148231">
                <a:moveTo>
                  <a:pt x="55587" y="37058"/>
                </a:moveTo>
                <a:cubicBezTo>
                  <a:pt x="55587" y="21718"/>
                  <a:pt x="43133" y="9264"/>
                  <a:pt x="27793" y="9264"/>
                </a:cubicBezTo>
                <a:cubicBezTo>
                  <a:pt x="12454" y="9264"/>
                  <a:pt x="0" y="21718"/>
                  <a:pt x="0" y="37058"/>
                </a:cubicBezTo>
                <a:cubicBezTo>
                  <a:pt x="0" y="52397"/>
                  <a:pt x="12454" y="64851"/>
                  <a:pt x="27793" y="64851"/>
                </a:cubicBezTo>
                <a:cubicBezTo>
                  <a:pt x="43133" y="64851"/>
                  <a:pt x="55587" y="52397"/>
                  <a:pt x="55587" y="37058"/>
                </a:cubicBezTo>
                <a:close/>
                <a:moveTo>
                  <a:pt x="129702" y="111173"/>
                </a:moveTo>
                <a:cubicBezTo>
                  <a:pt x="129702" y="95834"/>
                  <a:pt x="117248" y="83380"/>
                  <a:pt x="101909" y="83380"/>
                </a:cubicBezTo>
                <a:cubicBezTo>
                  <a:pt x="86569" y="83380"/>
                  <a:pt x="74116" y="95834"/>
                  <a:pt x="74116" y="111173"/>
                </a:cubicBezTo>
                <a:cubicBezTo>
                  <a:pt x="74116" y="126513"/>
                  <a:pt x="86569" y="138967"/>
                  <a:pt x="101909" y="138967"/>
                </a:cubicBezTo>
                <a:cubicBezTo>
                  <a:pt x="117248" y="138967"/>
                  <a:pt x="129702" y="126513"/>
                  <a:pt x="129702" y="111173"/>
                </a:cubicBezTo>
                <a:close/>
                <a:moveTo>
                  <a:pt x="126981" y="25072"/>
                </a:moveTo>
                <a:cubicBezTo>
                  <a:pt x="130600" y="21453"/>
                  <a:pt x="130600" y="15576"/>
                  <a:pt x="126981" y="11957"/>
                </a:cubicBezTo>
                <a:cubicBezTo>
                  <a:pt x="123362" y="8338"/>
                  <a:pt x="117485" y="8338"/>
                  <a:pt x="113866" y="11957"/>
                </a:cubicBezTo>
                <a:lnTo>
                  <a:pt x="2692" y="123130"/>
                </a:lnTo>
                <a:cubicBezTo>
                  <a:pt x="-926" y="126749"/>
                  <a:pt x="-926" y="132626"/>
                  <a:pt x="2692" y="136245"/>
                </a:cubicBezTo>
                <a:cubicBezTo>
                  <a:pt x="6311" y="139864"/>
                  <a:pt x="12189" y="139864"/>
                  <a:pt x="15807" y="136245"/>
                </a:cubicBezTo>
                <a:lnTo>
                  <a:pt x="126981" y="25072"/>
                </a:ln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72"/>
          <p:cNvSpPr/>
          <p:nvPr/>
        </p:nvSpPr>
        <p:spPr>
          <a:xfrm>
            <a:off x="7952040" y="5628960"/>
            <a:ext cx="167652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7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22% Revenue Increase</a:t>
            </a:r>
            <a:endParaRPr b="0" lang="en-US" sz="11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73"/>
          <p:cNvSpPr/>
          <p:nvPr/>
        </p:nvSpPr>
        <p:spPr>
          <a:xfrm>
            <a:off x="7952040" y="5851080"/>
            <a:ext cx="34779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2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Through targeted campaigns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Shape 74"/>
          <p:cNvSpPr/>
          <p:nvPr/>
        </p:nvSpPr>
        <p:spPr>
          <a:xfrm>
            <a:off x="7470000" y="6129000"/>
            <a:ext cx="370080" cy="370080"/>
          </a:xfrm>
          <a:custGeom>
            <a:avLst/>
            <a:gdLst>
              <a:gd name="textAreaLeft" fmla="*/ 0 w 370080"/>
              <a:gd name="textAreaRight" fmla="*/ 370440 w 370080"/>
              <a:gd name="textAreaTop" fmla="*/ 0 h 370080"/>
              <a:gd name="textAreaBottom" fmla="*/ 370440 h 370080"/>
            </a:gdLst>
            <a:ahLst/>
            <a:rect l="textAreaLeft" t="textAreaTop" r="textAreaRight" b="textAreaBottom"/>
            <a:pathLst>
              <a:path w="370578" h="370578">
                <a:moveTo>
                  <a:pt x="185289" y="0"/>
                </a:moveTo>
                <a:lnTo>
                  <a:pt x="185289" y="0"/>
                </a:lnTo>
                <a:cubicBezTo>
                  <a:pt x="287552" y="0"/>
                  <a:pt x="370578" y="83025"/>
                  <a:pt x="370578" y="185289"/>
                </a:cubicBezTo>
                <a:lnTo>
                  <a:pt x="370578" y="185289"/>
                </a:lnTo>
                <a:cubicBezTo>
                  <a:pt x="370578" y="287552"/>
                  <a:pt x="287552" y="370578"/>
                  <a:pt x="185289" y="370578"/>
                </a:cubicBezTo>
                <a:lnTo>
                  <a:pt x="185289" y="370578"/>
                </a:lnTo>
                <a:cubicBezTo>
                  <a:pt x="83025" y="370578"/>
                  <a:pt x="0" y="287552"/>
                  <a:pt x="0" y="185289"/>
                </a:cubicBezTo>
                <a:lnTo>
                  <a:pt x="0" y="185289"/>
                </a:lnTo>
                <a:cubicBezTo>
                  <a:pt x="0" y="83025"/>
                  <a:pt x="83025" y="0"/>
                  <a:pt x="18528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Shape 75"/>
          <p:cNvSpPr/>
          <p:nvPr/>
        </p:nvSpPr>
        <p:spPr>
          <a:xfrm>
            <a:off x="7590600" y="6240240"/>
            <a:ext cx="129240" cy="147960"/>
          </a:xfrm>
          <a:custGeom>
            <a:avLst/>
            <a:gdLst>
              <a:gd name="textAreaLeft" fmla="*/ 0 w 129240"/>
              <a:gd name="textAreaRight" fmla="*/ 129600 w 129240"/>
              <a:gd name="textAreaTop" fmla="*/ 0 h 147960"/>
              <a:gd name="textAreaBottom" fmla="*/ 148320 h 147960"/>
            </a:gdLst>
            <a:ahLst/>
            <a:rect l="textAreaLeft" t="textAreaTop" r="textAreaRight" b="textAreaBottom"/>
            <a:pathLst>
              <a:path w="129702" h="148231">
                <a:moveTo>
                  <a:pt x="106946" y="37058"/>
                </a:moveTo>
                <a:lnTo>
                  <a:pt x="97016" y="23161"/>
                </a:lnTo>
                <a:lnTo>
                  <a:pt x="32715" y="23161"/>
                </a:lnTo>
                <a:lnTo>
                  <a:pt x="22785" y="37058"/>
                </a:lnTo>
                <a:lnTo>
                  <a:pt x="106946" y="37058"/>
                </a:lnTo>
                <a:close/>
                <a:moveTo>
                  <a:pt x="0" y="42993"/>
                </a:moveTo>
                <a:cubicBezTo>
                  <a:pt x="0" y="39142"/>
                  <a:pt x="1216" y="35379"/>
                  <a:pt x="3445" y="32223"/>
                </a:cubicBezTo>
                <a:lnTo>
                  <a:pt x="17631" y="12391"/>
                </a:lnTo>
                <a:cubicBezTo>
                  <a:pt x="21106" y="7527"/>
                  <a:pt x="26722" y="4632"/>
                  <a:pt x="32686" y="4632"/>
                </a:cubicBezTo>
                <a:lnTo>
                  <a:pt x="96987" y="4632"/>
                </a:lnTo>
                <a:cubicBezTo>
                  <a:pt x="102980" y="4632"/>
                  <a:pt x="108597" y="7527"/>
                  <a:pt x="112071" y="12391"/>
                </a:cubicBezTo>
                <a:lnTo>
                  <a:pt x="126228" y="32223"/>
                </a:lnTo>
                <a:cubicBezTo>
                  <a:pt x="128486" y="35379"/>
                  <a:pt x="129673" y="39142"/>
                  <a:pt x="129673" y="42993"/>
                </a:cubicBezTo>
                <a:lnTo>
                  <a:pt x="129702" y="120438"/>
                </a:lnTo>
                <a:cubicBezTo>
                  <a:pt x="129702" y="130658"/>
                  <a:pt x="121393" y="138967"/>
                  <a:pt x="111173" y="138967"/>
                </a:cubicBezTo>
                <a:lnTo>
                  <a:pt x="18529" y="138967"/>
                </a:lnTo>
                <a:cubicBezTo>
                  <a:pt x="8309" y="138967"/>
                  <a:pt x="0" y="130658"/>
                  <a:pt x="0" y="120438"/>
                </a:cubicBezTo>
                <a:lnTo>
                  <a:pt x="0" y="42993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76"/>
          <p:cNvSpPr/>
          <p:nvPr/>
        </p:nvSpPr>
        <p:spPr>
          <a:xfrm>
            <a:off x="7952040" y="6110640"/>
            <a:ext cx="347796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7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30% Inventory Optimization</a:t>
            </a:r>
            <a:endParaRPr b="0" lang="en-US" sz="11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Text 77"/>
          <p:cNvSpPr/>
          <p:nvPr/>
        </p:nvSpPr>
        <p:spPr>
          <a:xfrm>
            <a:off x="7952040" y="6332760"/>
            <a:ext cx="187092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102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Better demand forecasting</a:t>
            </a:r>
            <a:endParaRPr b="0" lang="en-US" sz="10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Text 0"/>
          <p:cNvSpPr/>
          <p:nvPr/>
        </p:nvSpPr>
        <p:spPr>
          <a:xfrm>
            <a:off x="349920" y="349920"/>
            <a:ext cx="1156176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52" strike="noStrike">
                <a:solidFill>
                  <a:srgbClr val="4db6ac"/>
                </a:solidFill>
                <a:latin typeface="Quattrocento Sans"/>
                <a:ea typeface="Quattrocento Sans"/>
              </a:rPr>
              <a:t>MODERN APPROACHES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 1"/>
          <p:cNvSpPr/>
          <p:nvPr/>
        </p:nvSpPr>
        <p:spPr>
          <a:xfrm>
            <a:off x="349920" y="629640"/>
            <a:ext cx="1164924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80" spc="-1" strike="noStrike">
                <a:solidFill>
                  <a:srgbClr val="eceff1"/>
                </a:solidFill>
                <a:latin typeface="Liter"/>
                <a:ea typeface="Liter"/>
              </a:rPr>
              <a:t>Cloud-Native ETL &amp; ELT vs ETL</a:t>
            </a:r>
            <a:endParaRPr b="0" lang="en-US" sz="24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2"/>
          <p:cNvSpPr/>
          <p:nvPr/>
        </p:nvSpPr>
        <p:spPr>
          <a:xfrm>
            <a:off x="349920" y="1049400"/>
            <a:ext cx="1157076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4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Understanding the Paradigm Shift in Data Processing</a:t>
            </a:r>
            <a:endParaRPr b="0" lang="en-US" sz="12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Shape 3"/>
          <p:cNvSpPr/>
          <p:nvPr/>
        </p:nvSpPr>
        <p:spPr>
          <a:xfrm>
            <a:off x="354240" y="1330560"/>
            <a:ext cx="5667120" cy="4381560"/>
          </a:xfrm>
          <a:custGeom>
            <a:avLst/>
            <a:gdLst>
              <a:gd name="textAreaLeft" fmla="*/ 0 w 5667120"/>
              <a:gd name="textAreaRight" fmla="*/ 5667480 w 5667120"/>
              <a:gd name="textAreaTop" fmla="*/ 0 h 4381560"/>
              <a:gd name="textAreaBottom" fmla="*/ 4381920 h 4381560"/>
            </a:gdLst>
            <a:ahLst/>
            <a:rect l="textAreaLeft" t="textAreaTop" r="textAreaRight" b="textAreaBottom"/>
            <a:pathLst>
              <a:path w="5667443" h="4381773">
                <a:moveTo>
                  <a:pt x="104943" y="0"/>
                </a:moveTo>
                <a:lnTo>
                  <a:pt x="5562500" y="0"/>
                </a:lnTo>
                <a:cubicBezTo>
                  <a:pt x="5620459" y="0"/>
                  <a:pt x="5667443" y="46985"/>
                  <a:pt x="5667443" y="104943"/>
                </a:cubicBezTo>
                <a:lnTo>
                  <a:pt x="5667443" y="4276830"/>
                </a:lnTo>
                <a:cubicBezTo>
                  <a:pt x="5667443" y="4334789"/>
                  <a:pt x="5620459" y="4381773"/>
                  <a:pt x="5562500" y="4381773"/>
                </a:cubicBezTo>
                <a:lnTo>
                  <a:pt x="104943" y="4381773"/>
                </a:lnTo>
                <a:cubicBezTo>
                  <a:pt x="46985" y="4381773"/>
                  <a:pt x="0" y="4334789"/>
                  <a:pt x="0" y="4276830"/>
                </a:cubicBezTo>
                <a:lnTo>
                  <a:pt x="0" y="104943"/>
                </a:lnTo>
                <a:cubicBezTo>
                  <a:pt x="0" y="46985"/>
                  <a:pt x="46985" y="0"/>
                  <a:pt x="104943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12700">
            <a:solidFill>
              <a:srgbClr val="4db6ac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Shape 4"/>
          <p:cNvSpPr/>
          <p:nvPr/>
        </p:nvSpPr>
        <p:spPr>
          <a:xfrm>
            <a:off x="533520" y="1618200"/>
            <a:ext cx="489240" cy="489240"/>
          </a:xfrm>
          <a:custGeom>
            <a:avLst/>
            <a:gdLst>
              <a:gd name="textAreaLeft" fmla="*/ 0 w 489240"/>
              <a:gd name="textAreaRight" fmla="*/ 489600 w 489240"/>
              <a:gd name="textAreaTop" fmla="*/ 0 h 489240"/>
              <a:gd name="textAreaBottom" fmla="*/ 489600 h 489240"/>
            </a:gdLst>
            <a:ahLst/>
            <a:rect l="textAreaLeft" t="textAreaTop" r="textAreaRight" b="textAreaBottom"/>
            <a:pathLst>
              <a:path w="489779" h="489779">
                <a:moveTo>
                  <a:pt x="69970" y="0"/>
                </a:moveTo>
                <a:lnTo>
                  <a:pt x="419809" y="0"/>
                </a:lnTo>
                <a:cubicBezTo>
                  <a:pt x="458452" y="0"/>
                  <a:pt x="489779" y="31327"/>
                  <a:pt x="489779" y="69970"/>
                </a:cubicBezTo>
                <a:lnTo>
                  <a:pt x="489779" y="419809"/>
                </a:lnTo>
                <a:cubicBezTo>
                  <a:pt x="489779" y="458452"/>
                  <a:pt x="458452" y="489779"/>
                  <a:pt x="419809" y="489779"/>
                </a:cubicBezTo>
                <a:lnTo>
                  <a:pt x="69970" y="489779"/>
                </a:lnTo>
                <a:cubicBezTo>
                  <a:pt x="31327" y="489779"/>
                  <a:pt x="0" y="458452"/>
                  <a:pt x="0" y="419809"/>
                </a:cubicBezTo>
                <a:lnTo>
                  <a:pt x="0" y="69970"/>
                </a:lnTo>
                <a:cubicBezTo>
                  <a:pt x="0" y="31327"/>
                  <a:pt x="31327" y="0"/>
                  <a:pt x="6997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Shape 5"/>
          <p:cNvSpPr/>
          <p:nvPr/>
        </p:nvSpPr>
        <p:spPr>
          <a:xfrm>
            <a:off x="649440" y="1731600"/>
            <a:ext cx="262080" cy="262080"/>
          </a:xfrm>
          <a:custGeom>
            <a:avLst/>
            <a:gdLst>
              <a:gd name="textAreaLeft" fmla="*/ 0 w 262080"/>
              <a:gd name="textAreaRight" fmla="*/ 262440 w 262080"/>
              <a:gd name="textAreaTop" fmla="*/ 0 h 262080"/>
              <a:gd name="textAreaBottom" fmla="*/ 262440 h 262080"/>
            </a:gdLst>
            <a:ahLst/>
            <a:rect l="textAreaLeft" t="textAreaTop" r="textAreaRight" b="textAreaBottom"/>
            <a:pathLst>
              <a:path w="262382" h="262382">
                <a:moveTo>
                  <a:pt x="257564" y="77177"/>
                </a:moveTo>
                <a:lnTo>
                  <a:pt x="208368" y="126374"/>
                </a:lnTo>
                <a:cubicBezTo>
                  <a:pt x="203653" y="131088"/>
                  <a:pt x="196632" y="132472"/>
                  <a:pt x="190483" y="129910"/>
                </a:cubicBezTo>
                <a:cubicBezTo>
                  <a:pt x="184333" y="127347"/>
                  <a:pt x="180387" y="121403"/>
                  <a:pt x="180387" y="114792"/>
                </a:cubicBezTo>
                <a:lnTo>
                  <a:pt x="180387" y="81994"/>
                </a:lnTo>
                <a:lnTo>
                  <a:pt x="16399" y="81994"/>
                </a:lnTo>
                <a:cubicBezTo>
                  <a:pt x="7328" y="81994"/>
                  <a:pt x="0" y="74666"/>
                  <a:pt x="0" y="65595"/>
                </a:cubicBezTo>
                <a:cubicBezTo>
                  <a:pt x="0" y="56525"/>
                  <a:pt x="7328" y="49197"/>
                  <a:pt x="16399" y="49197"/>
                </a:cubicBezTo>
                <a:lnTo>
                  <a:pt x="180387" y="49197"/>
                </a:lnTo>
                <a:lnTo>
                  <a:pt x="180387" y="16399"/>
                </a:lnTo>
                <a:cubicBezTo>
                  <a:pt x="180387" y="9788"/>
                  <a:pt x="184385" y="3792"/>
                  <a:pt x="190534" y="1230"/>
                </a:cubicBezTo>
                <a:cubicBezTo>
                  <a:pt x="196684" y="-1332"/>
                  <a:pt x="203704" y="102"/>
                  <a:pt x="208419" y="4766"/>
                </a:cubicBezTo>
                <a:lnTo>
                  <a:pt x="257616" y="53962"/>
                </a:lnTo>
                <a:cubicBezTo>
                  <a:pt x="264022" y="60368"/>
                  <a:pt x="264022" y="70771"/>
                  <a:pt x="257616" y="77177"/>
                </a:cubicBezTo>
                <a:close/>
                <a:moveTo>
                  <a:pt x="53962" y="257564"/>
                </a:moveTo>
                <a:lnTo>
                  <a:pt x="4766" y="208368"/>
                </a:lnTo>
                <a:cubicBezTo>
                  <a:pt x="-1640" y="201962"/>
                  <a:pt x="-1640" y="191559"/>
                  <a:pt x="4766" y="185153"/>
                </a:cubicBezTo>
                <a:lnTo>
                  <a:pt x="53962" y="135957"/>
                </a:lnTo>
                <a:cubicBezTo>
                  <a:pt x="58677" y="131242"/>
                  <a:pt x="65698" y="129858"/>
                  <a:pt x="71847" y="132421"/>
                </a:cubicBezTo>
                <a:cubicBezTo>
                  <a:pt x="77997" y="134983"/>
                  <a:pt x="81994" y="140979"/>
                  <a:pt x="81994" y="147590"/>
                </a:cubicBezTo>
                <a:lnTo>
                  <a:pt x="81994" y="180387"/>
                </a:lnTo>
                <a:lnTo>
                  <a:pt x="245983" y="180387"/>
                </a:lnTo>
                <a:cubicBezTo>
                  <a:pt x="255053" y="180387"/>
                  <a:pt x="262382" y="187716"/>
                  <a:pt x="262382" y="196786"/>
                </a:cubicBezTo>
                <a:cubicBezTo>
                  <a:pt x="262382" y="205857"/>
                  <a:pt x="255053" y="213185"/>
                  <a:pt x="245983" y="213185"/>
                </a:cubicBezTo>
                <a:lnTo>
                  <a:pt x="81994" y="213185"/>
                </a:lnTo>
                <a:lnTo>
                  <a:pt x="81994" y="245983"/>
                </a:lnTo>
                <a:cubicBezTo>
                  <a:pt x="81994" y="252594"/>
                  <a:pt x="77997" y="258589"/>
                  <a:pt x="71847" y="261152"/>
                </a:cubicBezTo>
                <a:cubicBezTo>
                  <a:pt x="65698" y="263714"/>
                  <a:pt x="58677" y="262279"/>
                  <a:pt x="53962" y="257616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6"/>
          <p:cNvSpPr/>
          <p:nvPr/>
        </p:nvSpPr>
        <p:spPr>
          <a:xfrm>
            <a:off x="1128240" y="1722960"/>
            <a:ext cx="150408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660" spc="-1" strike="noStrike">
                <a:solidFill>
                  <a:srgbClr val="4db6ac"/>
                </a:solidFill>
                <a:latin typeface="Liter"/>
                <a:ea typeface="Liter"/>
              </a:rPr>
              <a:t>Traditional ETL</a:t>
            </a:r>
            <a:endParaRPr b="0" lang="en-US" sz="16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Shape 7"/>
          <p:cNvSpPr/>
          <p:nvPr/>
        </p:nvSpPr>
        <p:spPr>
          <a:xfrm>
            <a:off x="533520" y="2313360"/>
            <a:ext cx="174600" cy="139680"/>
          </a:xfrm>
          <a:custGeom>
            <a:avLst/>
            <a:gdLst>
              <a:gd name="textAreaLeft" fmla="*/ 0 w 174600"/>
              <a:gd name="textAreaRight" fmla="*/ 174960 w 174600"/>
              <a:gd name="textAreaTop" fmla="*/ 0 h 139680"/>
              <a:gd name="textAreaBottom" fmla="*/ 140040 h 139680"/>
            </a:gdLst>
            <a:ahLst/>
            <a:rect l="textAreaLeft" t="textAreaTop" r="textAreaRight" b="textAreaBottom"/>
            <a:pathLst>
              <a:path w="174921" h="139937">
                <a:moveTo>
                  <a:pt x="113671" y="57533"/>
                </a:moveTo>
                <a:cubicBezTo>
                  <a:pt x="117006" y="56631"/>
                  <a:pt x="120504" y="58216"/>
                  <a:pt x="122007" y="61304"/>
                </a:cubicBezTo>
                <a:lnTo>
                  <a:pt x="127091" y="71581"/>
                </a:lnTo>
                <a:cubicBezTo>
                  <a:pt x="129906" y="71964"/>
                  <a:pt x="132667" y="72729"/>
                  <a:pt x="135263" y="73795"/>
                </a:cubicBezTo>
                <a:lnTo>
                  <a:pt x="144829" y="67427"/>
                </a:lnTo>
                <a:cubicBezTo>
                  <a:pt x="147699" y="65513"/>
                  <a:pt x="151498" y="65896"/>
                  <a:pt x="153931" y="68329"/>
                </a:cubicBezTo>
                <a:lnTo>
                  <a:pt x="159178" y="73576"/>
                </a:lnTo>
                <a:cubicBezTo>
                  <a:pt x="161611" y="76009"/>
                  <a:pt x="161993" y="79835"/>
                  <a:pt x="160080" y="82678"/>
                </a:cubicBezTo>
                <a:lnTo>
                  <a:pt x="153712" y="92216"/>
                </a:lnTo>
                <a:cubicBezTo>
                  <a:pt x="154231" y="93501"/>
                  <a:pt x="154696" y="94840"/>
                  <a:pt x="155078" y="96234"/>
                </a:cubicBezTo>
                <a:cubicBezTo>
                  <a:pt x="155461" y="97628"/>
                  <a:pt x="155707" y="98994"/>
                  <a:pt x="155898" y="100388"/>
                </a:cubicBezTo>
                <a:lnTo>
                  <a:pt x="166202" y="105472"/>
                </a:lnTo>
                <a:cubicBezTo>
                  <a:pt x="169291" y="107003"/>
                  <a:pt x="170876" y="110501"/>
                  <a:pt x="169974" y="113808"/>
                </a:cubicBezTo>
                <a:lnTo>
                  <a:pt x="168061" y="120969"/>
                </a:lnTo>
                <a:cubicBezTo>
                  <a:pt x="167159" y="124276"/>
                  <a:pt x="164071" y="126517"/>
                  <a:pt x="160627" y="126298"/>
                </a:cubicBezTo>
                <a:lnTo>
                  <a:pt x="149148" y="125561"/>
                </a:lnTo>
                <a:cubicBezTo>
                  <a:pt x="147426" y="127774"/>
                  <a:pt x="145430" y="129824"/>
                  <a:pt x="143162" y="131573"/>
                </a:cubicBezTo>
                <a:lnTo>
                  <a:pt x="143900" y="143025"/>
                </a:lnTo>
                <a:cubicBezTo>
                  <a:pt x="144119" y="146469"/>
                  <a:pt x="141877" y="149585"/>
                  <a:pt x="138570" y="150459"/>
                </a:cubicBezTo>
                <a:lnTo>
                  <a:pt x="131409" y="152373"/>
                </a:lnTo>
                <a:cubicBezTo>
                  <a:pt x="128075" y="153275"/>
                  <a:pt x="124604" y="151689"/>
                  <a:pt x="123073" y="148601"/>
                </a:cubicBezTo>
                <a:lnTo>
                  <a:pt x="117990" y="138324"/>
                </a:lnTo>
                <a:cubicBezTo>
                  <a:pt x="115175" y="137942"/>
                  <a:pt x="112414" y="137176"/>
                  <a:pt x="109818" y="136110"/>
                </a:cubicBezTo>
                <a:lnTo>
                  <a:pt x="100252" y="142479"/>
                </a:lnTo>
                <a:cubicBezTo>
                  <a:pt x="97382" y="144392"/>
                  <a:pt x="93583" y="144009"/>
                  <a:pt x="91150" y="141577"/>
                </a:cubicBezTo>
                <a:lnTo>
                  <a:pt x="85903" y="136329"/>
                </a:lnTo>
                <a:cubicBezTo>
                  <a:pt x="83470" y="133897"/>
                  <a:pt x="83088" y="130098"/>
                  <a:pt x="85001" y="127228"/>
                </a:cubicBezTo>
                <a:lnTo>
                  <a:pt x="91369" y="117662"/>
                </a:lnTo>
                <a:cubicBezTo>
                  <a:pt x="90850" y="116377"/>
                  <a:pt x="90385" y="115038"/>
                  <a:pt x="90002" y="113644"/>
                </a:cubicBezTo>
                <a:cubicBezTo>
                  <a:pt x="89620" y="112250"/>
                  <a:pt x="89374" y="110856"/>
                  <a:pt x="89182" y="109490"/>
                </a:cubicBezTo>
                <a:lnTo>
                  <a:pt x="78878" y="104406"/>
                </a:lnTo>
                <a:cubicBezTo>
                  <a:pt x="75790" y="102875"/>
                  <a:pt x="74232" y="99377"/>
                  <a:pt x="75107" y="96070"/>
                </a:cubicBezTo>
                <a:lnTo>
                  <a:pt x="77020" y="88909"/>
                </a:lnTo>
                <a:cubicBezTo>
                  <a:pt x="77922" y="85602"/>
                  <a:pt x="81010" y="83361"/>
                  <a:pt x="84454" y="83579"/>
                </a:cubicBezTo>
                <a:lnTo>
                  <a:pt x="95906" y="84317"/>
                </a:lnTo>
                <a:cubicBezTo>
                  <a:pt x="97628" y="82104"/>
                  <a:pt x="99623" y="80054"/>
                  <a:pt x="101892" y="78305"/>
                </a:cubicBezTo>
                <a:lnTo>
                  <a:pt x="101154" y="66880"/>
                </a:lnTo>
                <a:cubicBezTo>
                  <a:pt x="100935" y="63436"/>
                  <a:pt x="103176" y="60320"/>
                  <a:pt x="106483" y="59446"/>
                </a:cubicBezTo>
                <a:lnTo>
                  <a:pt x="113644" y="57533"/>
                </a:lnTo>
                <a:close/>
                <a:moveTo>
                  <a:pt x="122554" y="92927"/>
                </a:moveTo>
                <a:cubicBezTo>
                  <a:pt x="115917" y="92934"/>
                  <a:pt x="110534" y="98329"/>
                  <a:pt x="110542" y="104966"/>
                </a:cubicBezTo>
                <a:cubicBezTo>
                  <a:pt x="110549" y="111604"/>
                  <a:pt x="115944" y="116986"/>
                  <a:pt x="122581" y="116978"/>
                </a:cubicBezTo>
                <a:cubicBezTo>
                  <a:pt x="129219" y="116971"/>
                  <a:pt x="134601" y="111576"/>
                  <a:pt x="134594" y="104939"/>
                </a:cubicBezTo>
                <a:cubicBezTo>
                  <a:pt x="134586" y="98302"/>
                  <a:pt x="129191" y="92919"/>
                  <a:pt x="122554" y="92927"/>
                </a:cubicBezTo>
                <a:close/>
                <a:moveTo>
                  <a:pt x="61468" y="-12436"/>
                </a:moveTo>
                <a:lnTo>
                  <a:pt x="68629" y="-10523"/>
                </a:lnTo>
                <a:cubicBezTo>
                  <a:pt x="71936" y="-9621"/>
                  <a:pt x="74177" y="-6505"/>
                  <a:pt x="73959" y="-3088"/>
                </a:cubicBezTo>
                <a:lnTo>
                  <a:pt x="73221" y="8336"/>
                </a:lnTo>
                <a:cubicBezTo>
                  <a:pt x="75489" y="10085"/>
                  <a:pt x="77485" y="12108"/>
                  <a:pt x="79206" y="14349"/>
                </a:cubicBezTo>
                <a:lnTo>
                  <a:pt x="90686" y="13611"/>
                </a:lnTo>
                <a:cubicBezTo>
                  <a:pt x="94102" y="13392"/>
                  <a:pt x="97218" y="15634"/>
                  <a:pt x="98120" y="18941"/>
                </a:cubicBezTo>
                <a:lnTo>
                  <a:pt x="100033" y="26102"/>
                </a:lnTo>
                <a:cubicBezTo>
                  <a:pt x="100908" y="29409"/>
                  <a:pt x="99350" y="32907"/>
                  <a:pt x="96261" y="34438"/>
                </a:cubicBezTo>
                <a:lnTo>
                  <a:pt x="85957" y="39521"/>
                </a:lnTo>
                <a:cubicBezTo>
                  <a:pt x="85766" y="40915"/>
                  <a:pt x="85493" y="42309"/>
                  <a:pt x="85137" y="43676"/>
                </a:cubicBezTo>
                <a:cubicBezTo>
                  <a:pt x="84782" y="45042"/>
                  <a:pt x="84290" y="46409"/>
                  <a:pt x="83771" y="47693"/>
                </a:cubicBezTo>
                <a:lnTo>
                  <a:pt x="90139" y="57259"/>
                </a:lnTo>
                <a:cubicBezTo>
                  <a:pt x="92052" y="60129"/>
                  <a:pt x="91670" y="63928"/>
                  <a:pt x="89237" y="66361"/>
                </a:cubicBezTo>
                <a:lnTo>
                  <a:pt x="83989" y="71608"/>
                </a:lnTo>
                <a:cubicBezTo>
                  <a:pt x="81557" y="74041"/>
                  <a:pt x="77758" y="74423"/>
                  <a:pt x="74888" y="72510"/>
                </a:cubicBezTo>
                <a:lnTo>
                  <a:pt x="65322" y="66142"/>
                </a:lnTo>
                <a:cubicBezTo>
                  <a:pt x="62726" y="67208"/>
                  <a:pt x="59965" y="67973"/>
                  <a:pt x="57150" y="68356"/>
                </a:cubicBezTo>
                <a:lnTo>
                  <a:pt x="52066" y="78632"/>
                </a:lnTo>
                <a:cubicBezTo>
                  <a:pt x="50536" y="81721"/>
                  <a:pt x="47037" y="83279"/>
                  <a:pt x="43730" y="82404"/>
                </a:cubicBezTo>
                <a:lnTo>
                  <a:pt x="36569" y="80491"/>
                </a:lnTo>
                <a:cubicBezTo>
                  <a:pt x="33235" y="79589"/>
                  <a:pt x="31021" y="76473"/>
                  <a:pt x="31240" y="73057"/>
                </a:cubicBezTo>
                <a:lnTo>
                  <a:pt x="31978" y="61605"/>
                </a:lnTo>
                <a:cubicBezTo>
                  <a:pt x="29709" y="59856"/>
                  <a:pt x="27714" y="57833"/>
                  <a:pt x="25992" y="55592"/>
                </a:cubicBezTo>
                <a:lnTo>
                  <a:pt x="14513" y="56330"/>
                </a:lnTo>
                <a:cubicBezTo>
                  <a:pt x="11097" y="56549"/>
                  <a:pt x="7981" y="54308"/>
                  <a:pt x="7079" y="51000"/>
                </a:cubicBezTo>
                <a:lnTo>
                  <a:pt x="5166" y="43840"/>
                </a:lnTo>
                <a:cubicBezTo>
                  <a:pt x="4291" y="40532"/>
                  <a:pt x="5849" y="37034"/>
                  <a:pt x="8937" y="35504"/>
                </a:cubicBezTo>
                <a:lnTo>
                  <a:pt x="19241" y="30420"/>
                </a:lnTo>
                <a:cubicBezTo>
                  <a:pt x="19433" y="29026"/>
                  <a:pt x="19706" y="27659"/>
                  <a:pt x="20061" y="26265"/>
                </a:cubicBezTo>
                <a:cubicBezTo>
                  <a:pt x="20444" y="24872"/>
                  <a:pt x="20881" y="23532"/>
                  <a:pt x="21428" y="22248"/>
                </a:cubicBezTo>
                <a:lnTo>
                  <a:pt x="15060" y="12709"/>
                </a:lnTo>
                <a:cubicBezTo>
                  <a:pt x="13146" y="9839"/>
                  <a:pt x="13529" y="6040"/>
                  <a:pt x="15962" y="3608"/>
                </a:cubicBezTo>
                <a:lnTo>
                  <a:pt x="21209" y="-1640"/>
                </a:lnTo>
                <a:cubicBezTo>
                  <a:pt x="23642" y="-4072"/>
                  <a:pt x="27441" y="-4455"/>
                  <a:pt x="30311" y="-2542"/>
                </a:cubicBezTo>
                <a:lnTo>
                  <a:pt x="39877" y="3826"/>
                </a:lnTo>
                <a:cubicBezTo>
                  <a:pt x="42473" y="2760"/>
                  <a:pt x="45234" y="1995"/>
                  <a:pt x="48049" y="1613"/>
                </a:cubicBezTo>
                <a:lnTo>
                  <a:pt x="53132" y="-8664"/>
                </a:lnTo>
                <a:cubicBezTo>
                  <a:pt x="54663" y="-11753"/>
                  <a:pt x="58134" y="-13310"/>
                  <a:pt x="61468" y="-12436"/>
                </a:cubicBezTo>
                <a:close/>
                <a:moveTo>
                  <a:pt x="52586" y="22958"/>
                </a:moveTo>
                <a:cubicBezTo>
                  <a:pt x="45948" y="22958"/>
                  <a:pt x="40560" y="28347"/>
                  <a:pt x="40560" y="34984"/>
                </a:cubicBezTo>
                <a:cubicBezTo>
                  <a:pt x="40560" y="41621"/>
                  <a:pt x="45948" y="47010"/>
                  <a:pt x="52586" y="47010"/>
                </a:cubicBezTo>
                <a:cubicBezTo>
                  <a:pt x="59223" y="47010"/>
                  <a:pt x="64611" y="41621"/>
                  <a:pt x="64611" y="34984"/>
                </a:cubicBezTo>
                <a:cubicBezTo>
                  <a:pt x="64611" y="28347"/>
                  <a:pt x="59223" y="22958"/>
                  <a:pt x="52586" y="22958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Text 8"/>
          <p:cNvSpPr/>
          <p:nvPr/>
        </p:nvSpPr>
        <p:spPr>
          <a:xfrm>
            <a:off x="756720" y="2278440"/>
            <a:ext cx="51552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Process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9"/>
          <p:cNvSpPr/>
          <p:nvPr/>
        </p:nvSpPr>
        <p:spPr>
          <a:xfrm>
            <a:off x="533520" y="2523240"/>
            <a:ext cx="53784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Extract → </a:t>
            </a:r>
            <a:r>
              <a:rPr b="1" lang="en-US" sz="110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Transform</a:t>
            </a: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 → Load. Transformations happen before loading.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Shape 10"/>
          <p:cNvSpPr/>
          <p:nvPr/>
        </p:nvSpPr>
        <p:spPr>
          <a:xfrm>
            <a:off x="551160" y="2934360"/>
            <a:ext cx="139680" cy="139680"/>
          </a:xfrm>
          <a:custGeom>
            <a:avLst/>
            <a:gdLst>
              <a:gd name="textAreaLeft" fmla="*/ 0 w 139680"/>
              <a:gd name="textAreaRight" fmla="*/ 140040 w 139680"/>
              <a:gd name="textAreaTop" fmla="*/ 0 h 139680"/>
              <a:gd name="textAreaBottom" fmla="*/ 140040 h 139680"/>
            </a:gdLst>
            <a:ahLst/>
            <a:rect l="textAreaLeft" t="textAreaTop" r="textAreaRight" b="textAreaBottom"/>
            <a:pathLst>
              <a:path w="139937" h="139937">
                <a:moveTo>
                  <a:pt x="69968" y="139937"/>
                </a:moveTo>
                <a:cubicBezTo>
                  <a:pt x="108585" y="139937"/>
                  <a:pt x="139937" y="108585"/>
                  <a:pt x="139937" y="69968"/>
                </a:cubicBezTo>
                <a:cubicBezTo>
                  <a:pt x="139937" y="31352"/>
                  <a:pt x="108585" y="0"/>
                  <a:pt x="69968" y="0"/>
                </a:cubicBezTo>
                <a:cubicBezTo>
                  <a:pt x="31352" y="0"/>
                  <a:pt x="0" y="31352"/>
                  <a:pt x="0" y="69968"/>
                </a:cubicBezTo>
                <a:cubicBezTo>
                  <a:pt x="0" y="108585"/>
                  <a:pt x="31352" y="139937"/>
                  <a:pt x="69968" y="139937"/>
                </a:cubicBezTo>
                <a:close/>
                <a:moveTo>
                  <a:pt x="93036" y="58134"/>
                </a:moveTo>
                <a:lnTo>
                  <a:pt x="71171" y="93118"/>
                </a:lnTo>
                <a:cubicBezTo>
                  <a:pt x="70023" y="94949"/>
                  <a:pt x="68055" y="96097"/>
                  <a:pt x="65896" y="96207"/>
                </a:cubicBezTo>
                <a:cubicBezTo>
                  <a:pt x="63737" y="96316"/>
                  <a:pt x="61660" y="95332"/>
                  <a:pt x="60375" y="93583"/>
                </a:cubicBezTo>
                <a:lnTo>
                  <a:pt x="47256" y="76091"/>
                </a:lnTo>
                <a:cubicBezTo>
                  <a:pt x="45070" y="73194"/>
                  <a:pt x="45671" y="69094"/>
                  <a:pt x="48568" y="66907"/>
                </a:cubicBezTo>
                <a:cubicBezTo>
                  <a:pt x="51465" y="64721"/>
                  <a:pt x="55565" y="65322"/>
                  <a:pt x="57751" y="68219"/>
                </a:cubicBezTo>
                <a:lnTo>
                  <a:pt x="65131" y="78059"/>
                </a:lnTo>
                <a:lnTo>
                  <a:pt x="81912" y="51192"/>
                </a:lnTo>
                <a:cubicBezTo>
                  <a:pt x="83825" y="48131"/>
                  <a:pt x="87871" y="47174"/>
                  <a:pt x="90959" y="49115"/>
                </a:cubicBezTo>
                <a:cubicBezTo>
                  <a:pt x="94047" y="51055"/>
                  <a:pt x="94977" y="55073"/>
                  <a:pt x="93036" y="58161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Text 11"/>
          <p:cNvSpPr/>
          <p:nvPr/>
        </p:nvSpPr>
        <p:spPr>
          <a:xfrm>
            <a:off x="756720" y="2899440"/>
            <a:ext cx="51552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Pros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 12"/>
          <p:cNvSpPr/>
          <p:nvPr/>
        </p:nvSpPr>
        <p:spPr>
          <a:xfrm>
            <a:off x="743400" y="3144240"/>
            <a:ext cx="51685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• </a:t>
            </a: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Clean data enters warehouse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Text 13"/>
          <p:cNvSpPr/>
          <p:nvPr/>
        </p:nvSpPr>
        <p:spPr>
          <a:xfrm>
            <a:off x="743400" y="3389040"/>
            <a:ext cx="51685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• </a:t>
            </a: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Smaller storage footprint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Text 14"/>
          <p:cNvSpPr/>
          <p:nvPr/>
        </p:nvSpPr>
        <p:spPr>
          <a:xfrm>
            <a:off x="743400" y="3633840"/>
            <a:ext cx="51685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• </a:t>
            </a: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Better for sensitive data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Shape 15"/>
          <p:cNvSpPr/>
          <p:nvPr/>
        </p:nvSpPr>
        <p:spPr>
          <a:xfrm>
            <a:off x="551160" y="4044960"/>
            <a:ext cx="139680" cy="139680"/>
          </a:xfrm>
          <a:custGeom>
            <a:avLst/>
            <a:gdLst>
              <a:gd name="textAreaLeft" fmla="*/ 0 w 139680"/>
              <a:gd name="textAreaRight" fmla="*/ 140040 w 139680"/>
              <a:gd name="textAreaTop" fmla="*/ 0 h 139680"/>
              <a:gd name="textAreaBottom" fmla="*/ 140040 h 139680"/>
            </a:gdLst>
            <a:ahLst/>
            <a:rect l="textAreaLeft" t="textAreaTop" r="textAreaRight" b="textAreaBottom"/>
            <a:pathLst>
              <a:path w="139937" h="139937">
                <a:moveTo>
                  <a:pt x="69968" y="139937"/>
                </a:moveTo>
                <a:cubicBezTo>
                  <a:pt x="108585" y="139937"/>
                  <a:pt x="139937" y="108585"/>
                  <a:pt x="139937" y="69968"/>
                </a:cubicBezTo>
                <a:cubicBezTo>
                  <a:pt x="139937" y="31352"/>
                  <a:pt x="108585" y="0"/>
                  <a:pt x="69968" y="0"/>
                </a:cubicBezTo>
                <a:cubicBezTo>
                  <a:pt x="31352" y="0"/>
                  <a:pt x="0" y="31352"/>
                  <a:pt x="0" y="69968"/>
                </a:cubicBezTo>
                <a:cubicBezTo>
                  <a:pt x="0" y="108585"/>
                  <a:pt x="31352" y="139937"/>
                  <a:pt x="69968" y="139937"/>
                </a:cubicBezTo>
                <a:close/>
                <a:moveTo>
                  <a:pt x="45643" y="45643"/>
                </a:moveTo>
                <a:cubicBezTo>
                  <a:pt x="48213" y="43074"/>
                  <a:pt x="52367" y="43074"/>
                  <a:pt x="54909" y="45643"/>
                </a:cubicBezTo>
                <a:lnTo>
                  <a:pt x="69941" y="60676"/>
                </a:lnTo>
                <a:lnTo>
                  <a:pt x="84973" y="45643"/>
                </a:lnTo>
                <a:cubicBezTo>
                  <a:pt x="87543" y="43074"/>
                  <a:pt x="91697" y="43074"/>
                  <a:pt x="94239" y="45643"/>
                </a:cubicBezTo>
                <a:cubicBezTo>
                  <a:pt x="96781" y="48213"/>
                  <a:pt x="96808" y="52367"/>
                  <a:pt x="94239" y="54909"/>
                </a:cubicBezTo>
                <a:lnTo>
                  <a:pt x="79206" y="69941"/>
                </a:lnTo>
                <a:lnTo>
                  <a:pt x="94239" y="84973"/>
                </a:lnTo>
                <a:cubicBezTo>
                  <a:pt x="96808" y="87543"/>
                  <a:pt x="96808" y="91697"/>
                  <a:pt x="94239" y="94239"/>
                </a:cubicBezTo>
                <a:cubicBezTo>
                  <a:pt x="91670" y="96781"/>
                  <a:pt x="87515" y="96808"/>
                  <a:pt x="84973" y="94239"/>
                </a:cubicBezTo>
                <a:lnTo>
                  <a:pt x="69941" y="79206"/>
                </a:lnTo>
                <a:lnTo>
                  <a:pt x="54909" y="94239"/>
                </a:lnTo>
                <a:cubicBezTo>
                  <a:pt x="52340" y="96808"/>
                  <a:pt x="48185" y="96808"/>
                  <a:pt x="45643" y="94239"/>
                </a:cubicBezTo>
                <a:cubicBezTo>
                  <a:pt x="43102" y="91670"/>
                  <a:pt x="43074" y="87515"/>
                  <a:pt x="45643" y="84973"/>
                </a:cubicBezTo>
                <a:lnTo>
                  <a:pt x="60676" y="69941"/>
                </a:lnTo>
                <a:lnTo>
                  <a:pt x="45643" y="54909"/>
                </a:lnTo>
                <a:cubicBezTo>
                  <a:pt x="43074" y="52340"/>
                  <a:pt x="43074" y="48185"/>
                  <a:pt x="45643" y="45643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16"/>
          <p:cNvSpPr/>
          <p:nvPr/>
        </p:nvSpPr>
        <p:spPr>
          <a:xfrm>
            <a:off x="756720" y="4010040"/>
            <a:ext cx="51552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Cons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Text 17"/>
          <p:cNvSpPr/>
          <p:nvPr/>
        </p:nvSpPr>
        <p:spPr>
          <a:xfrm>
            <a:off x="743400" y="4254840"/>
            <a:ext cx="51685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• </a:t>
            </a: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Slower to implement changes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 18"/>
          <p:cNvSpPr/>
          <p:nvPr/>
        </p:nvSpPr>
        <p:spPr>
          <a:xfrm>
            <a:off x="743400" y="4500000"/>
            <a:ext cx="51685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• </a:t>
            </a: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Requires dedicated compute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Text 19"/>
          <p:cNvSpPr/>
          <p:nvPr/>
        </p:nvSpPr>
        <p:spPr>
          <a:xfrm>
            <a:off x="743400" y="4744800"/>
            <a:ext cx="51685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• </a:t>
            </a: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Less flexibility for exploration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Shape 20"/>
          <p:cNvSpPr/>
          <p:nvPr/>
        </p:nvSpPr>
        <p:spPr>
          <a:xfrm>
            <a:off x="533520" y="5190840"/>
            <a:ext cx="5308560" cy="419400"/>
          </a:xfrm>
          <a:custGeom>
            <a:avLst/>
            <a:gdLst>
              <a:gd name="textAreaLeft" fmla="*/ 0 w 5308560"/>
              <a:gd name="textAreaRight" fmla="*/ 5308920 w 5308560"/>
              <a:gd name="textAreaTop" fmla="*/ 0 h 419400"/>
              <a:gd name="textAreaBottom" fmla="*/ 419760 h 419400"/>
            </a:gdLst>
            <a:ahLst/>
            <a:rect l="textAreaLeft" t="textAreaTop" r="textAreaRight" b="textAreaBottom"/>
            <a:pathLst>
              <a:path w="5308855" h="419811">
                <a:moveTo>
                  <a:pt x="69970" y="0"/>
                </a:moveTo>
                <a:lnTo>
                  <a:pt x="5238885" y="0"/>
                </a:lnTo>
                <a:cubicBezTo>
                  <a:pt x="5277529" y="0"/>
                  <a:pt x="5308855" y="31327"/>
                  <a:pt x="5308855" y="69970"/>
                </a:cubicBezTo>
                <a:lnTo>
                  <a:pt x="5308855" y="349841"/>
                </a:lnTo>
                <a:cubicBezTo>
                  <a:pt x="5308855" y="388484"/>
                  <a:pt x="5277529" y="419811"/>
                  <a:pt x="5238885" y="419811"/>
                </a:cubicBezTo>
                <a:lnTo>
                  <a:pt x="69970" y="419811"/>
                </a:lnTo>
                <a:cubicBezTo>
                  <a:pt x="31327" y="419811"/>
                  <a:pt x="0" y="388484"/>
                  <a:pt x="0" y="349841"/>
                </a:cubicBezTo>
                <a:lnTo>
                  <a:pt x="0" y="69970"/>
                </a:lnTo>
                <a:cubicBezTo>
                  <a:pt x="0" y="31327"/>
                  <a:pt x="31327" y="0"/>
                  <a:pt x="69970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Text 21"/>
          <p:cNvSpPr/>
          <p:nvPr/>
        </p:nvSpPr>
        <p:spPr>
          <a:xfrm>
            <a:off x="638640" y="5295600"/>
            <a:ext cx="51685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Best For:</a:t>
            </a: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 Structured data, compliance requirements, fixed schemas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Shape 22"/>
          <p:cNvSpPr/>
          <p:nvPr/>
        </p:nvSpPr>
        <p:spPr>
          <a:xfrm>
            <a:off x="6169320" y="1330560"/>
            <a:ext cx="5667120" cy="4381560"/>
          </a:xfrm>
          <a:custGeom>
            <a:avLst/>
            <a:gdLst>
              <a:gd name="textAreaLeft" fmla="*/ 0 w 5667120"/>
              <a:gd name="textAreaRight" fmla="*/ 5667480 w 5667120"/>
              <a:gd name="textAreaTop" fmla="*/ 0 h 4381560"/>
              <a:gd name="textAreaBottom" fmla="*/ 4381920 h 4381560"/>
            </a:gdLst>
            <a:ahLst/>
            <a:rect l="textAreaLeft" t="textAreaTop" r="textAreaRight" b="textAreaBottom"/>
            <a:pathLst>
              <a:path w="5667443" h="4381773">
                <a:moveTo>
                  <a:pt x="104943" y="0"/>
                </a:moveTo>
                <a:lnTo>
                  <a:pt x="5562500" y="0"/>
                </a:lnTo>
                <a:cubicBezTo>
                  <a:pt x="5620459" y="0"/>
                  <a:pt x="5667443" y="46985"/>
                  <a:pt x="5667443" y="104943"/>
                </a:cubicBezTo>
                <a:lnTo>
                  <a:pt x="5667443" y="4276830"/>
                </a:lnTo>
                <a:cubicBezTo>
                  <a:pt x="5667443" y="4334789"/>
                  <a:pt x="5620459" y="4381773"/>
                  <a:pt x="5562500" y="4381773"/>
                </a:cubicBezTo>
                <a:lnTo>
                  <a:pt x="104943" y="4381773"/>
                </a:lnTo>
                <a:cubicBezTo>
                  <a:pt x="46985" y="4381773"/>
                  <a:pt x="0" y="4334789"/>
                  <a:pt x="0" y="4276830"/>
                </a:cubicBezTo>
                <a:lnTo>
                  <a:pt x="0" y="104943"/>
                </a:lnTo>
                <a:cubicBezTo>
                  <a:pt x="0" y="46985"/>
                  <a:pt x="46985" y="0"/>
                  <a:pt x="104943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12700">
            <a:solidFill>
              <a:srgbClr val="ff8a65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23"/>
          <p:cNvSpPr/>
          <p:nvPr/>
        </p:nvSpPr>
        <p:spPr>
          <a:xfrm>
            <a:off x="6348600" y="1618200"/>
            <a:ext cx="489240" cy="489240"/>
          </a:xfrm>
          <a:custGeom>
            <a:avLst/>
            <a:gdLst>
              <a:gd name="textAreaLeft" fmla="*/ 0 w 489240"/>
              <a:gd name="textAreaRight" fmla="*/ 489600 w 489240"/>
              <a:gd name="textAreaTop" fmla="*/ 0 h 489240"/>
              <a:gd name="textAreaBottom" fmla="*/ 489600 h 489240"/>
            </a:gdLst>
            <a:ahLst/>
            <a:rect l="textAreaLeft" t="textAreaTop" r="textAreaRight" b="textAreaBottom"/>
            <a:pathLst>
              <a:path w="489779" h="489779">
                <a:moveTo>
                  <a:pt x="69970" y="0"/>
                </a:moveTo>
                <a:lnTo>
                  <a:pt x="419809" y="0"/>
                </a:lnTo>
                <a:cubicBezTo>
                  <a:pt x="458452" y="0"/>
                  <a:pt x="489779" y="31327"/>
                  <a:pt x="489779" y="69970"/>
                </a:cubicBezTo>
                <a:lnTo>
                  <a:pt x="489779" y="419809"/>
                </a:lnTo>
                <a:cubicBezTo>
                  <a:pt x="489779" y="458452"/>
                  <a:pt x="458452" y="489779"/>
                  <a:pt x="419809" y="489779"/>
                </a:cubicBezTo>
                <a:lnTo>
                  <a:pt x="69970" y="489779"/>
                </a:lnTo>
                <a:cubicBezTo>
                  <a:pt x="31327" y="489779"/>
                  <a:pt x="0" y="458452"/>
                  <a:pt x="0" y="419809"/>
                </a:cubicBezTo>
                <a:lnTo>
                  <a:pt x="0" y="69970"/>
                </a:lnTo>
                <a:cubicBezTo>
                  <a:pt x="0" y="31327"/>
                  <a:pt x="31327" y="0"/>
                  <a:pt x="69970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24"/>
          <p:cNvSpPr/>
          <p:nvPr/>
        </p:nvSpPr>
        <p:spPr>
          <a:xfrm>
            <a:off x="6480720" y="1731600"/>
            <a:ext cx="229320" cy="262080"/>
          </a:xfrm>
          <a:custGeom>
            <a:avLst/>
            <a:gdLst>
              <a:gd name="textAreaLeft" fmla="*/ 0 w 229320"/>
              <a:gd name="textAreaRight" fmla="*/ 229680 w 229320"/>
              <a:gd name="textAreaTop" fmla="*/ 0 h 262080"/>
              <a:gd name="textAreaBottom" fmla="*/ 262440 h 262080"/>
            </a:gdLst>
            <a:ahLst/>
            <a:rect l="textAreaLeft" t="textAreaTop" r="textAreaRight" b="textAreaBottom"/>
            <a:pathLst>
              <a:path w="229584" h="262382">
                <a:moveTo>
                  <a:pt x="173623" y="-5073"/>
                </a:moveTo>
                <a:cubicBezTo>
                  <a:pt x="179721" y="-666"/>
                  <a:pt x="181976" y="7328"/>
                  <a:pt x="179209" y="14298"/>
                </a:cubicBezTo>
                <a:lnTo>
                  <a:pt x="139032" y="114792"/>
                </a:lnTo>
                <a:lnTo>
                  <a:pt x="213185" y="114792"/>
                </a:lnTo>
                <a:cubicBezTo>
                  <a:pt x="220103" y="114792"/>
                  <a:pt x="226253" y="119097"/>
                  <a:pt x="228610" y="125605"/>
                </a:cubicBezTo>
                <a:cubicBezTo>
                  <a:pt x="230968" y="132113"/>
                  <a:pt x="228969" y="139390"/>
                  <a:pt x="223691" y="143797"/>
                </a:cubicBezTo>
                <a:lnTo>
                  <a:pt x="76101" y="266789"/>
                </a:lnTo>
                <a:cubicBezTo>
                  <a:pt x="70310" y="271606"/>
                  <a:pt x="62059" y="271862"/>
                  <a:pt x="55961" y="267455"/>
                </a:cubicBezTo>
                <a:cubicBezTo>
                  <a:pt x="49863" y="263048"/>
                  <a:pt x="47608" y="255053"/>
                  <a:pt x="50375" y="248084"/>
                </a:cubicBezTo>
                <a:lnTo>
                  <a:pt x="90552" y="147590"/>
                </a:lnTo>
                <a:lnTo>
                  <a:pt x="16399" y="147590"/>
                </a:lnTo>
                <a:cubicBezTo>
                  <a:pt x="9481" y="147590"/>
                  <a:pt x="3331" y="143285"/>
                  <a:pt x="974" y="136777"/>
                </a:cubicBezTo>
                <a:cubicBezTo>
                  <a:pt x="-1384" y="130268"/>
                  <a:pt x="615" y="122991"/>
                  <a:pt x="5893" y="118584"/>
                </a:cubicBezTo>
                <a:lnTo>
                  <a:pt x="153483" y="-4407"/>
                </a:lnTo>
                <a:cubicBezTo>
                  <a:pt x="159274" y="-9224"/>
                  <a:pt x="167525" y="-9481"/>
                  <a:pt x="173623" y="-5073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 25"/>
          <p:cNvSpPr/>
          <p:nvPr/>
        </p:nvSpPr>
        <p:spPr>
          <a:xfrm>
            <a:off x="6943320" y="1722960"/>
            <a:ext cx="12416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660" spc="-1" strike="noStrike">
                <a:solidFill>
                  <a:srgbClr val="ff8a65"/>
                </a:solidFill>
                <a:latin typeface="Liter"/>
                <a:ea typeface="Liter"/>
              </a:rPr>
              <a:t>Modern ELT</a:t>
            </a:r>
            <a:endParaRPr b="0" lang="en-US" sz="16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Shape 26"/>
          <p:cNvSpPr/>
          <p:nvPr/>
        </p:nvSpPr>
        <p:spPr>
          <a:xfrm>
            <a:off x="6348600" y="2282760"/>
            <a:ext cx="174600" cy="139680"/>
          </a:xfrm>
          <a:custGeom>
            <a:avLst/>
            <a:gdLst>
              <a:gd name="textAreaLeft" fmla="*/ 0 w 174600"/>
              <a:gd name="textAreaRight" fmla="*/ 174960 w 174600"/>
              <a:gd name="textAreaTop" fmla="*/ 0 h 139680"/>
              <a:gd name="textAreaBottom" fmla="*/ 140040 h 139680"/>
            </a:gdLst>
            <a:ahLst/>
            <a:rect l="textAreaLeft" t="textAreaTop" r="textAreaRight" b="textAreaBottom"/>
            <a:pathLst>
              <a:path w="174921" h="139937">
                <a:moveTo>
                  <a:pt x="113671" y="57533"/>
                </a:moveTo>
                <a:cubicBezTo>
                  <a:pt x="117006" y="56631"/>
                  <a:pt x="120504" y="58216"/>
                  <a:pt x="122007" y="61304"/>
                </a:cubicBezTo>
                <a:lnTo>
                  <a:pt x="127091" y="71581"/>
                </a:lnTo>
                <a:cubicBezTo>
                  <a:pt x="129906" y="71964"/>
                  <a:pt x="132667" y="72729"/>
                  <a:pt x="135263" y="73795"/>
                </a:cubicBezTo>
                <a:lnTo>
                  <a:pt x="144829" y="67427"/>
                </a:lnTo>
                <a:cubicBezTo>
                  <a:pt x="147699" y="65513"/>
                  <a:pt x="151498" y="65896"/>
                  <a:pt x="153931" y="68329"/>
                </a:cubicBezTo>
                <a:lnTo>
                  <a:pt x="159178" y="73576"/>
                </a:lnTo>
                <a:cubicBezTo>
                  <a:pt x="161611" y="76009"/>
                  <a:pt x="161993" y="79835"/>
                  <a:pt x="160080" y="82678"/>
                </a:cubicBezTo>
                <a:lnTo>
                  <a:pt x="153712" y="92216"/>
                </a:lnTo>
                <a:cubicBezTo>
                  <a:pt x="154231" y="93501"/>
                  <a:pt x="154696" y="94840"/>
                  <a:pt x="155078" y="96234"/>
                </a:cubicBezTo>
                <a:cubicBezTo>
                  <a:pt x="155461" y="97628"/>
                  <a:pt x="155707" y="98994"/>
                  <a:pt x="155898" y="100388"/>
                </a:cubicBezTo>
                <a:lnTo>
                  <a:pt x="166202" y="105472"/>
                </a:lnTo>
                <a:cubicBezTo>
                  <a:pt x="169291" y="107003"/>
                  <a:pt x="170876" y="110501"/>
                  <a:pt x="169974" y="113808"/>
                </a:cubicBezTo>
                <a:lnTo>
                  <a:pt x="168061" y="120969"/>
                </a:lnTo>
                <a:cubicBezTo>
                  <a:pt x="167159" y="124276"/>
                  <a:pt x="164071" y="126517"/>
                  <a:pt x="160627" y="126298"/>
                </a:cubicBezTo>
                <a:lnTo>
                  <a:pt x="149148" y="125561"/>
                </a:lnTo>
                <a:cubicBezTo>
                  <a:pt x="147426" y="127774"/>
                  <a:pt x="145430" y="129824"/>
                  <a:pt x="143162" y="131573"/>
                </a:cubicBezTo>
                <a:lnTo>
                  <a:pt x="143900" y="143025"/>
                </a:lnTo>
                <a:cubicBezTo>
                  <a:pt x="144119" y="146469"/>
                  <a:pt x="141877" y="149585"/>
                  <a:pt x="138570" y="150459"/>
                </a:cubicBezTo>
                <a:lnTo>
                  <a:pt x="131409" y="152373"/>
                </a:lnTo>
                <a:cubicBezTo>
                  <a:pt x="128075" y="153275"/>
                  <a:pt x="124604" y="151689"/>
                  <a:pt x="123073" y="148601"/>
                </a:cubicBezTo>
                <a:lnTo>
                  <a:pt x="117990" y="138324"/>
                </a:lnTo>
                <a:cubicBezTo>
                  <a:pt x="115175" y="137942"/>
                  <a:pt x="112414" y="137176"/>
                  <a:pt x="109818" y="136110"/>
                </a:cubicBezTo>
                <a:lnTo>
                  <a:pt x="100252" y="142479"/>
                </a:lnTo>
                <a:cubicBezTo>
                  <a:pt x="97382" y="144392"/>
                  <a:pt x="93583" y="144009"/>
                  <a:pt x="91150" y="141577"/>
                </a:cubicBezTo>
                <a:lnTo>
                  <a:pt x="85903" y="136329"/>
                </a:lnTo>
                <a:cubicBezTo>
                  <a:pt x="83470" y="133897"/>
                  <a:pt x="83088" y="130098"/>
                  <a:pt x="85001" y="127228"/>
                </a:cubicBezTo>
                <a:lnTo>
                  <a:pt x="91369" y="117662"/>
                </a:lnTo>
                <a:cubicBezTo>
                  <a:pt x="90850" y="116377"/>
                  <a:pt x="90385" y="115038"/>
                  <a:pt x="90002" y="113644"/>
                </a:cubicBezTo>
                <a:cubicBezTo>
                  <a:pt x="89620" y="112250"/>
                  <a:pt x="89374" y="110856"/>
                  <a:pt x="89182" y="109490"/>
                </a:cubicBezTo>
                <a:lnTo>
                  <a:pt x="78878" y="104406"/>
                </a:lnTo>
                <a:cubicBezTo>
                  <a:pt x="75790" y="102875"/>
                  <a:pt x="74232" y="99377"/>
                  <a:pt x="75107" y="96070"/>
                </a:cubicBezTo>
                <a:lnTo>
                  <a:pt x="77020" y="88909"/>
                </a:lnTo>
                <a:cubicBezTo>
                  <a:pt x="77922" y="85602"/>
                  <a:pt x="81010" y="83361"/>
                  <a:pt x="84454" y="83579"/>
                </a:cubicBezTo>
                <a:lnTo>
                  <a:pt x="95906" y="84317"/>
                </a:lnTo>
                <a:cubicBezTo>
                  <a:pt x="97628" y="82104"/>
                  <a:pt x="99623" y="80054"/>
                  <a:pt x="101892" y="78305"/>
                </a:cubicBezTo>
                <a:lnTo>
                  <a:pt x="101154" y="66880"/>
                </a:lnTo>
                <a:cubicBezTo>
                  <a:pt x="100935" y="63436"/>
                  <a:pt x="103176" y="60320"/>
                  <a:pt x="106483" y="59446"/>
                </a:cubicBezTo>
                <a:lnTo>
                  <a:pt x="113644" y="57533"/>
                </a:lnTo>
                <a:close/>
                <a:moveTo>
                  <a:pt x="122554" y="92927"/>
                </a:moveTo>
                <a:cubicBezTo>
                  <a:pt x="115917" y="92934"/>
                  <a:pt x="110534" y="98329"/>
                  <a:pt x="110542" y="104966"/>
                </a:cubicBezTo>
                <a:cubicBezTo>
                  <a:pt x="110549" y="111604"/>
                  <a:pt x="115944" y="116986"/>
                  <a:pt x="122581" y="116978"/>
                </a:cubicBezTo>
                <a:cubicBezTo>
                  <a:pt x="129219" y="116971"/>
                  <a:pt x="134601" y="111576"/>
                  <a:pt x="134594" y="104939"/>
                </a:cubicBezTo>
                <a:cubicBezTo>
                  <a:pt x="134586" y="98302"/>
                  <a:pt x="129191" y="92919"/>
                  <a:pt x="122554" y="92927"/>
                </a:cubicBezTo>
                <a:close/>
                <a:moveTo>
                  <a:pt x="61468" y="-12436"/>
                </a:moveTo>
                <a:lnTo>
                  <a:pt x="68629" y="-10523"/>
                </a:lnTo>
                <a:cubicBezTo>
                  <a:pt x="71936" y="-9621"/>
                  <a:pt x="74177" y="-6505"/>
                  <a:pt x="73959" y="-3088"/>
                </a:cubicBezTo>
                <a:lnTo>
                  <a:pt x="73221" y="8336"/>
                </a:lnTo>
                <a:cubicBezTo>
                  <a:pt x="75489" y="10085"/>
                  <a:pt x="77485" y="12108"/>
                  <a:pt x="79206" y="14349"/>
                </a:cubicBezTo>
                <a:lnTo>
                  <a:pt x="90686" y="13611"/>
                </a:lnTo>
                <a:cubicBezTo>
                  <a:pt x="94102" y="13392"/>
                  <a:pt x="97218" y="15634"/>
                  <a:pt x="98120" y="18941"/>
                </a:cubicBezTo>
                <a:lnTo>
                  <a:pt x="100033" y="26102"/>
                </a:lnTo>
                <a:cubicBezTo>
                  <a:pt x="100908" y="29409"/>
                  <a:pt x="99350" y="32907"/>
                  <a:pt x="96261" y="34438"/>
                </a:cubicBezTo>
                <a:lnTo>
                  <a:pt x="85957" y="39521"/>
                </a:lnTo>
                <a:cubicBezTo>
                  <a:pt x="85766" y="40915"/>
                  <a:pt x="85493" y="42309"/>
                  <a:pt x="85137" y="43676"/>
                </a:cubicBezTo>
                <a:cubicBezTo>
                  <a:pt x="84782" y="45042"/>
                  <a:pt x="84290" y="46409"/>
                  <a:pt x="83771" y="47693"/>
                </a:cubicBezTo>
                <a:lnTo>
                  <a:pt x="90139" y="57259"/>
                </a:lnTo>
                <a:cubicBezTo>
                  <a:pt x="92052" y="60129"/>
                  <a:pt x="91670" y="63928"/>
                  <a:pt x="89237" y="66361"/>
                </a:cubicBezTo>
                <a:lnTo>
                  <a:pt x="83989" y="71608"/>
                </a:lnTo>
                <a:cubicBezTo>
                  <a:pt x="81557" y="74041"/>
                  <a:pt x="77758" y="74423"/>
                  <a:pt x="74888" y="72510"/>
                </a:cubicBezTo>
                <a:lnTo>
                  <a:pt x="65322" y="66142"/>
                </a:lnTo>
                <a:cubicBezTo>
                  <a:pt x="62726" y="67208"/>
                  <a:pt x="59965" y="67973"/>
                  <a:pt x="57150" y="68356"/>
                </a:cubicBezTo>
                <a:lnTo>
                  <a:pt x="52066" y="78632"/>
                </a:lnTo>
                <a:cubicBezTo>
                  <a:pt x="50536" y="81721"/>
                  <a:pt x="47037" y="83279"/>
                  <a:pt x="43730" y="82404"/>
                </a:cubicBezTo>
                <a:lnTo>
                  <a:pt x="36569" y="80491"/>
                </a:lnTo>
                <a:cubicBezTo>
                  <a:pt x="33235" y="79589"/>
                  <a:pt x="31021" y="76473"/>
                  <a:pt x="31240" y="73057"/>
                </a:cubicBezTo>
                <a:lnTo>
                  <a:pt x="31978" y="61605"/>
                </a:lnTo>
                <a:cubicBezTo>
                  <a:pt x="29709" y="59856"/>
                  <a:pt x="27714" y="57833"/>
                  <a:pt x="25992" y="55592"/>
                </a:cubicBezTo>
                <a:lnTo>
                  <a:pt x="14513" y="56330"/>
                </a:lnTo>
                <a:cubicBezTo>
                  <a:pt x="11097" y="56549"/>
                  <a:pt x="7981" y="54308"/>
                  <a:pt x="7079" y="51000"/>
                </a:cubicBezTo>
                <a:lnTo>
                  <a:pt x="5166" y="43840"/>
                </a:lnTo>
                <a:cubicBezTo>
                  <a:pt x="4291" y="40532"/>
                  <a:pt x="5849" y="37034"/>
                  <a:pt x="8937" y="35504"/>
                </a:cubicBezTo>
                <a:lnTo>
                  <a:pt x="19241" y="30420"/>
                </a:lnTo>
                <a:cubicBezTo>
                  <a:pt x="19433" y="29026"/>
                  <a:pt x="19706" y="27659"/>
                  <a:pt x="20061" y="26265"/>
                </a:cubicBezTo>
                <a:cubicBezTo>
                  <a:pt x="20444" y="24872"/>
                  <a:pt x="20881" y="23532"/>
                  <a:pt x="21428" y="22248"/>
                </a:cubicBezTo>
                <a:lnTo>
                  <a:pt x="15060" y="12709"/>
                </a:lnTo>
                <a:cubicBezTo>
                  <a:pt x="13146" y="9839"/>
                  <a:pt x="13529" y="6040"/>
                  <a:pt x="15962" y="3608"/>
                </a:cubicBezTo>
                <a:lnTo>
                  <a:pt x="21209" y="-1640"/>
                </a:lnTo>
                <a:cubicBezTo>
                  <a:pt x="23642" y="-4072"/>
                  <a:pt x="27441" y="-4455"/>
                  <a:pt x="30311" y="-2542"/>
                </a:cubicBezTo>
                <a:lnTo>
                  <a:pt x="39877" y="3826"/>
                </a:lnTo>
                <a:cubicBezTo>
                  <a:pt x="42473" y="2760"/>
                  <a:pt x="45234" y="1995"/>
                  <a:pt x="48049" y="1613"/>
                </a:cubicBezTo>
                <a:lnTo>
                  <a:pt x="53132" y="-8664"/>
                </a:lnTo>
                <a:cubicBezTo>
                  <a:pt x="54663" y="-11753"/>
                  <a:pt x="58134" y="-13310"/>
                  <a:pt x="61468" y="-12436"/>
                </a:cubicBezTo>
                <a:close/>
                <a:moveTo>
                  <a:pt x="52586" y="22958"/>
                </a:moveTo>
                <a:cubicBezTo>
                  <a:pt x="45948" y="22958"/>
                  <a:pt x="40560" y="28347"/>
                  <a:pt x="40560" y="34984"/>
                </a:cubicBezTo>
                <a:cubicBezTo>
                  <a:pt x="40560" y="41621"/>
                  <a:pt x="45948" y="47010"/>
                  <a:pt x="52586" y="47010"/>
                </a:cubicBezTo>
                <a:cubicBezTo>
                  <a:pt x="59223" y="47010"/>
                  <a:pt x="64611" y="41621"/>
                  <a:pt x="64611" y="34984"/>
                </a:cubicBezTo>
                <a:cubicBezTo>
                  <a:pt x="64611" y="28347"/>
                  <a:pt x="59223" y="22958"/>
                  <a:pt x="52586" y="22958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27"/>
          <p:cNvSpPr/>
          <p:nvPr/>
        </p:nvSpPr>
        <p:spPr>
          <a:xfrm>
            <a:off x="6571800" y="2247840"/>
            <a:ext cx="51552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Process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 28"/>
          <p:cNvSpPr/>
          <p:nvPr/>
        </p:nvSpPr>
        <p:spPr>
          <a:xfrm>
            <a:off x="6348600" y="2492640"/>
            <a:ext cx="53784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Extract → Load → </a:t>
            </a:r>
            <a:r>
              <a:rPr b="1" lang="en-US" sz="1100" spc="-1" strike="noStrike">
                <a:solidFill>
                  <a:srgbClr val="ff8a65"/>
                </a:solidFill>
                <a:latin typeface="Quattrocento Sans"/>
                <a:ea typeface="Quattrocento Sans"/>
              </a:rPr>
              <a:t>Transform</a:t>
            </a: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. Transformations happen in warehouse.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Shape 29"/>
          <p:cNvSpPr/>
          <p:nvPr/>
        </p:nvSpPr>
        <p:spPr>
          <a:xfrm>
            <a:off x="6365880" y="2842560"/>
            <a:ext cx="139680" cy="139680"/>
          </a:xfrm>
          <a:custGeom>
            <a:avLst/>
            <a:gdLst>
              <a:gd name="textAreaLeft" fmla="*/ 0 w 139680"/>
              <a:gd name="textAreaRight" fmla="*/ 140040 w 139680"/>
              <a:gd name="textAreaTop" fmla="*/ 0 h 139680"/>
              <a:gd name="textAreaBottom" fmla="*/ 140040 h 139680"/>
            </a:gdLst>
            <a:ahLst/>
            <a:rect l="textAreaLeft" t="textAreaTop" r="textAreaRight" b="textAreaBottom"/>
            <a:pathLst>
              <a:path w="139937" h="139937">
                <a:moveTo>
                  <a:pt x="69968" y="139937"/>
                </a:moveTo>
                <a:cubicBezTo>
                  <a:pt x="108585" y="139937"/>
                  <a:pt x="139937" y="108585"/>
                  <a:pt x="139937" y="69968"/>
                </a:cubicBezTo>
                <a:cubicBezTo>
                  <a:pt x="139937" y="31352"/>
                  <a:pt x="108585" y="0"/>
                  <a:pt x="69968" y="0"/>
                </a:cubicBezTo>
                <a:cubicBezTo>
                  <a:pt x="31352" y="0"/>
                  <a:pt x="0" y="31352"/>
                  <a:pt x="0" y="69968"/>
                </a:cubicBezTo>
                <a:cubicBezTo>
                  <a:pt x="0" y="108585"/>
                  <a:pt x="31352" y="139937"/>
                  <a:pt x="69968" y="139937"/>
                </a:cubicBezTo>
                <a:close/>
                <a:moveTo>
                  <a:pt x="93036" y="58134"/>
                </a:moveTo>
                <a:lnTo>
                  <a:pt x="71171" y="93118"/>
                </a:lnTo>
                <a:cubicBezTo>
                  <a:pt x="70023" y="94949"/>
                  <a:pt x="68055" y="96097"/>
                  <a:pt x="65896" y="96207"/>
                </a:cubicBezTo>
                <a:cubicBezTo>
                  <a:pt x="63737" y="96316"/>
                  <a:pt x="61660" y="95332"/>
                  <a:pt x="60375" y="93583"/>
                </a:cubicBezTo>
                <a:lnTo>
                  <a:pt x="47256" y="76091"/>
                </a:lnTo>
                <a:cubicBezTo>
                  <a:pt x="45070" y="73194"/>
                  <a:pt x="45671" y="69094"/>
                  <a:pt x="48568" y="66907"/>
                </a:cubicBezTo>
                <a:cubicBezTo>
                  <a:pt x="51465" y="64721"/>
                  <a:pt x="55565" y="65322"/>
                  <a:pt x="57751" y="68219"/>
                </a:cubicBezTo>
                <a:lnTo>
                  <a:pt x="65131" y="78059"/>
                </a:lnTo>
                <a:lnTo>
                  <a:pt x="81912" y="51192"/>
                </a:lnTo>
                <a:cubicBezTo>
                  <a:pt x="83825" y="48131"/>
                  <a:pt x="87871" y="47174"/>
                  <a:pt x="90959" y="49115"/>
                </a:cubicBezTo>
                <a:cubicBezTo>
                  <a:pt x="94047" y="51055"/>
                  <a:pt x="94977" y="55073"/>
                  <a:pt x="93036" y="58161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 30"/>
          <p:cNvSpPr/>
          <p:nvPr/>
        </p:nvSpPr>
        <p:spPr>
          <a:xfrm>
            <a:off x="6571800" y="2807640"/>
            <a:ext cx="51552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Pros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31"/>
          <p:cNvSpPr/>
          <p:nvPr/>
        </p:nvSpPr>
        <p:spPr>
          <a:xfrm>
            <a:off x="6558480" y="3052440"/>
            <a:ext cx="51685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• </a:t>
            </a: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Faster time-to-insight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32"/>
          <p:cNvSpPr/>
          <p:nvPr/>
        </p:nvSpPr>
        <p:spPr>
          <a:xfrm>
            <a:off x="6558480" y="3297240"/>
            <a:ext cx="51685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• </a:t>
            </a: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Leverages warehouse compute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 33"/>
          <p:cNvSpPr/>
          <p:nvPr/>
        </p:nvSpPr>
        <p:spPr>
          <a:xfrm>
            <a:off x="6558480" y="3542040"/>
            <a:ext cx="51685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• </a:t>
            </a: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Greater flexibility &amp; agility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34"/>
          <p:cNvSpPr/>
          <p:nvPr/>
        </p:nvSpPr>
        <p:spPr>
          <a:xfrm>
            <a:off x="6558480" y="3787200"/>
            <a:ext cx="51685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• </a:t>
            </a: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Raw data always available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Shape 35"/>
          <p:cNvSpPr/>
          <p:nvPr/>
        </p:nvSpPr>
        <p:spPr>
          <a:xfrm>
            <a:off x="6365880" y="4136760"/>
            <a:ext cx="139680" cy="139680"/>
          </a:xfrm>
          <a:custGeom>
            <a:avLst/>
            <a:gdLst>
              <a:gd name="textAreaLeft" fmla="*/ 0 w 139680"/>
              <a:gd name="textAreaRight" fmla="*/ 140040 w 139680"/>
              <a:gd name="textAreaTop" fmla="*/ 0 h 139680"/>
              <a:gd name="textAreaBottom" fmla="*/ 140040 h 139680"/>
            </a:gdLst>
            <a:ahLst/>
            <a:rect l="textAreaLeft" t="textAreaTop" r="textAreaRight" b="textAreaBottom"/>
            <a:pathLst>
              <a:path w="139937" h="139937">
                <a:moveTo>
                  <a:pt x="69968" y="139937"/>
                </a:moveTo>
                <a:cubicBezTo>
                  <a:pt x="108585" y="139937"/>
                  <a:pt x="139937" y="108585"/>
                  <a:pt x="139937" y="69968"/>
                </a:cubicBezTo>
                <a:cubicBezTo>
                  <a:pt x="139937" y="31352"/>
                  <a:pt x="108585" y="0"/>
                  <a:pt x="69968" y="0"/>
                </a:cubicBezTo>
                <a:cubicBezTo>
                  <a:pt x="31352" y="0"/>
                  <a:pt x="0" y="31352"/>
                  <a:pt x="0" y="69968"/>
                </a:cubicBezTo>
                <a:cubicBezTo>
                  <a:pt x="0" y="108585"/>
                  <a:pt x="31352" y="139937"/>
                  <a:pt x="69968" y="139937"/>
                </a:cubicBezTo>
                <a:close/>
                <a:moveTo>
                  <a:pt x="45643" y="45643"/>
                </a:moveTo>
                <a:cubicBezTo>
                  <a:pt x="48213" y="43074"/>
                  <a:pt x="52367" y="43074"/>
                  <a:pt x="54909" y="45643"/>
                </a:cubicBezTo>
                <a:lnTo>
                  <a:pt x="69941" y="60676"/>
                </a:lnTo>
                <a:lnTo>
                  <a:pt x="84973" y="45643"/>
                </a:lnTo>
                <a:cubicBezTo>
                  <a:pt x="87543" y="43074"/>
                  <a:pt x="91697" y="43074"/>
                  <a:pt x="94239" y="45643"/>
                </a:cubicBezTo>
                <a:cubicBezTo>
                  <a:pt x="96781" y="48213"/>
                  <a:pt x="96808" y="52367"/>
                  <a:pt x="94239" y="54909"/>
                </a:cubicBezTo>
                <a:lnTo>
                  <a:pt x="79206" y="69941"/>
                </a:lnTo>
                <a:lnTo>
                  <a:pt x="94239" y="84973"/>
                </a:lnTo>
                <a:cubicBezTo>
                  <a:pt x="96808" y="87543"/>
                  <a:pt x="96808" y="91697"/>
                  <a:pt x="94239" y="94239"/>
                </a:cubicBezTo>
                <a:cubicBezTo>
                  <a:pt x="91670" y="96781"/>
                  <a:pt x="87515" y="96808"/>
                  <a:pt x="84973" y="94239"/>
                </a:cubicBezTo>
                <a:lnTo>
                  <a:pt x="69941" y="79206"/>
                </a:lnTo>
                <a:lnTo>
                  <a:pt x="54909" y="94239"/>
                </a:lnTo>
                <a:cubicBezTo>
                  <a:pt x="52340" y="96808"/>
                  <a:pt x="48185" y="96808"/>
                  <a:pt x="45643" y="94239"/>
                </a:cubicBezTo>
                <a:cubicBezTo>
                  <a:pt x="43102" y="91670"/>
                  <a:pt x="43074" y="87515"/>
                  <a:pt x="45643" y="84973"/>
                </a:cubicBezTo>
                <a:lnTo>
                  <a:pt x="60676" y="69941"/>
                </a:lnTo>
                <a:lnTo>
                  <a:pt x="45643" y="54909"/>
                </a:lnTo>
                <a:cubicBezTo>
                  <a:pt x="43074" y="52340"/>
                  <a:pt x="43074" y="48185"/>
                  <a:pt x="45643" y="45643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36"/>
          <p:cNvSpPr/>
          <p:nvPr/>
        </p:nvSpPr>
        <p:spPr>
          <a:xfrm>
            <a:off x="6571800" y="4101840"/>
            <a:ext cx="51552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Cons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 37"/>
          <p:cNvSpPr/>
          <p:nvPr/>
        </p:nvSpPr>
        <p:spPr>
          <a:xfrm>
            <a:off x="6558480" y="4346640"/>
            <a:ext cx="51685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• </a:t>
            </a: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Higher storage costs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38"/>
          <p:cNvSpPr/>
          <p:nvPr/>
        </p:nvSpPr>
        <p:spPr>
          <a:xfrm>
            <a:off x="6558480" y="4591800"/>
            <a:ext cx="51685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• </a:t>
            </a: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Requires powerful warehouse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39"/>
          <p:cNvSpPr/>
          <p:nvPr/>
        </p:nvSpPr>
        <p:spPr>
          <a:xfrm>
            <a:off x="6558480" y="4836600"/>
            <a:ext cx="51685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• </a:t>
            </a: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Governance challenges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Shape 40"/>
          <p:cNvSpPr/>
          <p:nvPr/>
        </p:nvSpPr>
        <p:spPr>
          <a:xfrm>
            <a:off x="6348600" y="5149440"/>
            <a:ext cx="5308560" cy="419400"/>
          </a:xfrm>
          <a:custGeom>
            <a:avLst/>
            <a:gdLst>
              <a:gd name="textAreaLeft" fmla="*/ 0 w 5308560"/>
              <a:gd name="textAreaRight" fmla="*/ 5308920 w 5308560"/>
              <a:gd name="textAreaTop" fmla="*/ 0 h 419400"/>
              <a:gd name="textAreaBottom" fmla="*/ 419760 h 419400"/>
            </a:gdLst>
            <a:ahLst/>
            <a:rect l="textAreaLeft" t="textAreaTop" r="textAreaRight" b="textAreaBottom"/>
            <a:pathLst>
              <a:path w="5308855" h="419811">
                <a:moveTo>
                  <a:pt x="69970" y="0"/>
                </a:moveTo>
                <a:lnTo>
                  <a:pt x="5238885" y="0"/>
                </a:lnTo>
                <a:cubicBezTo>
                  <a:pt x="5277529" y="0"/>
                  <a:pt x="5308855" y="31327"/>
                  <a:pt x="5308855" y="69970"/>
                </a:cubicBezTo>
                <a:lnTo>
                  <a:pt x="5308855" y="349841"/>
                </a:lnTo>
                <a:cubicBezTo>
                  <a:pt x="5308855" y="388484"/>
                  <a:pt x="5277529" y="419811"/>
                  <a:pt x="5238885" y="419811"/>
                </a:cubicBezTo>
                <a:lnTo>
                  <a:pt x="69970" y="419811"/>
                </a:lnTo>
                <a:cubicBezTo>
                  <a:pt x="31327" y="419811"/>
                  <a:pt x="0" y="388484"/>
                  <a:pt x="0" y="349841"/>
                </a:cubicBezTo>
                <a:lnTo>
                  <a:pt x="0" y="69970"/>
                </a:lnTo>
                <a:cubicBezTo>
                  <a:pt x="0" y="31327"/>
                  <a:pt x="31327" y="0"/>
                  <a:pt x="69970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Text 41"/>
          <p:cNvSpPr/>
          <p:nvPr/>
        </p:nvSpPr>
        <p:spPr>
          <a:xfrm>
            <a:off x="6453360" y="5290200"/>
            <a:ext cx="51685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100" spc="-1" strike="noStrike">
                <a:solidFill>
                  <a:srgbClr val="ff8a65"/>
                </a:solidFill>
                <a:latin typeface="Quattrocento Sans"/>
                <a:ea typeface="Quattrocento Sans"/>
              </a:rPr>
              <a:t>Best For:</a:t>
            </a:r>
            <a:r>
              <a:rPr b="0" lang="en-US" sz="11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 Cloud warehouses, agile teams, exploratory analytics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Shape 42"/>
          <p:cNvSpPr/>
          <p:nvPr/>
        </p:nvSpPr>
        <p:spPr>
          <a:xfrm>
            <a:off x="354240" y="5825160"/>
            <a:ext cx="2781000" cy="883080"/>
          </a:xfrm>
          <a:custGeom>
            <a:avLst/>
            <a:gdLst>
              <a:gd name="textAreaLeft" fmla="*/ 0 w 2781000"/>
              <a:gd name="textAreaRight" fmla="*/ 2781360 w 2781000"/>
              <a:gd name="textAreaTop" fmla="*/ 0 h 883080"/>
              <a:gd name="textAreaBottom" fmla="*/ 883440 h 883080"/>
            </a:gdLst>
            <a:ahLst/>
            <a:rect l="textAreaLeft" t="textAreaTop" r="textAreaRight" b="textAreaBottom"/>
            <a:pathLst>
              <a:path w="2781245" h="883352">
                <a:moveTo>
                  <a:pt x="69970" y="0"/>
                </a:moveTo>
                <a:lnTo>
                  <a:pt x="2711275" y="0"/>
                </a:lnTo>
                <a:cubicBezTo>
                  <a:pt x="2749919" y="0"/>
                  <a:pt x="2781245" y="31327"/>
                  <a:pt x="2781245" y="69970"/>
                </a:cubicBezTo>
                <a:lnTo>
                  <a:pt x="2781245" y="813381"/>
                </a:lnTo>
                <a:cubicBezTo>
                  <a:pt x="2781245" y="852025"/>
                  <a:pt x="2749919" y="883352"/>
                  <a:pt x="2711275" y="883352"/>
                </a:cubicBezTo>
                <a:lnTo>
                  <a:pt x="69970" y="883352"/>
                </a:lnTo>
                <a:cubicBezTo>
                  <a:pt x="31327" y="883352"/>
                  <a:pt x="0" y="852025"/>
                  <a:pt x="0" y="813381"/>
                </a:cubicBezTo>
                <a:lnTo>
                  <a:pt x="0" y="69970"/>
                </a:lnTo>
                <a:cubicBezTo>
                  <a:pt x="0" y="31327"/>
                  <a:pt x="31327" y="0"/>
                  <a:pt x="69970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12700">
            <a:solidFill>
              <a:srgbClr val="4db6ac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Shape 43"/>
          <p:cNvSpPr/>
          <p:nvPr/>
        </p:nvSpPr>
        <p:spPr>
          <a:xfrm>
            <a:off x="1628640" y="5970600"/>
            <a:ext cx="235800" cy="209520"/>
          </a:xfrm>
          <a:custGeom>
            <a:avLst/>
            <a:gdLst>
              <a:gd name="textAreaLeft" fmla="*/ 0 w 235800"/>
              <a:gd name="textAreaRight" fmla="*/ 236160 w 235800"/>
              <a:gd name="textAreaTop" fmla="*/ 0 h 209520"/>
              <a:gd name="textAreaBottom" fmla="*/ 209880 h 209520"/>
            </a:gdLst>
            <a:ahLst/>
            <a:rect l="textAreaLeft" t="textAreaTop" r="textAreaRight" b="textAreaBottom"/>
            <a:pathLst>
              <a:path w="236143" h="209905">
                <a:moveTo>
                  <a:pt x="0" y="137750"/>
                </a:moveTo>
                <a:cubicBezTo>
                  <a:pt x="0" y="170343"/>
                  <a:pt x="26443" y="196786"/>
                  <a:pt x="59036" y="196786"/>
                </a:cubicBezTo>
                <a:lnTo>
                  <a:pt x="183667" y="196786"/>
                </a:lnTo>
                <a:cubicBezTo>
                  <a:pt x="212652" y="196786"/>
                  <a:pt x="236143" y="173295"/>
                  <a:pt x="236143" y="144310"/>
                </a:cubicBezTo>
                <a:cubicBezTo>
                  <a:pt x="236143" y="123155"/>
                  <a:pt x="223639" y="104912"/>
                  <a:pt x="205601" y="96630"/>
                </a:cubicBezTo>
                <a:cubicBezTo>
                  <a:pt x="208347" y="91260"/>
                  <a:pt x="209905" y="85151"/>
                  <a:pt x="209905" y="78714"/>
                </a:cubicBezTo>
                <a:cubicBezTo>
                  <a:pt x="209905" y="56986"/>
                  <a:pt x="192277" y="39357"/>
                  <a:pt x="170548" y="39357"/>
                </a:cubicBezTo>
                <a:cubicBezTo>
                  <a:pt x="163292" y="39357"/>
                  <a:pt x="156527" y="41325"/>
                  <a:pt x="150705" y="44728"/>
                </a:cubicBezTo>
                <a:cubicBezTo>
                  <a:pt x="140825" y="25951"/>
                  <a:pt x="121106" y="13119"/>
                  <a:pt x="98393" y="13119"/>
                </a:cubicBezTo>
                <a:cubicBezTo>
                  <a:pt x="65800" y="13119"/>
                  <a:pt x="39357" y="39562"/>
                  <a:pt x="39357" y="72155"/>
                </a:cubicBezTo>
                <a:cubicBezTo>
                  <a:pt x="39357" y="75435"/>
                  <a:pt x="39644" y="78673"/>
                  <a:pt x="40136" y="81789"/>
                </a:cubicBezTo>
                <a:cubicBezTo>
                  <a:pt x="16809" y="89661"/>
                  <a:pt x="0" y="111758"/>
                  <a:pt x="0" y="137750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44"/>
          <p:cNvSpPr/>
          <p:nvPr/>
        </p:nvSpPr>
        <p:spPr>
          <a:xfrm>
            <a:off x="428400" y="6250320"/>
            <a:ext cx="26323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1" lang="en-US" sz="11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Cloud-Native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45"/>
          <p:cNvSpPr/>
          <p:nvPr/>
        </p:nvSpPr>
        <p:spPr>
          <a:xfrm>
            <a:off x="433080" y="6424200"/>
            <a:ext cx="262332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96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Auto-scaling, pay-per-use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Shape 46"/>
          <p:cNvSpPr/>
          <p:nvPr/>
        </p:nvSpPr>
        <p:spPr>
          <a:xfrm>
            <a:off x="3252960" y="5825160"/>
            <a:ext cx="2781000" cy="883080"/>
          </a:xfrm>
          <a:custGeom>
            <a:avLst/>
            <a:gdLst>
              <a:gd name="textAreaLeft" fmla="*/ 0 w 2781000"/>
              <a:gd name="textAreaRight" fmla="*/ 2781360 w 2781000"/>
              <a:gd name="textAreaTop" fmla="*/ 0 h 883080"/>
              <a:gd name="textAreaBottom" fmla="*/ 883440 h 883080"/>
            </a:gdLst>
            <a:ahLst/>
            <a:rect l="textAreaLeft" t="textAreaTop" r="textAreaRight" b="textAreaBottom"/>
            <a:pathLst>
              <a:path w="2781245" h="883352">
                <a:moveTo>
                  <a:pt x="69970" y="0"/>
                </a:moveTo>
                <a:lnTo>
                  <a:pt x="2711275" y="0"/>
                </a:lnTo>
                <a:cubicBezTo>
                  <a:pt x="2749919" y="0"/>
                  <a:pt x="2781245" y="31327"/>
                  <a:pt x="2781245" y="69970"/>
                </a:cubicBezTo>
                <a:lnTo>
                  <a:pt x="2781245" y="813381"/>
                </a:lnTo>
                <a:cubicBezTo>
                  <a:pt x="2781245" y="852025"/>
                  <a:pt x="2749919" y="883352"/>
                  <a:pt x="2711275" y="883352"/>
                </a:cubicBezTo>
                <a:lnTo>
                  <a:pt x="69970" y="883352"/>
                </a:lnTo>
                <a:cubicBezTo>
                  <a:pt x="31327" y="883352"/>
                  <a:pt x="0" y="852025"/>
                  <a:pt x="0" y="813381"/>
                </a:cubicBezTo>
                <a:lnTo>
                  <a:pt x="0" y="69970"/>
                </a:lnTo>
                <a:cubicBezTo>
                  <a:pt x="0" y="31327"/>
                  <a:pt x="31327" y="0"/>
                  <a:pt x="69970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12700">
            <a:solidFill>
              <a:srgbClr val="ff8a65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47"/>
          <p:cNvSpPr/>
          <p:nvPr/>
        </p:nvSpPr>
        <p:spPr>
          <a:xfrm>
            <a:off x="4540680" y="5970600"/>
            <a:ext cx="209520" cy="209520"/>
          </a:xfrm>
          <a:custGeom>
            <a:avLst/>
            <a:gdLst>
              <a:gd name="textAreaLeft" fmla="*/ 0 w 209520"/>
              <a:gd name="textAreaRight" fmla="*/ 209880 w 209520"/>
              <a:gd name="textAreaTop" fmla="*/ 0 h 209520"/>
              <a:gd name="textAreaBottom" fmla="*/ 209880 h 209520"/>
            </a:gdLst>
            <a:ahLst/>
            <a:rect l="textAreaLeft" t="textAreaTop" r="textAreaRight" b="textAreaBottom"/>
            <a:pathLst>
              <a:path w="209905" h="209905">
                <a:moveTo>
                  <a:pt x="27017" y="93678"/>
                </a:moveTo>
                <a:cubicBezTo>
                  <a:pt x="32470" y="55551"/>
                  <a:pt x="65308" y="26238"/>
                  <a:pt x="104953" y="26238"/>
                </a:cubicBezTo>
                <a:cubicBezTo>
                  <a:pt x="126681" y="26238"/>
                  <a:pt x="146360" y="35053"/>
                  <a:pt x="160627" y="49279"/>
                </a:cubicBezTo>
                <a:cubicBezTo>
                  <a:pt x="160709" y="49361"/>
                  <a:pt x="160791" y="49443"/>
                  <a:pt x="160873" y="49525"/>
                </a:cubicBezTo>
                <a:lnTo>
                  <a:pt x="163989" y="52476"/>
                </a:lnTo>
                <a:lnTo>
                  <a:pt x="144351" y="52476"/>
                </a:lnTo>
                <a:cubicBezTo>
                  <a:pt x="137094" y="52476"/>
                  <a:pt x="131232" y="58339"/>
                  <a:pt x="131232" y="65595"/>
                </a:cubicBezTo>
                <a:cubicBezTo>
                  <a:pt x="131232" y="72852"/>
                  <a:pt x="137094" y="78714"/>
                  <a:pt x="144351" y="78714"/>
                </a:cubicBezTo>
                <a:lnTo>
                  <a:pt x="196827" y="78714"/>
                </a:lnTo>
                <a:cubicBezTo>
                  <a:pt x="204084" y="78714"/>
                  <a:pt x="209946" y="72852"/>
                  <a:pt x="209946" y="65595"/>
                </a:cubicBezTo>
                <a:lnTo>
                  <a:pt x="209946" y="13119"/>
                </a:lnTo>
                <a:cubicBezTo>
                  <a:pt x="209946" y="5863"/>
                  <a:pt x="204084" y="0"/>
                  <a:pt x="196827" y="0"/>
                </a:cubicBezTo>
                <a:cubicBezTo>
                  <a:pt x="189571" y="0"/>
                  <a:pt x="183708" y="5863"/>
                  <a:pt x="183708" y="13119"/>
                </a:cubicBezTo>
                <a:lnTo>
                  <a:pt x="183708" y="35012"/>
                </a:lnTo>
                <a:lnTo>
                  <a:pt x="179075" y="30625"/>
                </a:lnTo>
                <a:cubicBezTo>
                  <a:pt x="160094" y="11725"/>
                  <a:pt x="133856" y="0"/>
                  <a:pt x="104953" y="0"/>
                </a:cubicBezTo>
                <a:cubicBezTo>
                  <a:pt x="52066" y="0"/>
                  <a:pt x="8322" y="39111"/>
                  <a:pt x="1066" y="89989"/>
                </a:cubicBezTo>
                <a:cubicBezTo>
                  <a:pt x="41" y="97163"/>
                  <a:pt x="5002" y="103805"/>
                  <a:pt x="12176" y="104830"/>
                </a:cubicBezTo>
                <a:cubicBezTo>
                  <a:pt x="19351" y="105855"/>
                  <a:pt x="25992" y="100853"/>
                  <a:pt x="27017" y="93719"/>
                </a:cubicBezTo>
                <a:close/>
                <a:moveTo>
                  <a:pt x="208839" y="119917"/>
                </a:moveTo>
                <a:cubicBezTo>
                  <a:pt x="209864" y="112742"/>
                  <a:pt x="204863" y="106101"/>
                  <a:pt x="197729" y="105076"/>
                </a:cubicBezTo>
                <a:cubicBezTo>
                  <a:pt x="190596" y="104051"/>
                  <a:pt x="183913" y="109052"/>
                  <a:pt x="182888" y="116186"/>
                </a:cubicBezTo>
                <a:cubicBezTo>
                  <a:pt x="177436" y="154313"/>
                  <a:pt x="144597" y="183626"/>
                  <a:pt x="104953" y="183626"/>
                </a:cubicBezTo>
                <a:cubicBezTo>
                  <a:pt x="83224" y="183626"/>
                  <a:pt x="63546" y="174812"/>
                  <a:pt x="49279" y="160586"/>
                </a:cubicBezTo>
                <a:cubicBezTo>
                  <a:pt x="49197" y="160504"/>
                  <a:pt x="49115" y="160422"/>
                  <a:pt x="49033" y="160340"/>
                </a:cubicBezTo>
                <a:lnTo>
                  <a:pt x="45917" y="157388"/>
                </a:lnTo>
                <a:lnTo>
                  <a:pt x="65554" y="157388"/>
                </a:lnTo>
                <a:cubicBezTo>
                  <a:pt x="72811" y="157388"/>
                  <a:pt x="78673" y="151525"/>
                  <a:pt x="78673" y="144269"/>
                </a:cubicBezTo>
                <a:cubicBezTo>
                  <a:pt x="78673" y="137012"/>
                  <a:pt x="72811" y="131150"/>
                  <a:pt x="65554" y="131150"/>
                </a:cubicBezTo>
                <a:lnTo>
                  <a:pt x="13119" y="131191"/>
                </a:lnTo>
                <a:cubicBezTo>
                  <a:pt x="9634" y="131191"/>
                  <a:pt x="6273" y="132585"/>
                  <a:pt x="3813" y="135086"/>
                </a:cubicBezTo>
                <a:cubicBezTo>
                  <a:pt x="1353" y="137586"/>
                  <a:pt x="-41" y="140907"/>
                  <a:pt x="0" y="144433"/>
                </a:cubicBezTo>
                <a:lnTo>
                  <a:pt x="410" y="196499"/>
                </a:lnTo>
                <a:cubicBezTo>
                  <a:pt x="451" y="203756"/>
                  <a:pt x="6396" y="209577"/>
                  <a:pt x="13652" y="209495"/>
                </a:cubicBezTo>
                <a:cubicBezTo>
                  <a:pt x="20909" y="209413"/>
                  <a:pt x="26730" y="203510"/>
                  <a:pt x="26648" y="196253"/>
                </a:cubicBezTo>
                <a:lnTo>
                  <a:pt x="26484" y="175140"/>
                </a:lnTo>
                <a:lnTo>
                  <a:pt x="30871" y="179280"/>
                </a:lnTo>
                <a:cubicBezTo>
                  <a:pt x="49853" y="198180"/>
                  <a:pt x="76050" y="209905"/>
                  <a:pt x="104953" y="209905"/>
                </a:cubicBezTo>
                <a:cubicBezTo>
                  <a:pt x="157839" y="209905"/>
                  <a:pt x="201583" y="170794"/>
                  <a:pt x="208839" y="119917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 48"/>
          <p:cNvSpPr/>
          <p:nvPr/>
        </p:nvSpPr>
        <p:spPr>
          <a:xfrm>
            <a:off x="3327480" y="6250320"/>
            <a:ext cx="26323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1" lang="en-US" sz="11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Serverless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Text 49"/>
          <p:cNvSpPr/>
          <p:nvPr/>
        </p:nvSpPr>
        <p:spPr>
          <a:xfrm>
            <a:off x="3331800" y="6460200"/>
            <a:ext cx="262332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96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No infrastructure mgmt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Shape 50"/>
          <p:cNvSpPr/>
          <p:nvPr/>
        </p:nvSpPr>
        <p:spPr>
          <a:xfrm>
            <a:off x="6151680" y="5825160"/>
            <a:ext cx="2781000" cy="883080"/>
          </a:xfrm>
          <a:custGeom>
            <a:avLst/>
            <a:gdLst>
              <a:gd name="textAreaLeft" fmla="*/ 0 w 2781000"/>
              <a:gd name="textAreaRight" fmla="*/ 2781360 w 2781000"/>
              <a:gd name="textAreaTop" fmla="*/ 0 h 883080"/>
              <a:gd name="textAreaBottom" fmla="*/ 883440 h 883080"/>
            </a:gdLst>
            <a:ahLst/>
            <a:rect l="textAreaLeft" t="textAreaTop" r="textAreaRight" b="textAreaBottom"/>
            <a:pathLst>
              <a:path w="2781245" h="883352">
                <a:moveTo>
                  <a:pt x="69970" y="0"/>
                </a:moveTo>
                <a:lnTo>
                  <a:pt x="2711275" y="0"/>
                </a:lnTo>
                <a:cubicBezTo>
                  <a:pt x="2749919" y="0"/>
                  <a:pt x="2781245" y="31327"/>
                  <a:pt x="2781245" y="69970"/>
                </a:cubicBezTo>
                <a:lnTo>
                  <a:pt x="2781245" y="813381"/>
                </a:lnTo>
                <a:cubicBezTo>
                  <a:pt x="2781245" y="852025"/>
                  <a:pt x="2749919" y="883352"/>
                  <a:pt x="2711275" y="883352"/>
                </a:cubicBezTo>
                <a:lnTo>
                  <a:pt x="69970" y="883352"/>
                </a:lnTo>
                <a:cubicBezTo>
                  <a:pt x="31327" y="883352"/>
                  <a:pt x="0" y="852025"/>
                  <a:pt x="0" y="813381"/>
                </a:cubicBezTo>
                <a:lnTo>
                  <a:pt x="0" y="69970"/>
                </a:lnTo>
                <a:cubicBezTo>
                  <a:pt x="0" y="31327"/>
                  <a:pt x="31327" y="0"/>
                  <a:pt x="69970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Shape 51"/>
          <p:cNvSpPr/>
          <p:nvPr/>
        </p:nvSpPr>
        <p:spPr>
          <a:xfrm>
            <a:off x="7452360" y="5970600"/>
            <a:ext cx="183240" cy="209520"/>
          </a:xfrm>
          <a:custGeom>
            <a:avLst/>
            <a:gdLst>
              <a:gd name="textAreaLeft" fmla="*/ 0 w 183240"/>
              <a:gd name="textAreaRight" fmla="*/ 183600 w 183240"/>
              <a:gd name="textAreaTop" fmla="*/ 0 h 209520"/>
              <a:gd name="textAreaBottom" fmla="*/ 209880 h 209520"/>
            </a:gdLst>
            <a:ahLst/>
            <a:rect l="textAreaLeft" t="textAreaTop" r="textAreaRight" b="textAreaBottom"/>
            <a:pathLst>
              <a:path w="183667" h="209905">
                <a:moveTo>
                  <a:pt x="68875" y="13119"/>
                </a:moveTo>
                <a:lnTo>
                  <a:pt x="9839" y="13119"/>
                </a:lnTo>
                <a:cubicBezTo>
                  <a:pt x="4387" y="13119"/>
                  <a:pt x="0" y="17506"/>
                  <a:pt x="0" y="22958"/>
                </a:cubicBezTo>
                <a:lnTo>
                  <a:pt x="0" y="81994"/>
                </a:lnTo>
                <a:cubicBezTo>
                  <a:pt x="0" y="85971"/>
                  <a:pt x="2378" y="89579"/>
                  <a:pt x="6068" y="91096"/>
                </a:cubicBezTo>
                <a:cubicBezTo>
                  <a:pt x="9757" y="92613"/>
                  <a:pt x="13980" y="91752"/>
                  <a:pt x="16809" y="88964"/>
                </a:cubicBezTo>
                <a:lnTo>
                  <a:pt x="33208" y="72565"/>
                </a:lnTo>
                <a:lnTo>
                  <a:pt x="65595" y="104953"/>
                </a:lnTo>
                <a:lnTo>
                  <a:pt x="33208" y="137340"/>
                </a:lnTo>
                <a:lnTo>
                  <a:pt x="16809" y="120942"/>
                </a:lnTo>
                <a:cubicBezTo>
                  <a:pt x="13980" y="118113"/>
                  <a:pt x="9757" y="117293"/>
                  <a:pt x="6068" y="118810"/>
                </a:cubicBezTo>
                <a:cubicBezTo>
                  <a:pt x="2378" y="120327"/>
                  <a:pt x="0" y="123934"/>
                  <a:pt x="0" y="127911"/>
                </a:cubicBezTo>
                <a:lnTo>
                  <a:pt x="0" y="186947"/>
                </a:lnTo>
                <a:cubicBezTo>
                  <a:pt x="0" y="192400"/>
                  <a:pt x="4387" y="196786"/>
                  <a:pt x="9839" y="196786"/>
                </a:cubicBezTo>
                <a:lnTo>
                  <a:pt x="68875" y="196786"/>
                </a:lnTo>
                <a:cubicBezTo>
                  <a:pt x="72852" y="196786"/>
                  <a:pt x="76460" y="194408"/>
                  <a:pt x="77977" y="190719"/>
                </a:cubicBezTo>
                <a:cubicBezTo>
                  <a:pt x="79493" y="187029"/>
                  <a:pt x="78673" y="182806"/>
                  <a:pt x="75845" y="179977"/>
                </a:cubicBezTo>
                <a:lnTo>
                  <a:pt x="59446" y="163579"/>
                </a:lnTo>
                <a:lnTo>
                  <a:pt x="91834" y="131191"/>
                </a:lnTo>
                <a:lnTo>
                  <a:pt x="124221" y="163579"/>
                </a:lnTo>
                <a:lnTo>
                  <a:pt x="107822" y="179977"/>
                </a:lnTo>
                <a:cubicBezTo>
                  <a:pt x="104994" y="182806"/>
                  <a:pt x="104174" y="187029"/>
                  <a:pt x="105691" y="190719"/>
                </a:cubicBezTo>
                <a:cubicBezTo>
                  <a:pt x="107207" y="194408"/>
                  <a:pt x="110815" y="196786"/>
                  <a:pt x="114792" y="196786"/>
                </a:cubicBezTo>
                <a:lnTo>
                  <a:pt x="173828" y="196786"/>
                </a:lnTo>
                <a:cubicBezTo>
                  <a:pt x="179280" y="196786"/>
                  <a:pt x="183667" y="192400"/>
                  <a:pt x="183667" y="186947"/>
                </a:cubicBezTo>
                <a:lnTo>
                  <a:pt x="183667" y="127911"/>
                </a:lnTo>
                <a:cubicBezTo>
                  <a:pt x="183667" y="123934"/>
                  <a:pt x="181289" y="120327"/>
                  <a:pt x="177600" y="118810"/>
                </a:cubicBezTo>
                <a:cubicBezTo>
                  <a:pt x="173910" y="117293"/>
                  <a:pt x="169687" y="118113"/>
                  <a:pt x="166858" y="120942"/>
                </a:cubicBezTo>
                <a:lnTo>
                  <a:pt x="150459" y="137340"/>
                </a:lnTo>
                <a:lnTo>
                  <a:pt x="118072" y="104953"/>
                </a:lnTo>
                <a:lnTo>
                  <a:pt x="150459" y="72565"/>
                </a:lnTo>
                <a:lnTo>
                  <a:pt x="166858" y="88964"/>
                </a:lnTo>
                <a:cubicBezTo>
                  <a:pt x="169687" y="91793"/>
                  <a:pt x="173910" y="92613"/>
                  <a:pt x="177600" y="91096"/>
                </a:cubicBezTo>
                <a:cubicBezTo>
                  <a:pt x="181289" y="89579"/>
                  <a:pt x="183667" y="85971"/>
                  <a:pt x="183667" y="81994"/>
                </a:cubicBezTo>
                <a:lnTo>
                  <a:pt x="183667" y="22958"/>
                </a:lnTo>
                <a:cubicBezTo>
                  <a:pt x="183667" y="17506"/>
                  <a:pt x="179280" y="13119"/>
                  <a:pt x="173828" y="13119"/>
                </a:cubicBezTo>
                <a:lnTo>
                  <a:pt x="114792" y="13119"/>
                </a:lnTo>
                <a:cubicBezTo>
                  <a:pt x="110815" y="13119"/>
                  <a:pt x="107207" y="15497"/>
                  <a:pt x="105691" y="19187"/>
                </a:cubicBezTo>
                <a:cubicBezTo>
                  <a:pt x="104174" y="22876"/>
                  <a:pt x="105035" y="27099"/>
                  <a:pt x="107822" y="29928"/>
                </a:cubicBezTo>
                <a:lnTo>
                  <a:pt x="124221" y="46327"/>
                </a:lnTo>
                <a:lnTo>
                  <a:pt x="91834" y="78714"/>
                </a:lnTo>
                <a:lnTo>
                  <a:pt x="59446" y="46327"/>
                </a:lnTo>
                <a:lnTo>
                  <a:pt x="75845" y="29928"/>
                </a:lnTo>
                <a:cubicBezTo>
                  <a:pt x="78673" y="27099"/>
                  <a:pt x="79493" y="22876"/>
                  <a:pt x="77977" y="19187"/>
                </a:cubicBezTo>
                <a:cubicBezTo>
                  <a:pt x="76460" y="15497"/>
                  <a:pt x="72852" y="13119"/>
                  <a:pt x="68875" y="13119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52"/>
          <p:cNvSpPr/>
          <p:nvPr/>
        </p:nvSpPr>
        <p:spPr>
          <a:xfrm>
            <a:off x="6226200" y="6250320"/>
            <a:ext cx="26323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1" lang="en-US" sz="11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Elastic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 53"/>
          <p:cNvSpPr/>
          <p:nvPr/>
        </p:nvSpPr>
        <p:spPr>
          <a:xfrm>
            <a:off x="6230520" y="6424200"/>
            <a:ext cx="262332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96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Scale on demand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Shape 54"/>
          <p:cNvSpPr/>
          <p:nvPr/>
        </p:nvSpPr>
        <p:spPr>
          <a:xfrm>
            <a:off x="9050400" y="5825160"/>
            <a:ext cx="2781000" cy="883080"/>
          </a:xfrm>
          <a:custGeom>
            <a:avLst/>
            <a:gdLst>
              <a:gd name="textAreaLeft" fmla="*/ 0 w 2781000"/>
              <a:gd name="textAreaRight" fmla="*/ 2781360 w 2781000"/>
              <a:gd name="textAreaTop" fmla="*/ 0 h 883080"/>
              <a:gd name="textAreaBottom" fmla="*/ 883440 h 883080"/>
            </a:gdLst>
            <a:ahLst/>
            <a:rect l="textAreaLeft" t="textAreaTop" r="textAreaRight" b="textAreaBottom"/>
            <a:pathLst>
              <a:path w="2781245" h="883352">
                <a:moveTo>
                  <a:pt x="69970" y="0"/>
                </a:moveTo>
                <a:lnTo>
                  <a:pt x="2711275" y="0"/>
                </a:lnTo>
                <a:cubicBezTo>
                  <a:pt x="2749919" y="0"/>
                  <a:pt x="2781245" y="31327"/>
                  <a:pt x="2781245" y="69970"/>
                </a:cubicBezTo>
                <a:lnTo>
                  <a:pt x="2781245" y="813381"/>
                </a:lnTo>
                <a:cubicBezTo>
                  <a:pt x="2781245" y="852025"/>
                  <a:pt x="2749919" y="883352"/>
                  <a:pt x="2711275" y="883352"/>
                </a:cubicBezTo>
                <a:lnTo>
                  <a:pt x="69970" y="883352"/>
                </a:lnTo>
                <a:cubicBezTo>
                  <a:pt x="31327" y="883352"/>
                  <a:pt x="0" y="852025"/>
                  <a:pt x="0" y="813381"/>
                </a:cubicBezTo>
                <a:lnTo>
                  <a:pt x="0" y="69970"/>
                </a:lnTo>
                <a:cubicBezTo>
                  <a:pt x="0" y="31327"/>
                  <a:pt x="31327" y="0"/>
                  <a:pt x="69970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12700">
            <a:solidFill>
              <a:srgbClr val="4db6ac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Shape 55"/>
          <p:cNvSpPr/>
          <p:nvPr/>
        </p:nvSpPr>
        <p:spPr>
          <a:xfrm>
            <a:off x="10377360" y="6006600"/>
            <a:ext cx="130680" cy="209520"/>
          </a:xfrm>
          <a:custGeom>
            <a:avLst/>
            <a:gdLst>
              <a:gd name="textAreaLeft" fmla="*/ 0 w 130680"/>
              <a:gd name="textAreaRight" fmla="*/ 131040 w 130680"/>
              <a:gd name="textAreaTop" fmla="*/ 0 h 209520"/>
              <a:gd name="textAreaBottom" fmla="*/ 209880 h 209520"/>
            </a:gdLst>
            <a:ahLst/>
            <a:rect l="textAreaLeft" t="textAreaTop" r="textAreaRight" b="textAreaBottom"/>
            <a:pathLst>
              <a:path w="131191" h="209905">
                <a:moveTo>
                  <a:pt x="55756" y="9839"/>
                </a:moveTo>
                <a:cubicBezTo>
                  <a:pt x="55756" y="4387"/>
                  <a:pt x="60143" y="0"/>
                  <a:pt x="65595" y="0"/>
                </a:cubicBezTo>
                <a:cubicBezTo>
                  <a:pt x="71048" y="0"/>
                  <a:pt x="75435" y="4387"/>
                  <a:pt x="75435" y="9839"/>
                </a:cubicBezTo>
                <a:lnTo>
                  <a:pt x="75435" y="26238"/>
                </a:lnTo>
                <a:lnTo>
                  <a:pt x="98393" y="26238"/>
                </a:lnTo>
                <a:cubicBezTo>
                  <a:pt x="105650" y="26238"/>
                  <a:pt x="111512" y="32101"/>
                  <a:pt x="111512" y="39357"/>
                </a:cubicBezTo>
                <a:cubicBezTo>
                  <a:pt x="111512" y="46614"/>
                  <a:pt x="105650" y="52476"/>
                  <a:pt x="98393" y="52476"/>
                </a:cubicBezTo>
                <a:lnTo>
                  <a:pt x="51287" y="52476"/>
                </a:lnTo>
                <a:cubicBezTo>
                  <a:pt x="41079" y="52476"/>
                  <a:pt x="32798" y="60758"/>
                  <a:pt x="32798" y="70966"/>
                </a:cubicBezTo>
                <a:cubicBezTo>
                  <a:pt x="32798" y="80190"/>
                  <a:pt x="39562" y="87980"/>
                  <a:pt x="48664" y="89292"/>
                </a:cubicBezTo>
                <a:lnTo>
                  <a:pt x="86217" y="94662"/>
                </a:lnTo>
                <a:cubicBezTo>
                  <a:pt x="108273" y="97819"/>
                  <a:pt x="124631" y="116678"/>
                  <a:pt x="124631" y="138939"/>
                </a:cubicBezTo>
                <a:cubicBezTo>
                  <a:pt x="124631" y="163661"/>
                  <a:pt x="104584" y="183667"/>
                  <a:pt x="79903" y="183667"/>
                </a:cubicBezTo>
                <a:lnTo>
                  <a:pt x="75435" y="183667"/>
                </a:lnTo>
                <a:lnTo>
                  <a:pt x="75435" y="200066"/>
                </a:lnTo>
                <a:cubicBezTo>
                  <a:pt x="75435" y="205519"/>
                  <a:pt x="71048" y="209905"/>
                  <a:pt x="65595" y="209905"/>
                </a:cubicBezTo>
                <a:cubicBezTo>
                  <a:pt x="60143" y="209905"/>
                  <a:pt x="55756" y="205519"/>
                  <a:pt x="55756" y="200066"/>
                </a:cubicBezTo>
                <a:lnTo>
                  <a:pt x="55756" y="183667"/>
                </a:lnTo>
                <a:lnTo>
                  <a:pt x="26238" y="183667"/>
                </a:lnTo>
                <a:cubicBezTo>
                  <a:pt x="18982" y="183667"/>
                  <a:pt x="13119" y="177805"/>
                  <a:pt x="13119" y="170548"/>
                </a:cubicBezTo>
                <a:cubicBezTo>
                  <a:pt x="13119" y="163292"/>
                  <a:pt x="18982" y="157429"/>
                  <a:pt x="26238" y="157429"/>
                </a:cubicBezTo>
                <a:lnTo>
                  <a:pt x="79903" y="157429"/>
                </a:lnTo>
                <a:cubicBezTo>
                  <a:pt x="90112" y="157429"/>
                  <a:pt x="98393" y="149148"/>
                  <a:pt x="98393" y="138939"/>
                </a:cubicBezTo>
                <a:cubicBezTo>
                  <a:pt x="98393" y="129715"/>
                  <a:pt x="91629" y="121925"/>
                  <a:pt x="82527" y="120614"/>
                </a:cubicBezTo>
                <a:lnTo>
                  <a:pt x="44974" y="115243"/>
                </a:lnTo>
                <a:cubicBezTo>
                  <a:pt x="22917" y="112127"/>
                  <a:pt x="6560" y="93227"/>
                  <a:pt x="6560" y="70966"/>
                </a:cubicBezTo>
                <a:cubicBezTo>
                  <a:pt x="6560" y="46286"/>
                  <a:pt x="26607" y="26238"/>
                  <a:pt x="51287" y="26238"/>
                </a:cubicBezTo>
                <a:lnTo>
                  <a:pt x="55756" y="26238"/>
                </a:lnTo>
                <a:lnTo>
                  <a:pt x="55756" y="9839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Text 56"/>
          <p:cNvSpPr/>
          <p:nvPr/>
        </p:nvSpPr>
        <p:spPr>
          <a:xfrm>
            <a:off x="9124920" y="6250320"/>
            <a:ext cx="26323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</a:pPr>
            <a:r>
              <a:rPr b="1" lang="en-US" sz="11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Cost-Efficient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Text 57"/>
          <p:cNvSpPr/>
          <p:nvPr/>
        </p:nvSpPr>
        <p:spPr>
          <a:xfrm>
            <a:off x="9129240" y="6496200"/>
            <a:ext cx="262332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96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Optimize spend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Text 0"/>
          <p:cNvSpPr/>
          <p:nvPr/>
        </p:nvSpPr>
        <p:spPr>
          <a:xfrm>
            <a:off x="346320" y="166320"/>
            <a:ext cx="1156824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090" spc="52" strike="noStrike">
                <a:solidFill>
                  <a:srgbClr val="4db6ac"/>
                </a:solidFill>
                <a:latin typeface="Quattrocento Sans"/>
                <a:ea typeface="Quattrocento Sans"/>
              </a:rPr>
              <a:t>LOOKING AHEAD</a:t>
            </a:r>
            <a:endParaRPr b="0" lang="en-US" sz="10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 1"/>
          <p:cNvSpPr/>
          <p:nvPr/>
        </p:nvSpPr>
        <p:spPr>
          <a:xfrm>
            <a:off x="346320" y="443520"/>
            <a:ext cx="11654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1" lang="en-US" sz="2450" spc="-1" strike="noStrike">
                <a:solidFill>
                  <a:srgbClr val="eceff1"/>
                </a:solidFill>
                <a:latin typeface="Liter"/>
                <a:ea typeface="Liter"/>
              </a:rPr>
              <a:t>Future Trends: AI/ML &amp; DataOps</a:t>
            </a:r>
            <a:endParaRPr b="0" lang="en-US" sz="2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2"/>
          <p:cNvSpPr/>
          <p:nvPr/>
        </p:nvSpPr>
        <p:spPr>
          <a:xfrm>
            <a:off x="346320" y="822960"/>
            <a:ext cx="115768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2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The Next Evolution of Data Engineering</a:t>
            </a:r>
            <a:endParaRPr b="0" lang="en-US" sz="12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Shape 3"/>
          <p:cNvSpPr/>
          <p:nvPr/>
        </p:nvSpPr>
        <p:spPr>
          <a:xfrm>
            <a:off x="350640" y="1244520"/>
            <a:ext cx="5671440" cy="4290480"/>
          </a:xfrm>
          <a:custGeom>
            <a:avLst/>
            <a:gdLst>
              <a:gd name="textAreaLeft" fmla="*/ 0 w 5671440"/>
              <a:gd name="textAreaRight" fmla="*/ 5671800 w 5671440"/>
              <a:gd name="textAreaTop" fmla="*/ 0 h 4290480"/>
              <a:gd name="textAreaBottom" fmla="*/ 4290840 h 4290480"/>
            </a:gdLst>
            <a:ahLst/>
            <a:rect l="textAreaLeft" t="textAreaTop" r="textAreaRight" b="textAreaBottom"/>
            <a:pathLst>
              <a:path w="5671705" h="4476750">
                <a:moveTo>
                  <a:pt x="103905" y="0"/>
                </a:moveTo>
                <a:lnTo>
                  <a:pt x="5567799" y="0"/>
                </a:lnTo>
                <a:cubicBezTo>
                  <a:pt x="5625185" y="0"/>
                  <a:pt x="5671705" y="46520"/>
                  <a:pt x="5671705" y="103905"/>
                </a:cubicBezTo>
                <a:lnTo>
                  <a:pt x="5671705" y="4372845"/>
                </a:lnTo>
                <a:cubicBezTo>
                  <a:pt x="5671705" y="4430230"/>
                  <a:pt x="5625185" y="4476750"/>
                  <a:pt x="5567799" y="4476750"/>
                </a:cubicBezTo>
                <a:lnTo>
                  <a:pt x="103905" y="4476750"/>
                </a:lnTo>
                <a:cubicBezTo>
                  <a:pt x="46520" y="4476750"/>
                  <a:pt x="0" y="4430230"/>
                  <a:pt x="0" y="4372845"/>
                </a:cubicBezTo>
                <a:lnTo>
                  <a:pt x="0" y="103905"/>
                </a:lnTo>
                <a:cubicBezTo>
                  <a:pt x="0" y="46558"/>
                  <a:pt x="46558" y="0"/>
                  <a:pt x="103905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12700">
            <a:solidFill>
              <a:srgbClr val="4db6ac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Shape 4"/>
          <p:cNvSpPr/>
          <p:nvPr/>
        </p:nvSpPr>
        <p:spPr>
          <a:xfrm>
            <a:off x="528120" y="1422000"/>
            <a:ext cx="415440" cy="415440"/>
          </a:xfrm>
          <a:custGeom>
            <a:avLst/>
            <a:gdLst>
              <a:gd name="textAreaLeft" fmla="*/ 0 w 415440"/>
              <a:gd name="textAreaRight" fmla="*/ 415800 w 415440"/>
              <a:gd name="textAreaTop" fmla="*/ 0 h 415440"/>
              <a:gd name="textAreaBottom" fmla="*/ 415800 h 415440"/>
            </a:gdLst>
            <a:ahLst/>
            <a:rect l="textAreaLeft" t="textAreaTop" r="textAreaRight" b="textAreaBottom"/>
            <a:pathLst>
              <a:path w="415636" h="415636">
                <a:moveTo>
                  <a:pt x="69274" y="0"/>
                </a:moveTo>
                <a:lnTo>
                  <a:pt x="346362" y="0"/>
                </a:lnTo>
                <a:cubicBezTo>
                  <a:pt x="384596" y="0"/>
                  <a:pt x="415636" y="31041"/>
                  <a:pt x="415636" y="69274"/>
                </a:cubicBezTo>
                <a:lnTo>
                  <a:pt x="415636" y="346362"/>
                </a:lnTo>
                <a:cubicBezTo>
                  <a:pt x="415636" y="384621"/>
                  <a:pt x="384621" y="415636"/>
                  <a:pt x="346362" y="415636"/>
                </a:cubicBezTo>
                <a:lnTo>
                  <a:pt x="69274" y="415636"/>
                </a:lnTo>
                <a:cubicBezTo>
                  <a:pt x="31041" y="415636"/>
                  <a:pt x="0" y="384596"/>
                  <a:pt x="0" y="346362"/>
                </a:cubicBezTo>
                <a:lnTo>
                  <a:pt x="0" y="69274"/>
                </a:lnTo>
                <a:cubicBezTo>
                  <a:pt x="0" y="31041"/>
                  <a:pt x="31041" y="0"/>
                  <a:pt x="69274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Shape 5"/>
          <p:cNvSpPr/>
          <p:nvPr/>
        </p:nvSpPr>
        <p:spPr>
          <a:xfrm>
            <a:off x="632160" y="1525680"/>
            <a:ext cx="207360" cy="207360"/>
          </a:xfrm>
          <a:custGeom>
            <a:avLst/>
            <a:gdLst>
              <a:gd name="textAreaLeft" fmla="*/ 0 w 207360"/>
              <a:gd name="textAreaRight" fmla="*/ 207720 w 207360"/>
              <a:gd name="textAreaTop" fmla="*/ 0 h 207360"/>
              <a:gd name="textAreaBottom" fmla="*/ 207720 h 207360"/>
            </a:gdLst>
            <a:ahLst/>
            <a:rect l="textAreaLeft" t="textAreaTop" r="textAreaRight" b="textAreaBottom"/>
            <a:pathLst>
              <a:path w="207818" h="207818">
                <a:moveTo>
                  <a:pt x="48707" y="22730"/>
                </a:moveTo>
                <a:cubicBezTo>
                  <a:pt x="48707" y="10188"/>
                  <a:pt x="58895" y="0"/>
                  <a:pt x="71438" y="0"/>
                </a:cubicBezTo>
                <a:lnTo>
                  <a:pt x="81179" y="0"/>
                </a:lnTo>
                <a:cubicBezTo>
                  <a:pt x="88363" y="0"/>
                  <a:pt x="94168" y="5804"/>
                  <a:pt x="94168" y="12989"/>
                </a:cubicBezTo>
                <a:lnTo>
                  <a:pt x="94168" y="194830"/>
                </a:lnTo>
                <a:cubicBezTo>
                  <a:pt x="94168" y="202014"/>
                  <a:pt x="88363" y="207818"/>
                  <a:pt x="81179" y="207818"/>
                </a:cubicBezTo>
                <a:lnTo>
                  <a:pt x="68190" y="207818"/>
                </a:lnTo>
                <a:cubicBezTo>
                  <a:pt x="56095" y="207818"/>
                  <a:pt x="45907" y="199538"/>
                  <a:pt x="43025" y="188335"/>
                </a:cubicBezTo>
                <a:cubicBezTo>
                  <a:pt x="42741" y="188335"/>
                  <a:pt x="42497" y="188335"/>
                  <a:pt x="42213" y="188335"/>
                </a:cubicBezTo>
                <a:cubicBezTo>
                  <a:pt x="24273" y="188335"/>
                  <a:pt x="9741" y="173804"/>
                  <a:pt x="9741" y="155864"/>
                </a:cubicBezTo>
                <a:cubicBezTo>
                  <a:pt x="9741" y="148558"/>
                  <a:pt x="12177" y="141820"/>
                  <a:pt x="16236" y="136381"/>
                </a:cubicBezTo>
                <a:cubicBezTo>
                  <a:pt x="8361" y="130455"/>
                  <a:pt x="3247" y="121038"/>
                  <a:pt x="3247" y="110403"/>
                </a:cubicBezTo>
                <a:cubicBezTo>
                  <a:pt x="3247" y="97861"/>
                  <a:pt x="10391" y="86943"/>
                  <a:pt x="20782" y="81544"/>
                </a:cubicBezTo>
                <a:cubicBezTo>
                  <a:pt x="17900" y="76674"/>
                  <a:pt x="16236" y="70991"/>
                  <a:pt x="16236" y="64943"/>
                </a:cubicBezTo>
                <a:cubicBezTo>
                  <a:pt x="16236" y="47003"/>
                  <a:pt x="30767" y="32472"/>
                  <a:pt x="48707" y="32472"/>
                </a:cubicBezTo>
                <a:lnTo>
                  <a:pt x="48707" y="22730"/>
                </a:lnTo>
                <a:close/>
                <a:moveTo>
                  <a:pt x="159111" y="22730"/>
                </a:moveTo>
                <a:lnTo>
                  <a:pt x="159111" y="32472"/>
                </a:lnTo>
                <a:cubicBezTo>
                  <a:pt x="177051" y="32472"/>
                  <a:pt x="191582" y="47003"/>
                  <a:pt x="191582" y="64943"/>
                </a:cubicBezTo>
                <a:cubicBezTo>
                  <a:pt x="191582" y="71032"/>
                  <a:pt x="189918" y="76714"/>
                  <a:pt x="187036" y="81544"/>
                </a:cubicBezTo>
                <a:cubicBezTo>
                  <a:pt x="197468" y="86943"/>
                  <a:pt x="204571" y="97821"/>
                  <a:pt x="204571" y="110403"/>
                </a:cubicBezTo>
                <a:cubicBezTo>
                  <a:pt x="204571" y="121038"/>
                  <a:pt x="199457" y="130455"/>
                  <a:pt x="191582" y="136381"/>
                </a:cubicBezTo>
                <a:cubicBezTo>
                  <a:pt x="195641" y="141820"/>
                  <a:pt x="198077" y="148558"/>
                  <a:pt x="198077" y="155864"/>
                </a:cubicBezTo>
                <a:cubicBezTo>
                  <a:pt x="198077" y="173804"/>
                  <a:pt x="183546" y="188335"/>
                  <a:pt x="165605" y="188335"/>
                </a:cubicBezTo>
                <a:cubicBezTo>
                  <a:pt x="165321" y="188335"/>
                  <a:pt x="165077" y="188335"/>
                  <a:pt x="164793" y="188335"/>
                </a:cubicBezTo>
                <a:cubicBezTo>
                  <a:pt x="161911" y="199538"/>
                  <a:pt x="151724" y="207818"/>
                  <a:pt x="139628" y="207818"/>
                </a:cubicBezTo>
                <a:lnTo>
                  <a:pt x="126639" y="207818"/>
                </a:lnTo>
                <a:cubicBezTo>
                  <a:pt x="119455" y="207818"/>
                  <a:pt x="113651" y="202014"/>
                  <a:pt x="113651" y="194830"/>
                </a:cubicBezTo>
                <a:lnTo>
                  <a:pt x="113651" y="12989"/>
                </a:lnTo>
                <a:cubicBezTo>
                  <a:pt x="113651" y="5804"/>
                  <a:pt x="119455" y="0"/>
                  <a:pt x="126639" y="0"/>
                </a:cubicBezTo>
                <a:lnTo>
                  <a:pt x="136381" y="0"/>
                </a:lnTo>
                <a:cubicBezTo>
                  <a:pt x="148923" y="0"/>
                  <a:pt x="159111" y="10188"/>
                  <a:pt x="159111" y="22730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Text 6"/>
          <p:cNvSpPr/>
          <p:nvPr/>
        </p:nvSpPr>
        <p:spPr>
          <a:xfrm>
            <a:off x="1047600" y="1491120"/>
            <a:ext cx="174888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640" spc="-1" strike="noStrike">
                <a:solidFill>
                  <a:srgbClr val="4db6ac"/>
                </a:solidFill>
                <a:latin typeface="Liter"/>
                <a:ea typeface="Liter"/>
              </a:rPr>
              <a:t>AI/ML in Pipelines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Shape 7"/>
          <p:cNvSpPr/>
          <p:nvPr/>
        </p:nvSpPr>
        <p:spPr>
          <a:xfrm>
            <a:off x="528120" y="2106000"/>
            <a:ext cx="276840" cy="276840"/>
          </a:xfrm>
          <a:custGeom>
            <a:avLst/>
            <a:gdLst>
              <a:gd name="textAreaLeft" fmla="*/ 0 w 276840"/>
              <a:gd name="textAreaRight" fmla="*/ 277200 w 276840"/>
              <a:gd name="textAreaTop" fmla="*/ 0 h 276840"/>
              <a:gd name="textAreaBottom" fmla="*/ 277200 h 276840"/>
            </a:gdLst>
            <a:ahLst/>
            <a:rect l="textAreaLeft" t="textAreaTop" r="textAreaRight" b="textAreaBottom"/>
            <a:pathLst>
              <a:path w="277091" h="277091">
                <a:moveTo>
                  <a:pt x="138545" y="0"/>
                </a:moveTo>
                <a:lnTo>
                  <a:pt x="138545" y="0"/>
                </a:lnTo>
                <a:cubicBezTo>
                  <a:pt x="215011" y="0"/>
                  <a:pt x="277091" y="62080"/>
                  <a:pt x="277091" y="138545"/>
                </a:cubicBezTo>
                <a:lnTo>
                  <a:pt x="277091" y="138545"/>
                </a:lnTo>
                <a:cubicBezTo>
                  <a:pt x="277091" y="215011"/>
                  <a:pt x="215011" y="277091"/>
                  <a:pt x="138545" y="277091"/>
                </a:cubicBezTo>
                <a:lnTo>
                  <a:pt x="138545" y="277091"/>
                </a:lnTo>
                <a:cubicBezTo>
                  <a:pt x="62080" y="277091"/>
                  <a:pt x="0" y="215011"/>
                  <a:pt x="0" y="138545"/>
                </a:cubicBezTo>
                <a:lnTo>
                  <a:pt x="0" y="138545"/>
                </a:lnTo>
                <a:cubicBezTo>
                  <a:pt x="0" y="62080"/>
                  <a:pt x="62080" y="0"/>
                  <a:pt x="138545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Shape 8"/>
          <p:cNvSpPr/>
          <p:nvPr/>
        </p:nvSpPr>
        <p:spPr>
          <a:xfrm>
            <a:off x="608400" y="2183760"/>
            <a:ext cx="120960" cy="120960"/>
          </a:xfrm>
          <a:custGeom>
            <a:avLst/>
            <a:gdLst>
              <a:gd name="textAreaLeft" fmla="*/ 0 w 120960"/>
              <a:gd name="textAreaRight" fmla="*/ 121320 w 120960"/>
              <a:gd name="textAreaTop" fmla="*/ 0 h 120960"/>
              <a:gd name="textAreaBottom" fmla="*/ 121320 h 120960"/>
            </a:gdLst>
            <a:ahLst/>
            <a:rect l="textAreaLeft" t="textAreaTop" r="textAreaRight" b="textAreaBottom"/>
            <a:pathLst>
              <a:path w="121227" h="121227">
                <a:moveTo>
                  <a:pt x="94354" y="2889"/>
                </a:moveTo>
                <a:lnTo>
                  <a:pt x="73470" y="23772"/>
                </a:lnTo>
                <a:lnTo>
                  <a:pt x="97455" y="47757"/>
                </a:lnTo>
                <a:lnTo>
                  <a:pt x="118339" y="26874"/>
                </a:lnTo>
                <a:cubicBezTo>
                  <a:pt x="120185" y="25003"/>
                  <a:pt x="121227" y="22493"/>
                  <a:pt x="121227" y="19889"/>
                </a:cubicBezTo>
                <a:cubicBezTo>
                  <a:pt x="121227" y="17284"/>
                  <a:pt x="120185" y="14775"/>
                  <a:pt x="118339" y="12904"/>
                </a:cubicBezTo>
                <a:lnTo>
                  <a:pt x="108323" y="2889"/>
                </a:lnTo>
                <a:cubicBezTo>
                  <a:pt x="106453" y="1042"/>
                  <a:pt x="103943" y="0"/>
                  <a:pt x="101338" y="0"/>
                </a:cubicBezTo>
                <a:cubicBezTo>
                  <a:pt x="98734" y="0"/>
                  <a:pt x="96224" y="1042"/>
                  <a:pt x="94354" y="2889"/>
                </a:cubicBezTo>
                <a:close/>
                <a:moveTo>
                  <a:pt x="65444" y="31798"/>
                </a:moveTo>
                <a:lnTo>
                  <a:pt x="2889" y="94354"/>
                </a:lnTo>
                <a:cubicBezTo>
                  <a:pt x="1042" y="96224"/>
                  <a:pt x="0" y="98734"/>
                  <a:pt x="0" y="101338"/>
                </a:cubicBezTo>
                <a:cubicBezTo>
                  <a:pt x="0" y="103943"/>
                  <a:pt x="1042" y="106453"/>
                  <a:pt x="2889" y="108323"/>
                </a:cubicBezTo>
                <a:lnTo>
                  <a:pt x="12904" y="118339"/>
                </a:lnTo>
                <a:cubicBezTo>
                  <a:pt x="14775" y="120185"/>
                  <a:pt x="17284" y="121227"/>
                  <a:pt x="19889" y="121227"/>
                </a:cubicBezTo>
                <a:cubicBezTo>
                  <a:pt x="22493" y="121227"/>
                  <a:pt x="25003" y="120185"/>
                  <a:pt x="26874" y="118339"/>
                </a:cubicBezTo>
                <a:lnTo>
                  <a:pt x="89429" y="55783"/>
                </a:lnTo>
                <a:lnTo>
                  <a:pt x="65444" y="31798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 9"/>
          <p:cNvSpPr/>
          <p:nvPr/>
        </p:nvSpPr>
        <p:spPr>
          <a:xfrm>
            <a:off x="909360" y="2071440"/>
            <a:ext cx="500472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09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Automated Data Quality</a:t>
            </a:r>
            <a:endParaRPr b="0" lang="en-US" sz="10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 10"/>
          <p:cNvSpPr/>
          <p:nvPr/>
        </p:nvSpPr>
        <p:spPr>
          <a:xfrm>
            <a:off x="909360" y="2279160"/>
            <a:ext cx="500472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9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ML models detect anomalies, outliers, and schema drift automatically without manual rule definition.</a:t>
            </a:r>
            <a:endParaRPr b="0" lang="en-US" sz="10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Shape 11"/>
          <p:cNvSpPr/>
          <p:nvPr/>
        </p:nvSpPr>
        <p:spPr>
          <a:xfrm>
            <a:off x="528120" y="3024000"/>
            <a:ext cx="276840" cy="276840"/>
          </a:xfrm>
          <a:custGeom>
            <a:avLst/>
            <a:gdLst>
              <a:gd name="textAreaLeft" fmla="*/ 0 w 276840"/>
              <a:gd name="textAreaRight" fmla="*/ 277200 w 276840"/>
              <a:gd name="textAreaTop" fmla="*/ 0 h 276840"/>
              <a:gd name="textAreaBottom" fmla="*/ 277200 h 276840"/>
            </a:gdLst>
            <a:ahLst/>
            <a:rect l="textAreaLeft" t="textAreaTop" r="textAreaRight" b="textAreaBottom"/>
            <a:pathLst>
              <a:path w="277091" h="277091">
                <a:moveTo>
                  <a:pt x="138545" y="0"/>
                </a:moveTo>
                <a:lnTo>
                  <a:pt x="138545" y="0"/>
                </a:lnTo>
                <a:cubicBezTo>
                  <a:pt x="215011" y="0"/>
                  <a:pt x="277091" y="62080"/>
                  <a:pt x="277091" y="138545"/>
                </a:cubicBezTo>
                <a:lnTo>
                  <a:pt x="277091" y="138545"/>
                </a:lnTo>
                <a:cubicBezTo>
                  <a:pt x="277091" y="215011"/>
                  <a:pt x="215011" y="277091"/>
                  <a:pt x="138545" y="277091"/>
                </a:cubicBezTo>
                <a:lnTo>
                  <a:pt x="138545" y="277091"/>
                </a:lnTo>
                <a:cubicBezTo>
                  <a:pt x="62080" y="277091"/>
                  <a:pt x="0" y="215011"/>
                  <a:pt x="0" y="138545"/>
                </a:cubicBezTo>
                <a:lnTo>
                  <a:pt x="0" y="138545"/>
                </a:lnTo>
                <a:cubicBezTo>
                  <a:pt x="0" y="62080"/>
                  <a:pt x="62080" y="0"/>
                  <a:pt x="138545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Shape 12"/>
          <p:cNvSpPr/>
          <p:nvPr/>
        </p:nvSpPr>
        <p:spPr>
          <a:xfrm>
            <a:off x="608400" y="3101760"/>
            <a:ext cx="120960" cy="120960"/>
          </a:xfrm>
          <a:custGeom>
            <a:avLst/>
            <a:gdLst>
              <a:gd name="textAreaLeft" fmla="*/ 0 w 120960"/>
              <a:gd name="textAreaRight" fmla="*/ 121320 w 120960"/>
              <a:gd name="textAreaTop" fmla="*/ 0 h 120960"/>
              <a:gd name="textAreaBottom" fmla="*/ 121320 h 120960"/>
            </a:gdLst>
            <a:ahLst/>
            <a:rect l="textAreaLeft" t="textAreaTop" r="textAreaRight" b="textAreaBottom"/>
            <a:pathLst>
              <a:path w="121227" h="121227">
                <a:moveTo>
                  <a:pt x="0" y="18942"/>
                </a:moveTo>
                <a:cubicBezTo>
                  <a:pt x="0" y="12667"/>
                  <a:pt x="5091" y="7577"/>
                  <a:pt x="11365" y="7577"/>
                </a:cubicBezTo>
                <a:lnTo>
                  <a:pt x="34095" y="7577"/>
                </a:lnTo>
                <a:cubicBezTo>
                  <a:pt x="40370" y="7577"/>
                  <a:pt x="45460" y="12667"/>
                  <a:pt x="45460" y="18942"/>
                </a:cubicBezTo>
                <a:lnTo>
                  <a:pt x="45460" y="22730"/>
                </a:lnTo>
                <a:lnTo>
                  <a:pt x="75767" y="22730"/>
                </a:lnTo>
                <a:lnTo>
                  <a:pt x="75767" y="18942"/>
                </a:lnTo>
                <a:cubicBezTo>
                  <a:pt x="75767" y="12667"/>
                  <a:pt x="80858" y="7577"/>
                  <a:pt x="87132" y="7577"/>
                </a:cubicBezTo>
                <a:lnTo>
                  <a:pt x="109862" y="7577"/>
                </a:lnTo>
                <a:cubicBezTo>
                  <a:pt x="116137" y="7577"/>
                  <a:pt x="121227" y="12667"/>
                  <a:pt x="121227" y="18942"/>
                </a:cubicBezTo>
                <a:lnTo>
                  <a:pt x="121227" y="41672"/>
                </a:lnTo>
                <a:cubicBezTo>
                  <a:pt x="121227" y="47946"/>
                  <a:pt x="116137" y="53037"/>
                  <a:pt x="109862" y="53037"/>
                </a:cubicBezTo>
                <a:lnTo>
                  <a:pt x="87132" y="53037"/>
                </a:lnTo>
                <a:cubicBezTo>
                  <a:pt x="80858" y="53037"/>
                  <a:pt x="75767" y="47946"/>
                  <a:pt x="75767" y="41672"/>
                </a:cubicBezTo>
                <a:lnTo>
                  <a:pt x="75767" y="37884"/>
                </a:lnTo>
                <a:lnTo>
                  <a:pt x="45460" y="37884"/>
                </a:lnTo>
                <a:lnTo>
                  <a:pt x="45460" y="41672"/>
                </a:lnTo>
                <a:cubicBezTo>
                  <a:pt x="45460" y="43400"/>
                  <a:pt x="45058" y="45058"/>
                  <a:pt x="44371" y="46526"/>
                </a:cubicBezTo>
                <a:lnTo>
                  <a:pt x="60614" y="68190"/>
                </a:lnTo>
                <a:lnTo>
                  <a:pt x="79555" y="68190"/>
                </a:lnTo>
                <a:cubicBezTo>
                  <a:pt x="85830" y="68190"/>
                  <a:pt x="90920" y="73281"/>
                  <a:pt x="90920" y="79555"/>
                </a:cubicBezTo>
                <a:lnTo>
                  <a:pt x="90920" y="102286"/>
                </a:lnTo>
                <a:cubicBezTo>
                  <a:pt x="90920" y="108560"/>
                  <a:pt x="85830" y="113651"/>
                  <a:pt x="79555" y="113651"/>
                </a:cubicBezTo>
                <a:lnTo>
                  <a:pt x="56825" y="113651"/>
                </a:lnTo>
                <a:cubicBezTo>
                  <a:pt x="50551" y="113651"/>
                  <a:pt x="45460" y="108560"/>
                  <a:pt x="45460" y="102286"/>
                </a:cubicBezTo>
                <a:lnTo>
                  <a:pt x="45460" y="79555"/>
                </a:lnTo>
                <a:cubicBezTo>
                  <a:pt x="45460" y="77827"/>
                  <a:pt x="45863" y="76170"/>
                  <a:pt x="46549" y="74702"/>
                </a:cubicBezTo>
                <a:lnTo>
                  <a:pt x="30307" y="53037"/>
                </a:lnTo>
                <a:lnTo>
                  <a:pt x="11365" y="53037"/>
                </a:lnTo>
                <a:cubicBezTo>
                  <a:pt x="5091" y="53037"/>
                  <a:pt x="0" y="47946"/>
                  <a:pt x="0" y="41672"/>
                </a:cubicBezTo>
                <a:lnTo>
                  <a:pt x="0" y="18942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13"/>
          <p:cNvSpPr/>
          <p:nvPr/>
        </p:nvSpPr>
        <p:spPr>
          <a:xfrm>
            <a:off x="909360" y="2989080"/>
            <a:ext cx="500472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09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Intelligent Schema Mapping</a:t>
            </a:r>
            <a:endParaRPr b="0" lang="en-US" sz="10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 14"/>
          <p:cNvSpPr/>
          <p:nvPr/>
        </p:nvSpPr>
        <p:spPr>
          <a:xfrm>
            <a:off x="909360" y="3197160"/>
            <a:ext cx="500472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9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AI automatically maps fields between systems, reducing integration time from weeks to hours.</a:t>
            </a:r>
            <a:endParaRPr b="0" lang="en-US" sz="10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Shape 15"/>
          <p:cNvSpPr/>
          <p:nvPr/>
        </p:nvSpPr>
        <p:spPr>
          <a:xfrm>
            <a:off x="528120" y="3941640"/>
            <a:ext cx="276840" cy="276840"/>
          </a:xfrm>
          <a:custGeom>
            <a:avLst/>
            <a:gdLst>
              <a:gd name="textAreaLeft" fmla="*/ 0 w 276840"/>
              <a:gd name="textAreaRight" fmla="*/ 277200 w 276840"/>
              <a:gd name="textAreaTop" fmla="*/ 0 h 276840"/>
              <a:gd name="textAreaBottom" fmla="*/ 277200 h 276840"/>
            </a:gdLst>
            <a:ahLst/>
            <a:rect l="textAreaLeft" t="textAreaTop" r="textAreaRight" b="textAreaBottom"/>
            <a:pathLst>
              <a:path w="277091" h="277091">
                <a:moveTo>
                  <a:pt x="138545" y="0"/>
                </a:moveTo>
                <a:lnTo>
                  <a:pt x="138545" y="0"/>
                </a:lnTo>
                <a:cubicBezTo>
                  <a:pt x="215011" y="0"/>
                  <a:pt x="277091" y="62080"/>
                  <a:pt x="277091" y="138545"/>
                </a:cubicBezTo>
                <a:lnTo>
                  <a:pt x="277091" y="138545"/>
                </a:lnTo>
                <a:cubicBezTo>
                  <a:pt x="277091" y="215011"/>
                  <a:pt x="215011" y="277091"/>
                  <a:pt x="138545" y="277091"/>
                </a:cubicBezTo>
                <a:lnTo>
                  <a:pt x="138545" y="277091"/>
                </a:lnTo>
                <a:cubicBezTo>
                  <a:pt x="62080" y="277091"/>
                  <a:pt x="0" y="215011"/>
                  <a:pt x="0" y="138545"/>
                </a:cubicBezTo>
                <a:lnTo>
                  <a:pt x="0" y="138545"/>
                </a:lnTo>
                <a:cubicBezTo>
                  <a:pt x="0" y="62080"/>
                  <a:pt x="62080" y="0"/>
                  <a:pt x="138545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Shape 16"/>
          <p:cNvSpPr/>
          <p:nvPr/>
        </p:nvSpPr>
        <p:spPr>
          <a:xfrm>
            <a:off x="608400" y="4019760"/>
            <a:ext cx="120960" cy="120960"/>
          </a:xfrm>
          <a:custGeom>
            <a:avLst/>
            <a:gdLst>
              <a:gd name="textAreaLeft" fmla="*/ 0 w 120960"/>
              <a:gd name="textAreaRight" fmla="*/ 121320 w 120960"/>
              <a:gd name="textAreaTop" fmla="*/ 0 h 120960"/>
              <a:gd name="textAreaBottom" fmla="*/ 121320 h 120960"/>
            </a:gdLst>
            <a:ahLst/>
            <a:rect l="textAreaLeft" t="textAreaTop" r="textAreaRight" b="textAreaBottom"/>
            <a:pathLst>
              <a:path w="121227" h="121227">
                <a:moveTo>
                  <a:pt x="15153" y="15153"/>
                </a:moveTo>
                <a:cubicBezTo>
                  <a:pt x="15153" y="10963"/>
                  <a:pt x="11768" y="7577"/>
                  <a:pt x="7577" y="7577"/>
                </a:cubicBezTo>
                <a:cubicBezTo>
                  <a:pt x="3386" y="7577"/>
                  <a:pt x="0" y="10963"/>
                  <a:pt x="0" y="15153"/>
                </a:cubicBezTo>
                <a:lnTo>
                  <a:pt x="0" y="94709"/>
                </a:lnTo>
                <a:cubicBezTo>
                  <a:pt x="0" y="105174"/>
                  <a:pt x="8476" y="113651"/>
                  <a:pt x="18942" y="113651"/>
                </a:cubicBezTo>
                <a:lnTo>
                  <a:pt x="113651" y="113651"/>
                </a:lnTo>
                <a:cubicBezTo>
                  <a:pt x="117841" y="113651"/>
                  <a:pt x="121227" y="110265"/>
                  <a:pt x="121227" y="106074"/>
                </a:cubicBezTo>
                <a:cubicBezTo>
                  <a:pt x="121227" y="101883"/>
                  <a:pt x="117841" y="98497"/>
                  <a:pt x="113651" y="98497"/>
                </a:cubicBezTo>
                <a:lnTo>
                  <a:pt x="18942" y="98497"/>
                </a:lnTo>
                <a:cubicBezTo>
                  <a:pt x="16858" y="98497"/>
                  <a:pt x="15153" y="96792"/>
                  <a:pt x="15153" y="94709"/>
                </a:cubicBezTo>
                <a:lnTo>
                  <a:pt x="15153" y="15153"/>
                </a:lnTo>
                <a:close/>
                <a:moveTo>
                  <a:pt x="111425" y="35658"/>
                </a:moveTo>
                <a:cubicBezTo>
                  <a:pt x="114385" y="32698"/>
                  <a:pt x="114385" y="27892"/>
                  <a:pt x="111425" y="24932"/>
                </a:cubicBezTo>
                <a:cubicBezTo>
                  <a:pt x="108465" y="21972"/>
                  <a:pt x="103659" y="21972"/>
                  <a:pt x="100699" y="24932"/>
                </a:cubicBezTo>
                <a:lnTo>
                  <a:pt x="75767" y="49888"/>
                </a:lnTo>
                <a:lnTo>
                  <a:pt x="62176" y="36321"/>
                </a:lnTo>
                <a:cubicBezTo>
                  <a:pt x="59217" y="33361"/>
                  <a:pt x="54410" y="33361"/>
                  <a:pt x="51451" y="36321"/>
                </a:cubicBezTo>
                <a:lnTo>
                  <a:pt x="28720" y="59051"/>
                </a:lnTo>
                <a:cubicBezTo>
                  <a:pt x="25761" y="62011"/>
                  <a:pt x="25761" y="66817"/>
                  <a:pt x="28720" y="69777"/>
                </a:cubicBezTo>
                <a:cubicBezTo>
                  <a:pt x="31680" y="72736"/>
                  <a:pt x="36487" y="72736"/>
                  <a:pt x="39446" y="69777"/>
                </a:cubicBezTo>
                <a:lnTo>
                  <a:pt x="56825" y="52398"/>
                </a:lnTo>
                <a:lnTo>
                  <a:pt x="70416" y="65988"/>
                </a:lnTo>
                <a:cubicBezTo>
                  <a:pt x="73376" y="68948"/>
                  <a:pt x="78182" y="68948"/>
                  <a:pt x="81142" y="65988"/>
                </a:cubicBezTo>
                <a:lnTo>
                  <a:pt x="111449" y="35682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 17"/>
          <p:cNvSpPr/>
          <p:nvPr/>
        </p:nvSpPr>
        <p:spPr>
          <a:xfrm>
            <a:off x="909360" y="3907080"/>
            <a:ext cx="500472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09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Predictive Optimization</a:t>
            </a:r>
            <a:endParaRPr b="0" lang="en-US" sz="10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Text 18"/>
          <p:cNvSpPr/>
          <p:nvPr/>
        </p:nvSpPr>
        <p:spPr>
          <a:xfrm>
            <a:off x="909360" y="4114800"/>
            <a:ext cx="500472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9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ML predicts pipeline failures and optimizes resource allocation before issues occur.</a:t>
            </a:r>
            <a:endParaRPr b="0" lang="en-US" sz="10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Shape 19"/>
          <p:cNvSpPr/>
          <p:nvPr/>
        </p:nvSpPr>
        <p:spPr>
          <a:xfrm>
            <a:off x="528120" y="4607640"/>
            <a:ext cx="276840" cy="276840"/>
          </a:xfrm>
          <a:custGeom>
            <a:avLst/>
            <a:gdLst>
              <a:gd name="textAreaLeft" fmla="*/ 0 w 276840"/>
              <a:gd name="textAreaRight" fmla="*/ 277200 w 276840"/>
              <a:gd name="textAreaTop" fmla="*/ 0 h 276840"/>
              <a:gd name="textAreaBottom" fmla="*/ 277200 h 276840"/>
            </a:gdLst>
            <a:ahLst/>
            <a:rect l="textAreaLeft" t="textAreaTop" r="textAreaRight" b="textAreaBottom"/>
            <a:pathLst>
              <a:path w="277091" h="277091">
                <a:moveTo>
                  <a:pt x="138545" y="0"/>
                </a:moveTo>
                <a:lnTo>
                  <a:pt x="138545" y="0"/>
                </a:lnTo>
                <a:cubicBezTo>
                  <a:pt x="215011" y="0"/>
                  <a:pt x="277091" y="62080"/>
                  <a:pt x="277091" y="138545"/>
                </a:cubicBezTo>
                <a:lnTo>
                  <a:pt x="277091" y="138545"/>
                </a:lnTo>
                <a:cubicBezTo>
                  <a:pt x="277091" y="215011"/>
                  <a:pt x="215011" y="277091"/>
                  <a:pt x="138545" y="277091"/>
                </a:cubicBezTo>
                <a:lnTo>
                  <a:pt x="138545" y="277091"/>
                </a:lnTo>
                <a:cubicBezTo>
                  <a:pt x="62080" y="277091"/>
                  <a:pt x="0" y="215011"/>
                  <a:pt x="0" y="138545"/>
                </a:cubicBezTo>
                <a:lnTo>
                  <a:pt x="0" y="138545"/>
                </a:lnTo>
                <a:cubicBezTo>
                  <a:pt x="0" y="62080"/>
                  <a:pt x="62080" y="0"/>
                  <a:pt x="138545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Shape 20"/>
          <p:cNvSpPr/>
          <p:nvPr/>
        </p:nvSpPr>
        <p:spPr>
          <a:xfrm>
            <a:off x="600840" y="4685400"/>
            <a:ext cx="136080" cy="120960"/>
          </a:xfrm>
          <a:custGeom>
            <a:avLst/>
            <a:gdLst>
              <a:gd name="textAreaLeft" fmla="*/ 0 w 136080"/>
              <a:gd name="textAreaRight" fmla="*/ 136440 w 136080"/>
              <a:gd name="textAreaTop" fmla="*/ 0 h 120960"/>
              <a:gd name="textAreaBottom" fmla="*/ 121320 h 120960"/>
            </a:gdLst>
            <a:ahLst/>
            <a:rect l="textAreaLeft" t="textAreaTop" r="textAreaRight" b="textAreaBottom"/>
            <a:pathLst>
              <a:path w="136381" h="121227">
                <a:moveTo>
                  <a:pt x="90920" y="34095"/>
                </a:moveTo>
                <a:cubicBezTo>
                  <a:pt x="90920" y="57109"/>
                  <a:pt x="70558" y="75767"/>
                  <a:pt x="45460" y="75767"/>
                </a:cubicBezTo>
                <a:cubicBezTo>
                  <a:pt x="39138" y="75767"/>
                  <a:pt x="33124" y="74583"/>
                  <a:pt x="27655" y="72452"/>
                </a:cubicBezTo>
                <a:lnTo>
                  <a:pt x="8334" y="82681"/>
                </a:lnTo>
                <a:cubicBezTo>
                  <a:pt x="6132" y="83841"/>
                  <a:pt x="3433" y="83438"/>
                  <a:pt x="1657" y="81686"/>
                </a:cubicBezTo>
                <a:cubicBezTo>
                  <a:pt x="-118" y="79934"/>
                  <a:pt x="-521" y="77211"/>
                  <a:pt x="663" y="75009"/>
                </a:cubicBezTo>
                <a:lnTo>
                  <a:pt x="9092" y="59098"/>
                </a:lnTo>
                <a:cubicBezTo>
                  <a:pt x="3386" y="52137"/>
                  <a:pt x="0" y="43471"/>
                  <a:pt x="0" y="34095"/>
                </a:cubicBezTo>
                <a:cubicBezTo>
                  <a:pt x="0" y="11081"/>
                  <a:pt x="20362" y="-7577"/>
                  <a:pt x="45460" y="-7577"/>
                </a:cubicBezTo>
                <a:cubicBezTo>
                  <a:pt x="70558" y="-7577"/>
                  <a:pt x="90920" y="11081"/>
                  <a:pt x="90920" y="34095"/>
                </a:cubicBezTo>
                <a:close/>
                <a:moveTo>
                  <a:pt x="90920" y="121227"/>
                </a:moveTo>
                <a:cubicBezTo>
                  <a:pt x="68640" y="121227"/>
                  <a:pt x="50101" y="106524"/>
                  <a:pt x="46218" y="87132"/>
                </a:cubicBezTo>
                <a:cubicBezTo>
                  <a:pt x="74631" y="86777"/>
                  <a:pt x="99326" y="66557"/>
                  <a:pt x="102049" y="39138"/>
                </a:cubicBezTo>
                <a:cubicBezTo>
                  <a:pt x="121772" y="43684"/>
                  <a:pt x="136381" y="60045"/>
                  <a:pt x="136381" y="79555"/>
                </a:cubicBezTo>
                <a:cubicBezTo>
                  <a:pt x="136381" y="88932"/>
                  <a:pt x="132995" y="97597"/>
                  <a:pt x="127289" y="104559"/>
                </a:cubicBezTo>
                <a:lnTo>
                  <a:pt x="135718" y="120470"/>
                </a:lnTo>
                <a:cubicBezTo>
                  <a:pt x="136878" y="122672"/>
                  <a:pt x="136475" y="125371"/>
                  <a:pt x="134723" y="127147"/>
                </a:cubicBezTo>
                <a:cubicBezTo>
                  <a:pt x="132971" y="128922"/>
                  <a:pt x="130248" y="129325"/>
                  <a:pt x="128046" y="128141"/>
                </a:cubicBezTo>
                <a:lnTo>
                  <a:pt x="108726" y="117912"/>
                </a:lnTo>
                <a:cubicBezTo>
                  <a:pt x="103256" y="120043"/>
                  <a:pt x="97242" y="121227"/>
                  <a:pt x="90920" y="121227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 21"/>
          <p:cNvSpPr/>
          <p:nvPr/>
        </p:nvSpPr>
        <p:spPr>
          <a:xfrm>
            <a:off x="909360" y="4645080"/>
            <a:ext cx="500472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09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Natural Language Interfaces</a:t>
            </a:r>
            <a:endParaRPr b="0" lang="en-US" sz="10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 22"/>
          <p:cNvSpPr/>
          <p:nvPr/>
        </p:nvSpPr>
        <p:spPr>
          <a:xfrm>
            <a:off x="909360" y="4924800"/>
            <a:ext cx="500472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09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Ask questions in plain English to generate SQL queries and data pipelines automatically.</a:t>
            </a:r>
            <a:endParaRPr b="0" lang="en-US" sz="10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Shape 23"/>
          <p:cNvSpPr/>
          <p:nvPr/>
        </p:nvSpPr>
        <p:spPr>
          <a:xfrm>
            <a:off x="350640" y="5715000"/>
            <a:ext cx="5597640" cy="994320"/>
          </a:xfrm>
          <a:custGeom>
            <a:avLst/>
            <a:gdLst>
              <a:gd name="textAreaLeft" fmla="*/ 0 w 5597640"/>
              <a:gd name="textAreaRight" fmla="*/ 5598000 w 5597640"/>
              <a:gd name="textAreaTop" fmla="*/ 0 h 994320"/>
              <a:gd name="textAreaBottom" fmla="*/ 994680 h 994320"/>
            </a:gdLst>
            <a:ahLst/>
            <a:rect l="textAreaLeft" t="textAreaTop" r="textAreaRight" b="textAreaBottom"/>
            <a:pathLst>
              <a:path w="5671705" h="805295">
                <a:moveTo>
                  <a:pt x="103907" y="0"/>
                </a:moveTo>
                <a:lnTo>
                  <a:pt x="5567797" y="0"/>
                </a:lnTo>
                <a:cubicBezTo>
                  <a:pt x="5625184" y="0"/>
                  <a:pt x="5671705" y="46521"/>
                  <a:pt x="5671705" y="103907"/>
                </a:cubicBezTo>
                <a:lnTo>
                  <a:pt x="5671705" y="701388"/>
                </a:lnTo>
                <a:cubicBezTo>
                  <a:pt x="5671705" y="758775"/>
                  <a:pt x="5625184" y="805295"/>
                  <a:pt x="5567797" y="805295"/>
                </a:cubicBezTo>
                <a:lnTo>
                  <a:pt x="103907" y="805295"/>
                </a:lnTo>
                <a:cubicBezTo>
                  <a:pt x="46521" y="805295"/>
                  <a:pt x="0" y="758775"/>
                  <a:pt x="0" y="701388"/>
                </a:cubicBezTo>
                <a:lnTo>
                  <a:pt x="0" y="103907"/>
                </a:lnTo>
                <a:cubicBezTo>
                  <a:pt x="0" y="46521"/>
                  <a:pt x="46521" y="0"/>
                  <a:pt x="103907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Shape 24"/>
          <p:cNvSpPr/>
          <p:nvPr/>
        </p:nvSpPr>
        <p:spPr>
          <a:xfrm>
            <a:off x="510840" y="5937840"/>
            <a:ext cx="138240" cy="138240"/>
          </a:xfrm>
          <a:custGeom>
            <a:avLst/>
            <a:gdLst>
              <a:gd name="textAreaLeft" fmla="*/ 0 w 138240"/>
              <a:gd name="textAreaRight" fmla="*/ 138600 w 138240"/>
              <a:gd name="textAreaTop" fmla="*/ 0 h 138240"/>
              <a:gd name="textAreaBottom" fmla="*/ 138600 h 138240"/>
            </a:gdLst>
            <a:ahLst/>
            <a:rect l="textAreaLeft" t="textAreaTop" r="textAreaRight" b="textAreaBottom"/>
            <a:pathLst>
              <a:path w="138545" h="138545">
                <a:moveTo>
                  <a:pt x="34636" y="86591"/>
                </a:moveTo>
                <a:lnTo>
                  <a:pt x="6630" y="86591"/>
                </a:lnTo>
                <a:cubicBezTo>
                  <a:pt x="-108" y="86591"/>
                  <a:pt x="-4248" y="79258"/>
                  <a:pt x="-785" y="73467"/>
                </a:cubicBezTo>
                <a:lnTo>
                  <a:pt x="13530" y="49600"/>
                </a:lnTo>
                <a:cubicBezTo>
                  <a:pt x="15884" y="45677"/>
                  <a:pt x="20105" y="43295"/>
                  <a:pt x="24678" y="43295"/>
                </a:cubicBezTo>
                <a:lnTo>
                  <a:pt x="50385" y="43295"/>
                </a:lnTo>
                <a:cubicBezTo>
                  <a:pt x="70977" y="8416"/>
                  <a:pt x="101690" y="6657"/>
                  <a:pt x="122228" y="9660"/>
                </a:cubicBezTo>
                <a:cubicBezTo>
                  <a:pt x="125692" y="10174"/>
                  <a:pt x="128398" y="12880"/>
                  <a:pt x="128885" y="16317"/>
                </a:cubicBezTo>
                <a:cubicBezTo>
                  <a:pt x="131889" y="36855"/>
                  <a:pt x="130130" y="67568"/>
                  <a:pt x="95250" y="88160"/>
                </a:cubicBezTo>
                <a:lnTo>
                  <a:pt x="95250" y="113867"/>
                </a:lnTo>
                <a:cubicBezTo>
                  <a:pt x="95250" y="118440"/>
                  <a:pt x="92869" y="122661"/>
                  <a:pt x="88945" y="125016"/>
                </a:cubicBezTo>
                <a:lnTo>
                  <a:pt x="65078" y="139330"/>
                </a:lnTo>
                <a:cubicBezTo>
                  <a:pt x="59315" y="142794"/>
                  <a:pt x="51955" y="138627"/>
                  <a:pt x="51955" y="131916"/>
                </a:cubicBezTo>
                <a:lnTo>
                  <a:pt x="51955" y="103909"/>
                </a:lnTo>
                <a:cubicBezTo>
                  <a:pt x="51955" y="94357"/>
                  <a:pt x="44188" y="86591"/>
                  <a:pt x="34636" y="86591"/>
                </a:cubicBezTo>
                <a:lnTo>
                  <a:pt x="34609" y="86591"/>
                </a:lnTo>
                <a:close/>
                <a:moveTo>
                  <a:pt x="108239" y="43295"/>
                </a:moveTo>
                <a:cubicBezTo>
                  <a:pt x="108239" y="36127"/>
                  <a:pt x="102419" y="30307"/>
                  <a:pt x="95250" y="30307"/>
                </a:cubicBezTo>
                <a:cubicBezTo>
                  <a:pt x="88081" y="30307"/>
                  <a:pt x="82261" y="36127"/>
                  <a:pt x="82261" y="43295"/>
                </a:cubicBezTo>
                <a:cubicBezTo>
                  <a:pt x="82261" y="50464"/>
                  <a:pt x="88081" y="56284"/>
                  <a:pt x="95250" y="56284"/>
                </a:cubicBezTo>
                <a:cubicBezTo>
                  <a:pt x="102419" y="56284"/>
                  <a:pt x="108239" y="50464"/>
                  <a:pt x="108239" y="43295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Text 25"/>
          <p:cNvSpPr/>
          <p:nvPr/>
        </p:nvSpPr>
        <p:spPr>
          <a:xfrm>
            <a:off x="713880" y="5867280"/>
            <a:ext cx="523440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090" spc="-1" strike="noStrike">
                <a:solidFill>
                  <a:srgbClr val="4db6ac"/>
                </a:solidFill>
                <a:latin typeface="Liter"/>
                <a:ea typeface="Liter"/>
              </a:rPr>
              <a:t>Emerging Technologies</a:t>
            </a:r>
            <a:endParaRPr b="0" lang="en-US" sz="10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Shape 26"/>
          <p:cNvSpPr/>
          <p:nvPr/>
        </p:nvSpPr>
        <p:spPr>
          <a:xfrm>
            <a:off x="493560" y="6288480"/>
            <a:ext cx="1242720" cy="241920"/>
          </a:xfrm>
          <a:custGeom>
            <a:avLst/>
            <a:gdLst>
              <a:gd name="textAreaLeft" fmla="*/ 0 w 1242720"/>
              <a:gd name="textAreaRight" fmla="*/ 1243080 w 1242720"/>
              <a:gd name="textAreaTop" fmla="*/ 0 h 241920"/>
              <a:gd name="textAreaBottom" fmla="*/ 242280 h 241920"/>
            </a:gdLst>
            <a:ahLst/>
            <a:rect l="textAreaLeft" t="textAreaTop" r="textAreaRight" b="textAreaBottom"/>
            <a:pathLst>
              <a:path w="1177636" h="242455">
                <a:moveTo>
                  <a:pt x="121227" y="0"/>
                </a:moveTo>
                <a:lnTo>
                  <a:pt x="1056409" y="0"/>
                </a:lnTo>
                <a:cubicBezTo>
                  <a:pt x="1123316" y="0"/>
                  <a:pt x="1177636" y="54320"/>
                  <a:pt x="1177636" y="121227"/>
                </a:cubicBezTo>
                <a:lnTo>
                  <a:pt x="1177636" y="121227"/>
                </a:lnTo>
                <a:cubicBezTo>
                  <a:pt x="1177636" y="188134"/>
                  <a:pt x="1123316" y="242455"/>
                  <a:pt x="1056409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Text 27"/>
          <p:cNvSpPr/>
          <p:nvPr/>
        </p:nvSpPr>
        <p:spPr>
          <a:xfrm>
            <a:off x="493560" y="6288480"/>
            <a:ext cx="12427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040" rIns="104040" tIns="34560" bIns="3456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LLM-Powered ETL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Shape 28"/>
          <p:cNvSpPr/>
          <p:nvPr/>
        </p:nvSpPr>
        <p:spPr>
          <a:xfrm>
            <a:off x="1844280" y="6288480"/>
            <a:ext cx="1353960" cy="241920"/>
          </a:xfrm>
          <a:custGeom>
            <a:avLst/>
            <a:gdLst>
              <a:gd name="textAreaLeft" fmla="*/ 0 w 1353960"/>
              <a:gd name="textAreaRight" fmla="*/ 1354320 w 1353960"/>
              <a:gd name="textAreaTop" fmla="*/ 0 h 241920"/>
              <a:gd name="textAreaBottom" fmla="*/ 242280 h 241920"/>
            </a:gdLst>
            <a:ahLst/>
            <a:rect l="textAreaLeft" t="textAreaTop" r="textAreaRight" b="textAreaBottom"/>
            <a:pathLst>
              <a:path w="1212273" h="242455">
                <a:moveTo>
                  <a:pt x="121227" y="0"/>
                </a:moveTo>
                <a:lnTo>
                  <a:pt x="1091045" y="0"/>
                </a:lnTo>
                <a:cubicBezTo>
                  <a:pt x="1157953" y="0"/>
                  <a:pt x="1212273" y="54320"/>
                  <a:pt x="1212273" y="121227"/>
                </a:cubicBezTo>
                <a:lnTo>
                  <a:pt x="1212273" y="121227"/>
                </a:lnTo>
                <a:cubicBezTo>
                  <a:pt x="1212273" y="188134"/>
                  <a:pt x="1157953" y="242455"/>
                  <a:pt x="1091045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 29"/>
          <p:cNvSpPr/>
          <p:nvPr/>
        </p:nvSpPr>
        <p:spPr>
          <a:xfrm>
            <a:off x="1844280" y="6288480"/>
            <a:ext cx="14259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040" rIns="104040" tIns="34560" bIns="3456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ff8a65"/>
                </a:solidFill>
                <a:latin typeface="Quattrocento Sans"/>
                <a:ea typeface="Quattrocento Sans"/>
              </a:rPr>
              <a:t>AutoML Integration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Shape 30"/>
          <p:cNvSpPr/>
          <p:nvPr/>
        </p:nvSpPr>
        <p:spPr>
          <a:xfrm>
            <a:off x="3306240" y="6288480"/>
            <a:ext cx="960840" cy="241920"/>
          </a:xfrm>
          <a:custGeom>
            <a:avLst/>
            <a:gdLst>
              <a:gd name="textAreaLeft" fmla="*/ 0 w 960840"/>
              <a:gd name="textAreaRight" fmla="*/ 961200 w 960840"/>
              <a:gd name="textAreaTop" fmla="*/ 0 h 241920"/>
              <a:gd name="textAreaBottom" fmla="*/ 242280 h 241920"/>
            </a:gdLst>
            <a:ahLst/>
            <a:rect l="textAreaLeft" t="textAreaTop" r="textAreaRight" b="textAreaBottom"/>
            <a:pathLst>
              <a:path w="961159" h="242455">
                <a:moveTo>
                  <a:pt x="121227" y="0"/>
                </a:moveTo>
                <a:lnTo>
                  <a:pt x="839932" y="0"/>
                </a:lnTo>
                <a:cubicBezTo>
                  <a:pt x="906839" y="0"/>
                  <a:pt x="961159" y="54320"/>
                  <a:pt x="961159" y="121227"/>
                </a:cubicBezTo>
                <a:lnTo>
                  <a:pt x="961159" y="121227"/>
                </a:lnTo>
                <a:cubicBezTo>
                  <a:pt x="961159" y="188134"/>
                  <a:pt x="906839" y="242455"/>
                  <a:pt x="839932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Text 31"/>
          <p:cNvSpPr/>
          <p:nvPr/>
        </p:nvSpPr>
        <p:spPr>
          <a:xfrm>
            <a:off x="3270240" y="6288480"/>
            <a:ext cx="15537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040" rIns="104040" tIns="34560" bIns="3456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607d8b"/>
                </a:solidFill>
                <a:latin typeface="Quattrocento Sans"/>
                <a:ea typeface="Quattrocento Sans"/>
              </a:rPr>
              <a:t>Feature Stores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Shape 32"/>
          <p:cNvSpPr/>
          <p:nvPr/>
        </p:nvSpPr>
        <p:spPr>
          <a:xfrm>
            <a:off x="4343400" y="6288480"/>
            <a:ext cx="1371600" cy="241920"/>
          </a:xfrm>
          <a:custGeom>
            <a:avLst/>
            <a:gdLst>
              <a:gd name="textAreaLeft" fmla="*/ 0 w 1371600"/>
              <a:gd name="textAreaRight" fmla="*/ 1371960 w 1371600"/>
              <a:gd name="textAreaTop" fmla="*/ 0 h 241920"/>
              <a:gd name="textAreaBottom" fmla="*/ 242280 h 241920"/>
            </a:gdLst>
            <a:ahLst/>
            <a:rect l="textAreaLeft" t="textAreaTop" r="textAreaRight" b="textAreaBottom"/>
            <a:pathLst>
              <a:path w="1134341" h="242455">
                <a:moveTo>
                  <a:pt x="121227" y="0"/>
                </a:moveTo>
                <a:lnTo>
                  <a:pt x="1013114" y="0"/>
                </a:lnTo>
                <a:cubicBezTo>
                  <a:pt x="1080021" y="0"/>
                  <a:pt x="1134341" y="54320"/>
                  <a:pt x="1134341" y="121227"/>
                </a:cubicBezTo>
                <a:lnTo>
                  <a:pt x="1134341" y="121227"/>
                </a:lnTo>
                <a:cubicBezTo>
                  <a:pt x="1134341" y="188134"/>
                  <a:pt x="1080021" y="242455"/>
                  <a:pt x="1013114" y="242455"/>
                </a:cubicBezTo>
                <a:lnTo>
                  <a:pt x="121227" y="242455"/>
                </a:lnTo>
                <a:cubicBezTo>
                  <a:pt x="54320" y="242455"/>
                  <a:pt x="0" y="188134"/>
                  <a:pt x="0" y="121227"/>
                </a:cubicBezTo>
                <a:lnTo>
                  <a:pt x="0" y="121227"/>
                </a:lnTo>
                <a:cubicBezTo>
                  <a:pt x="0" y="54320"/>
                  <a:pt x="54320" y="0"/>
                  <a:pt x="121227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Text 33"/>
          <p:cNvSpPr/>
          <p:nvPr/>
        </p:nvSpPr>
        <p:spPr>
          <a:xfrm>
            <a:off x="4451400" y="6288480"/>
            <a:ext cx="158760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040" rIns="104040" tIns="34560" bIns="3456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Vector Databases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Shape 34"/>
          <p:cNvSpPr/>
          <p:nvPr/>
        </p:nvSpPr>
        <p:spPr>
          <a:xfrm>
            <a:off x="6169680" y="1244520"/>
            <a:ext cx="5671440" cy="4303080"/>
          </a:xfrm>
          <a:custGeom>
            <a:avLst/>
            <a:gdLst>
              <a:gd name="textAreaLeft" fmla="*/ 0 w 5671440"/>
              <a:gd name="textAreaRight" fmla="*/ 5671800 w 5671440"/>
              <a:gd name="textAreaTop" fmla="*/ 0 h 4303080"/>
              <a:gd name="textAreaBottom" fmla="*/ 4303440 h 4303080"/>
            </a:gdLst>
            <a:ahLst/>
            <a:rect l="textAreaLeft" t="textAreaTop" r="textAreaRight" b="textAreaBottom"/>
            <a:pathLst>
              <a:path w="5671705" h="4303568">
                <a:moveTo>
                  <a:pt x="103888" y="0"/>
                </a:moveTo>
                <a:lnTo>
                  <a:pt x="5567816" y="0"/>
                </a:lnTo>
                <a:cubicBezTo>
                  <a:pt x="5625192" y="0"/>
                  <a:pt x="5671705" y="46512"/>
                  <a:pt x="5671705" y="103888"/>
                </a:cubicBezTo>
                <a:lnTo>
                  <a:pt x="5671705" y="4199680"/>
                </a:lnTo>
                <a:cubicBezTo>
                  <a:pt x="5671705" y="4257056"/>
                  <a:pt x="5625192" y="4303568"/>
                  <a:pt x="5567816" y="4303568"/>
                </a:cubicBezTo>
                <a:lnTo>
                  <a:pt x="103888" y="4303568"/>
                </a:lnTo>
                <a:cubicBezTo>
                  <a:pt x="46512" y="4303568"/>
                  <a:pt x="0" y="4257056"/>
                  <a:pt x="0" y="4199680"/>
                </a:cubicBezTo>
                <a:lnTo>
                  <a:pt x="0" y="103888"/>
                </a:lnTo>
                <a:cubicBezTo>
                  <a:pt x="0" y="46512"/>
                  <a:pt x="46512" y="0"/>
                  <a:pt x="103888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12700">
            <a:solidFill>
              <a:srgbClr val="ff8a65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35"/>
          <p:cNvSpPr/>
          <p:nvPr/>
        </p:nvSpPr>
        <p:spPr>
          <a:xfrm>
            <a:off x="6347160" y="1386000"/>
            <a:ext cx="415440" cy="415440"/>
          </a:xfrm>
          <a:custGeom>
            <a:avLst/>
            <a:gdLst>
              <a:gd name="textAreaLeft" fmla="*/ 0 w 415440"/>
              <a:gd name="textAreaRight" fmla="*/ 415800 w 415440"/>
              <a:gd name="textAreaTop" fmla="*/ 0 h 415440"/>
              <a:gd name="textAreaBottom" fmla="*/ 415800 h 415440"/>
            </a:gdLst>
            <a:ahLst/>
            <a:rect l="textAreaLeft" t="textAreaTop" r="textAreaRight" b="textAreaBottom"/>
            <a:pathLst>
              <a:path w="415636" h="415636">
                <a:moveTo>
                  <a:pt x="69274" y="0"/>
                </a:moveTo>
                <a:lnTo>
                  <a:pt x="346362" y="0"/>
                </a:lnTo>
                <a:cubicBezTo>
                  <a:pt x="384596" y="0"/>
                  <a:pt x="415636" y="31041"/>
                  <a:pt x="415636" y="69274"/>
                </a:cubicBezTo>
                <a:lnTo>
                  <a:pt x="415636" y="346362"/>
                </a:lnTo>
                <a:cubicBezTo>
                  <a:pt x="415636" y="384621"/>
                  <a:pt x="384621" y="415636"/>
                  <a:pt x="346362" y="415636"/>
                </a:cubicBezTo>
                <a:lnTo>
                  <a:pt x="69274" y="415636"/>
                </a:lnTo>
                <a:cubicBezTo>
                  <a:pt x="31041" y="415636"/>
                  <a:pt x="0" y="384596"/>
                  <a:pt x="0" y="346362"/>
                </a:cubicBezTo>
                <a:lnTo>
                  <a:pt x="0" y="69274"/>
                </a:lnTo>
                <a:cubicBezTo>
                  <a:pt x="0" y="31041"/>
                  <a:pt x="31041" y="0"/>
                  <a:pt x="69274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36"/>
          <p:cNvSpPr/>
          <p:nvPr/>
        </p:nvSpPr>
        <p:spPr>
          <a:xfrm>
            <a:off x="6424920" y="1489680"/>
            <a:ext cx="259560" cy="207360"/>
          </a:xfrm>
          <a:custGeom>
            <a:avLst/>
            <a:gdLst>
              <a:gd name="textAreaLeft" fmla="*/ 0 w 259560"/>
              <a:gd name="textAreaRight" fmla="*/ 259920 w 259560"/>
              <a:gd name="textAreaTop" fmla="*/ 0 h 207360"/>
              <a:gd name="textAreaBottom" fmla="*/ 207720 h 207360"/>
            </a:gdLst>
            <a:ahLst/>
            <a:rect l="textAreaLeft" t="textAreaTop" r="textAreaRight" b="textAreaBottom"/>
            <a:pathLst>
              <a:path w="259773" h="207818">
                <a:moveTo>
                  <a:pt x="0" y="103909"/>
                </a:moveTo>
                <a:cubicBezTo>
                  <a:pt x="0" y="68028"/>
                  <a:pt x="29062" y="38966"/>
                  <a:pt x="64943" y="38966"/>
                </a:cubicBezTo>
                <a:cubicBezTo>
                  <a:pt x="85400" y="38966"/>
                  <a:pt x="104640" y="48586"/>
                  <a:pt x="116898" y="64943"/>
                </a:cubicBezTo>
                <a:lnTo>
                  <a:pt x="129886" y="82275"/>
                </a:lnTo>
                <a:lnTo>
                  <a:pt x="142875" y="64943"/>
                </a:lnTo>
                <a:cubicBezTo>
                  <a:pt x="155133" y="48586"/>
                  <a:pt x="174372" y="38966"/>
                  <a:pt x="194830" y="38966"/>
                </a:cubicBezTo>
                <a:cubicBezTo>
                  <a:pt x="230711" y="38966"/>
                  <a:pt x="259773" y="68028"/>
                  <a:pt x="259773" y="103909"/>
                </a:cubicBezTo>
                <a:cubicBezTo>
                  <a:pt x="259773" y="139790"/>
                  <a:pt x="230711" y="168852"/>
                  <a:pt x="194830" y="168852"/>
                </a:cubicBezTo>
                <a:cubicBezTo>
                  <a:pt x="174372" y="168852"/>
                  <a:pt x="155133" y="159233"/>
                  <a:pt x="142875" y="142875"/>
                </a:cubicBezTo>
                <a:lnTo>
                  <a:pt x="129886" y="125543"/>
                </a:lnTo>
                <a:lnTo>
                  <a:pt x="116898" y="142875"/>
                </a:lnTo>
                <a:cubicBezTo>
                  <a:pt x="104640" y="159233"/>
                  <a:pt x="85400" y="168852"/>
                  <a:pt x="64943" y="168852"/>
                </a:cubicBezTo>
                <a:cubicBezTo>
                  <a:pt x="29062" y="168852"/>
                  <a:pt x="0" y="139790"/>
                  <a:pt x="0" y="103909"/>
                </a:cubicBezTo>
                <a:close/>
                <a:moveTo>
                  <a:pt x="113651" y="103909"/>
                </a:moveTo>
                <a:lnTo>
                  <a:pt x="96116" y="80530"/>
                </a:lnTo>
                <a:cubicBezTo>
                  <a:pt x="88769" y="70707"/>
                  <a:pt x="77201" y="64943"/>
                  <a:pt x="64943" y="64943"/>
                </a:cubicBezTo>
                <a:cubicBezTo>
                  <a:pt x="43431" y="64943"/>
                  <a:pt x="25977" y="82397"/>
                  <a:pt x="25977" y="103909"/>
                </a:cubicBezTo>
                <a:cubicBezTo>
                  <a:pt x="25977" y="125422"/>
                  <a:pt x="43431" y="142875"/>
                  <a:pt x="64943" y="142875"/>
                </a:cubicBezTo>
                <a:cubicBezTo>
                  <a:pt x="77201" y="142875"/>
                  <a:pt x="88769" y="137111"/>
                  <a:pt x="96116" y="127289"/>
                </a:cubicBezTo>
                <a:lnTo>
                  <a:pt x="113651" y="103909"/>
                </a:lnTo>
                <a:close/>
                <a:moveTo>
                  <a:pt x="146122" y="103909"/>
                </a:moveTo>
                <a:lnTo>
                  <a:pt x="163657" y="127289"/>
                </a:lnTo>
                <a:cubicBezTo>
                  <a:pt x="171004" y="137111"/>
                  <a:pt x="182572" y="142875"/>
                  <a:pt x="194830" y="142875"/>
                </a:cubicBezTo>
                <a:cubicBezTo>
                  <a:pt x="216342" y="142875"/>
                  <a:pt x="233795" y="125422"/>
                  <a:pt x="233795" y="103909"/>
                </a:cubicBezTo>
                <a:cubicBezTo>
                  <a:pt x="233795" y="82397"/>
                  <a:pt x="216342" y="64943"/>
                  <a:pt x="194830" y="64943"/>
                </a:cubicBezTo>
                <a:cubicBezTo>
                  <a:pt x="182572" y="64943"/>
                  <a:pt x="171004" y="70707"/>
                  <a:pt x="163657" y="80530"/>
                </a:cubicBezTo>
                <a:lnTo>
                  <a:pt x="146122" y="103909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 37"/>
          <p:cNvSpPr/>
          <p:nvPr/>
        </p:nvSpPr>
        <p:spPr>
          <a:xfrm>
            <a:off x="6866640" y="1455120"/>
            <a:ext cx="90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640" spc="-1" strike="noStrike">
                <a:solidFill>
                  <a:srgbClr val="ff8a65"/>
                </a:solidFill>
                <a:latin typeface="Liter"/>
                <a:ea typeface="Liter"/>
              </a:rPr>
              <a:t>DataOps</a:t>
            </a:r>
            <a:endParaRPr b="0" lang="en-US" sz="16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Text 38"/>
          <p:cNvSpPr/>
          <p:nvPr/>
        </p:nvSpPr>
        <p:spPr>
          <a:xfrm>
            <a:off x="6347160" y="1940040"/>
            <a:ext cx="5385600" cy="4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09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Applying DevOps principles to data: automation, collaboration, and continuous improvement across the entire data lifecycle.</a:t>
            </a:r>
            <a:endParaRPr b="0" lang="en-US" sz="10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Shape 39"/>
          <p:cNvSpPr/>
          <p:nvPr/>
        </p:nvSpPr>
        <p:spPr>
          <a:xfrm>
            <a:off x="6347160" y="2529000"/>
            <a:ext cx="5316480" cy="623160"/>
          </a:xfrm>
          <a:custGeom>
            <a:avLst/>
            <a:gdLst>
              <a:gd name="textAreaLeft" fmla="*/ 0 w 5316480"/>
              <a:gd name="textAreaRight" fmla="*/ 5316840 w 531648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5316682" h="623455">
                <a:moveTo>
                  <a:pt x="69272" y="0"/>
                </a:moveTo>
                <a:lnTo>
                  <a:pt x="5247410" y="0"/>
                </a:lnTo>
                <a:cubicBezTo>
                  <a:pt x="5285642" y="0"/>
                  <a:pt x="5316682" y="31040"/>
                  <a:pt x="5316682" y="69272"/>
                </a:cubicBezTo>
                <a:lnTo>
                  <a:pt x="5316682" y="554183"/>
                </a:lnTo>
                <a:cubicBezTo>
                  <a:pt x="5316682" y="592440"/>
                  <a:pt x="5285668" y="623455"/>
                  <a:pt x="5247410" y="623455"/>
                </a:cubicBezTo>
                <a:lnTo>
                  <a:pt x="69272" y="623455"/>
                </a:lnTo>
                <a:cubicBezTo>
                  <a:pt x="31040" y="623455"/>
                  <a:pt x="0" y="592415"/>
                  <a:pt x="0" y="554183"/>
                </a:cubicBezTo>
                <a:lnTo>
                  <a:pt x="0" y="69272"/>
                </a:lnTo>
                <a:cubicBezTo>
                  <a:pt x="0" y="31040"/>
                  <a:pt x="31040" y="0"/>
                  <a:pt x="69272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40"/>
          <p:cNvSpPr/>
          <p:nvPr/>
        </p:nvSpPr>
        <p:spPr>
          <a:xfrm>
            <a:off x="6477120" y="2667600"/>
            <a:ext cx="120960" cy="138240"/>
          </a:xfrm>
          <a:custGeom>
            <a:avLst/>
            <a:gdLst>
              <a:gd name="textAreaLeft" fmla="*/ 0 w 120960"/>
              <a:gd name="textAreaRight" fmla="*/ 121320 w 120960"/>
              <a:gd name="textAreaTop" fmla="*/ 0 h 138240"/>
              <a:gd name="textAreaBottom" fmla="*/ 138600 h 138240"/>
            </a:gdLst>
            <a:ahLst/>
            <a:rect l="textAreaLeft" t="textAreaTop" r="textAreaRight" b="textAreaBottom"/>
            <a:pathLst>
              <a:path w="121227" h="138545">
                <a:moveTo>
                  <a:pt x="21648" y="28142"/>
                </a:moveTo>
                <a:cubicBezTo>
                  <a:pt x="25232" y="28142"/>
                  <a:pt x="28142" y="25232"/>
                  <a:pt x="28142" y="21648"/>
                </a:cubicBezTo>
                <a:cubicBezTo>
                  <a:pt x="28142" y="18063"/>
                  <a:pt x="25232" y="15153"/>
                  <a:pt x="21648" y="15153"/>
                </a:cubicBezTo>
                <a:cubicBezTo>
                  <a:pt x="18063" y="15153"/>
                  <a:pt x="15153" y="18063"/>
                  <a:pt x="15153" y="21648"/>
                </a:cubicBezTo>
                <a:cubicBezTo>
                  <a:pt x="15153" y="25232"/>
                  <a:pt x="18063" y="28142"/>
                  <a:pt x="21648" y="28142"/>
                </a:cubicBezTo>
                <a:close/>
                <a:moveTo>
                  <a:pt x="43295" y="21648"/>
                </a:moveTo>
                <a:cubicBezTo>
                  <a:pt x="43295" y="30523"/>
                  <a:pt x="37965" y="38154"/>
                  <a:pt x="30307" y="41482"/>
                </a:cubicBezTo>
                <a:lnTo>
                  <a:pt x="30307" y="60614"/>
                </a:lnTo>
                <a:lnTo>
                  <a:pt x="77932" y="60614"/>
                </a:lnTo>
                <a:cubicBezTo>
                  <a:pt x="85103" y="60614"/>
                  <a:pt x="90920" y="54796"/>
                  <a:pt x="90920" y="47625"/>
                </a:cubicBezTo>
                <a:lnTo>
                  <a:pt x="90920" y="41482"/>
                </a:lnTo>
                <a:cubicBezTo>
                  <a:pt x="83263" y="38154"/>
                  <a:pt x="77932" y="30523"/>
                  <a:pt x="77932" y="21648"/>
                </a:cubicBezTo>
                <a:cubicBezTo>
                  <a:pt x="77932" y="9687"/>
                  <a:pt x="87619" y="0"/>
                  <a:pt x="99580" y="0"/>
                </a:cubicBezTo>
                <a:cubicBezTo>
                  <a:pt x="111540" y="0"/>
                  <a:pt x="121227" y="9687"/>
                  <a:pt x="121227" y="21648"/>
                </a:cubicBezTo>
                <a:cubicBezTo>
                  <a:pt x="121227" y="30523"/>
                  <a:pt x="115897" y="38154"/>
                  <a:pt x="108239" y="41482"/>
                </a:cubicBezTo>
                <a:lnTo>
                  <a:pt x="108239" y="47625"/>
                </a:lnTo>
                <a:cubicBezTo>
                  <a:pt x="108239" y="64375"/>
                  <a:pt x="94682" y="77932"/>
                  <a:pt x="77932" y="77932"/>
                </a:cubicBezTo>
                <a:lnTo>
                  <a:pt x="30307" y="77932"/>
                </a:lnTo>
                <a:lnTo>
                  <a:pt x="30307" y="97063"/>
                </a:lnTo>
                <a:cubicBezTo>
                  <a:pt x="37965" y="100391"/>
                  <a:pt x="43295" y="108022"/>
                  <a:pt x="43295" y="116898"/>
                </a:cubicBezTo>
                <a:cubicBezTo>
                  <a:pt x="43295" y="128858"/>
                  <a:pt x="33608" y="138545"/>
                  <a:pt x="21648" y="138545"/>
                </a:cubicBezTo>
                <a:cubicBezTo>
                  <a:pt x="9687" y="138545"/>
                  <a:pt x="0" y="128858"/>
                  <a:pt x="0" y="116898"/>
                </a:cubicBezTo>
                <a:cubicBezTo>
                  <a:pt x="0" y="108022"/>
                  <a:pt x="5331" y="100391"/>
                  <a:pt x="12989" y="97063"/>
                </a:cubicBezTo>
                <a:lnTo>
                  <a:pt x="12989" y="41510"/>
                </a:lnTo>
                <a:cubicBezTo>
                  <a:pt x="5331" y="38154"/>
                  <a:pt x="0" y="30523"/>
                  <a:pt x="0" y="21648"/>
                </a:cubicBezTo>
                <a:cubicBezTo>
                  <a:pt x="0" y="9687"/>
                  <a:pt x="9687" y="0"/>
                  <a:pt x="21648" y="0"/>
                </a:cubicBezTo>
                <a:cubicBezTo>
                  <a:pt x="33608" y="0"/>
                  <a:pt x="43295" y="9687"/>
                  <a:pt x="43295" y="21648"/>
                </a:cubicBezTo>
                <a:close/>
                <a:moveTo>
                  <a:pt x="106074" y="21648"/>
                </a:moveTo>
                <a:cubicBezTo>
                  <a:pt x="106074" y="18063"/>
                  <a:pt x="103164" y="15153"/>
                  <a:pt x="99580" y="15153"/>
                </a:cubicBezTo>
                <a:cubicBezTo>
                  <a:pt x="95995" y="15153"/>
                  <a:pt x="93085" y="18063"/>
                  <a:pt x="93085" y="21648"/>
                </a:cubicBezTo>
                <a:cubicBezTo>
                  <a:pt x="93085" y="25232"/>
                  <a:pt x="95995" y="28142"/>
                  <a:pt x="99580" y="28142"/>
                </a:cubicBezTo>
                <a:cubicBezTo>
                  <a:pt x="103164" y="28142"/>
                  <a:pt x="106074" y="25232"/>
                  <a:pt x="106074" y="21648"/>
                </a:cubicBezTo>
                <a:close/>
                <a:moveTo>
                  <a:pt x="21648" y="123392"/>
                </a:moveTo>
                <a:cubicBezTo>
                  <a:pt x="25232" y="123392"/>
                  <a:pt x="28142" y="120482"/>
                  <a:pt x="28142" y="116898"/>
                </a:cubicBezTo>
                <a:cubicBezTo>
                  <a:pt x="28142" y="113313"/>
                  <a:pt x="25232" y="110403"/>
                  <a:pt x="21648" y="110403"/>
                </a:cubicBezTo>
                <a:cubicBezTo>
                  <a:pt x="18063" y="110403"/>
                  <a:pt x="15153" y="113313"/>
                  <a:pt x="15153" y="116898"/>
                </a:cubicBezTo>
                <a:cubicBezTo>
                  <a:pt x="15153" y="120482"/>
                  <a:pt x="18063" y="123392"/>
                  <a:pt x="21648" y="123392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 41"/>
          <p:cNvSpPr/>
          <p:nvPr/>
        </p:nvSpPr>
        <p:spPr>
          <a:xfrm>
            <a:off x="6671520" y="2632680"/>
            <a:ext cx="495720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09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Version Control</a:t>
            </a:r>
            <a:endParaRPr b="0" lang="en-US" sz="10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Text 42"/>
          <p:cNvSpPr/>
          <p:nvPr/>
        </p:nvSpPr>
        <p:spPr>
          <a:xfrm>
            <a:off x="6451200" y="2875320"/>
            <a:ext cx="516924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Git for data pipelines, models, and configurations with branching strategies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Shape 43"/>
          <p:cNvSpPr/>
          <p:nvPr/>
        </p:nvSpPr>
        <p:spPr>
          <a:xfrm>
            <a:off x="6347160" y="3256200"/>
            <a:ext cx="5316480" cy="623160"/>
          </a:xfrm>
          <a:custGeom>
            <a:avLst/>
            <a:gdLst>
              <a:gd name="textAreaLeft" fmla="*/ 0 w 5316480"/>
              <a:gd name="textAreaRight" fmla="*/ 5316840 w 531648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5316682" h="623455">
                <a:moveTo>
                  <a:pt x="69272" y="0"/>
                </a:moveTo>
                <a:lnTo>
                  <a:pt x="5247410" y="0"/>
                </a:lnTo>
                <a:cubicBezTo>
                  <a:pt x="5285642" y="0"/>
                  <a:pt x="5316682" y="31040"/>
                  <a:pt x="5316682" y="69272"/>
                </a:cubicBezTo>
                <a:lnTo>
                  <a:pt x="5316682" y="554183"/>
                </a:lnTo>
                <a:cubicBezTo>
                  <a:pt x="5316682" y="592440"/>
                  <a:pt x="5285668" y="623455"/>
                  <a:pt x="5247410" y="623455"/>
                </a:cubicBezTo>
                <a:lnTo>
                  <a:pt x="69272" y="623455"/>
                </a:lnTo>
                <a:cubicBezTo>
                  <a:pt x="31040" y="623455"/>
                  <a:pt x="0" y="592415"/>
                  <a:pt x="0" y="554183"/>
                </a:cubicBezTo>
                <a:lnTo>
                  <a:pt x="0" y="69272"/>
                </a:lnTo>
                <a:cubicBezTo>
                  <a:pt x="0" y="31040"/>
                  <a:pt x="31040" y="0"/>
                  <a:pt x="69272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44"/>
          <p:cNvSpPr/>
          <p:nvPr/>
        </p:nvSpPr>
        <p:spPr>
          <a:xfrm>
            <a:off x="6468480" y="3394800"/>
            <a:ext cx="138240" cy="138240"/>
          </a:xfrm>
          <a:custGeom>
            <a:avLst/>
            <a:gdLst>
              <a:gd name="textAreaLeft" fmla="*/ 0 w 138240"/>
              <a:gd name="textAreaRight" fmla="*/ 138600 w 138240"/>
              <a:gd name="textAreaTop" fmla="*/ 0 h 138240"/>
              <a:gd name="textAreaBottom" fmla="*/ 138600 h 138240"/>
            </a:gdLst>
            <a:ahLst/>
            <a:rect l="textAreaLeft" t="textAreaTop" r="textAreaRight" b="textAreaBottom"/>
            <a:pathLst>
              <a:path w="138545" h="138545">
                <a:moveTo>
                  <a:pt x="92706" y="2544"/>
                </a:moveTo>
                <a:cubicBezTo>
                  <a:pt x="89324" y="-839"/>
                  <a:pt x="83831" y="-839"/>
                  <a:pt x="80448" y="2544"/>
                </a:cubicBezTo>
                <a:cubicBezTo>
                  <a:pt x="77066" y="5926"/>
                  <a:pt x="77066" y="11419"/>
                  <a:pt x="80448" y="14802"/>
                </a:cubicBezTo>
                <a:lnTo>
                  <a:pt x="82992" y="17318"/>
                </a:lnTo>
                <a:lnTo>
                  <a:pt x="7604" y="92706"/>
                </a:lnTo>
                <a:cubicBezTo>
                  <a:pt x="2733" y="97577"/>
                  <a:pt x="0" y="104180"/>
                  <a:pt x="0" y="111080"/>
                </a:cubicBezTo>
                <a:lnTo>
                  <a:pt x="0" y="112568"/>
                </a:lnTo>
                <a:cubicBezTo>
                  <a:pt x="0" y="126910"/>
                  <a:pt x="11636" y="138545"/>
                  <a:pt x="25977" y="138545"/>
                </a:cubicBezTo>
                <a:lnTo>
                  <a:pt x="27466" y="138545"/>
                </a:lnTo>
                <a:cubicBezTo>
                  <a:pt x="34366" y="138545"/>
                  <a:pt x="40968" y="135812"/>
                  <a:pt x="45839" y="130942"/>
                </a:cubicBezTo>
                <a:lnTo>
                  <a:pt x="121227" y="55553"/>
                </a:lnTo>
                <a:lnTo>
                  <a:pt x="123771" y="58097"/>
                </a:lnTo>
                <a:cubicBezTo>
                  <a:pt x="127153" y="61480"/>
                  <a:pt x="132646" y="61480"/>
                  <a:pt x="136029" y="58097"/>
                </a:cubicBezTo>
                <a:cubicBezTo>
                  <a:pt x="139411" y="54715"/>
                  <a:pt x="139411" y="49222"/>
                  <a:pt x="136029" y="45839"/>
                </a:cubicBezTo>
                <a:lnTo>
                  <a:pt x="92733" y="2544"/>
                </a:lnTo>
                <a:close/>
                <a:moveTo>
                  <a:pt x="55553" y="69273"/>
                </a:moveTo>
                <a:lnTo>
                  <a:pt x="95250" y="29576"/>
                </a:lnTo>
                <a:lnTo>
                  <a:pt x="108969" y="43295"/>
                </a:lnTo>
                <a:lnTo>
                  <a:pt x="82992" y="69273"/>
                </a:lnTo>
                <a:lnTo>
                  <a:pt x="55526" y="69273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 45"/>
          <p:cNvSpPr/>
          <p:nvPr/>
        </p:nvSpPr>
        <p:spPr>
          <a:xfrm>
            <a:off x="6671520" y="3360240"/>
            <a:ext cx="495720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09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Automated Testing</a:t>
            </a:r>
            <a:endParaRPr b="0" lang="en-US" sz="10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Text 46"/>
          <p:cNvSpPr/>
          <p:nvPr/>
        </p:nvSpPr>
        <p:spPr>
          <a:xfrm>
            <a:off x="6451200" y="3602520"/>
            <a:ext cx="516924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Unit tests, data quality tests, and integration tests in CI/CD pipelines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Shape 47"/>
          <p:cNvSpPr/>
          <p:nvPr/>
        </p:nvSpPr>
        <p:spPr>
          <a:xfrm>
            <a:off x="6347160" y="3983760"/>
            <a:ext cx="5316480" cy="623160"/>
          </a:xfrm>
          <a:custGeom>
            <a:avLst/>
            <a:gdLst>
              <a:gd name="textAreaLeft" fmla="*/ 0 w 5316480"/>
              <a:gd name="textAreaRight" fmla="*/ 5316840 w 531648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5316682" h="623455">
                <a:moveTo>
                  <a:pt x="69272" y="0"/>
                </a:moveTo>
                <a:lnTo>
                  <a:pt x="5247410" y="0"/>
                </a:lnTo>
                <a:cubicBezTo>
                  <a:pt x="5285642" y="0"/>
                  <a:pt x="5316682" y="31040"/>
                  <a:pt x="5316682" y="69272"/>
                </a:cubicBezTo>
                <a:lnTo>
                  <a:pt x="5316682" y="554183"/>
                </a:lnTo>
                <a:cubicBezTo>
                  <a:pt x="5316682" y="592440"/>
                  <a:pt x="5285668" y="623455"/>
                  <a:pt x="5247410" y="623455"/>
                </a:cubicBezTo>
                <a:lnTo>
                  <a:pt x="69272" y="623455"/>
                </a:lnTo>
                <a:cubicBezTo>
                  <a:pt x="31040" y="623455"/>
                  <a:pt x="0" y="592415"/>
                  <a:pt x="0" y="554183"/>
                </a:cubicBezTo>
                <a:lnTo>
                  <a:pt x="0" y="69272"/>
                </a:lnTo>
                <a:cubicBezTo>
                  <a:pt x="0" y="31040"/>
                  <a:pt x="31040" y="0"/>
                  <a:pt x="69272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48"/>
          <p:cNvSpPr/>
          <p:nvPr/>
        </p:nvSpPr>
        <p:spPr>
          <a:xfrm>
            <a:off x="6468480" y="4122360"/>
            <a:ext cx="138240" cy="138240"/>
          </a:xfrm>
          <a:custGeom>
            <a:avLst/>
            <a:gdLst>
              <a:gd name="textAreaLeft" fmla="*/ 0 w 138240"/>
              <a:gd name="textAreaRight" fmla="*/ 138600 w 138240"/>
              <a:gd name="textAreaTop" fmla="*/ 0 h 138240"/>
              <a:gd name="textAreaBottom" fmla="*/ 138600 h 138240"/>
            </a:gdLst>
            <a:ahLst/>
            <a:rect l="textAreaLeft" t="textAreaTop" r="textAreaRight" b="textAreaBottom"/>
            <a:pathLst>
              <a:path w="138545" h="138545">
                <a:moveTo>
                  <a:pt x="34636" y="86591"/>
                </a:moveTo>
                <a:lnTo>
                  <a:pt x="6630" y="86591"/>
                </a:lnTo>
                <a:cubicBezTo>
                  <a:pt x="-108" y="86591"/>
                  <a:pt x="-4248" y="79258"/>
                  <a:pt x="-785" y="73467"/>
                </a:cubicBezTo>
                <a:lnTo>
                  <a:pt x="13530" y="49600"/>
                </a:lnTo>
                <a:cubicBezTo>
                  <a:pt x="15884" y="45677"/>
                  <a:pt x="20105" y="43295"/>
                  <a:pt x="24678" y="43295"/>
                </a:cubicBezTo>
                <a:lnTo>
                  <a:pt x="50385" y="43295"/>
                </a:lnTo>
                <a:cubicBezTo>
                  <a:pt x="70977" y="8416"/>
                  <a:pt x="101690" y="6657"/>
                  <a:pt x="122228" y="9660"/>
                </a:cubicBezTo>
                <a:cubicBezTo>
                  <a:pt x="125692" y="10174"/>
                  <a:pt x="128398" y="12880"/>
                  <a:pt x="128885" y="16317"/>
                </a:cubicBezTo>
                <a:cubicBezTo>
                  <a:pt x="131889" y="36855"/>
                  <a:pt x="130130" y="67568"/>
                  <a:pt x="95250" y="88160"/>
                </a:cubicBezTo>
                <a:lnTo>
                  <a:pt x="95250" y="113867"/>
                </a:lnTo>
                <a:cubicBezTo>
                  <a:pt x="95250" y="118440"/>
                  <a:pt x="92869" y="122661"/>
                  <a:pt x="88945" y="125016"/>
                </a:cubicBezTo>
                <a:lnTo>
                  <a:pt x="65078" y="139330"/>
                </a:lnTo>
                <a:cubicBezTo>
                  <a:pt x="59315" y="142794"/>
                  <a:pt x="51955" y="138627"/>
                  <a:pt x="51955" y="131916"/>
                </a:cubicBezTo>
                <a:lnTo>
                  <a:pt x="51955" y="103909"/>
                </a:lnTo>
                <a:cubicBezTo>
                  <a:pt x="51955" y="94357"/>
                  <a:pt x="44188" y="86591"/>
                  <a:pt x="34636" y="86591"/>
                </a:cubicBezTo>
                <a:lnTo>
                  <a:pt x="34609" y="86591"/>
                </a:lnTo>
                <a:close/>
                <a:moveTo>
                  <a:pt x="108239" y="43295"/>
                </a:moveTo>
                <a:cubicBezTo>
                  <a:pt x="108239" y="36127"/>
                  <a:pt x="102419" y="30307"/>
                  <a:pt x="95250" y="30307"/>
                </a:cubicBezTo>
                <a:cubicBezTo>
                  <a:pt x="88081" y="30307"/>
                  <a:pt x="82261" y="36127"/>
                  <a:pt x="82261" y="43295"/>
                </a:cubicBezTo>
                <a:cubicBezTo>
                  <a:pt x="82261" y="50464"/>
                  <a:pt x="88081" y="56284"/>
                  <a:pt x="95250" y="56284"/>
                </a:cubicBezTo>
                <a:cubicBezTo>
                  <a:pt x="102419" y="56284"/>
                  <a:pt x="108239" y="50464"/>
                  <a:pt x="108239" y="43295"/>
                </a:cubicBez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 49"/>
          <p:cNvSpPr/>
          <p:nvPr/>
        </p:nvSpPr>
        <p:spPr>
          <a:xfrm>
            <a:off x="6671520" y="4087440"/>
            <a:ext cx="495720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09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CI/CD for Data</a:t>
            </a:r>
            <a:endParaRPr b="0" lang="en-US" sz="10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50"/>
          <p:cNvSpPr/>
          <p:nvPr/>
        </p:nvSpPr>
        <p:spPr>
          <a:xfrm>
            <a:off x="6451200" y="4330080"/>
            <a:ext cx="516924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Automated deployment with environment promotion and rollback capabilities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Shape 51"/>
          <p:cNvSpPr/>
          <p:nvPr/>
        </p:nvSpPr>
        <p:spPr>
          <a:xfrm>
            <a:off x="6347160" y="4710960"/>
            <a:ext cx="5316480" cy="623160"/>
          </a:xfrm>
          <a:custGeom>
            <a:avLst/>
            <a:gdLst>
              <a:gd name="textAreaLeft" fmla="*/ 0 w 5316480"/>
              <a:gd name="textAreaRight" fmla="*/ 5316840 w 5316480"/>
              <a:gd name="textAreaTop" fmla="*/ 0 h 623160"/>
              <a:gd name="textAreaBottom" fmla="*/ 623520 h 623160"/>
            </a:gdLst>
            <a:ahLst/>
            <a:rect l="textAreaLeft" t="textAreaTop" r="textAreaRight" b="textAreaBottom"/>
            <a:pathLst>
              <a:path w="5316682" h="623455">
                <a:moveTo>
                  <a:pt x="69272" y="0"/>
                </a:moveTo>
                <a:lnTo>
                  <a:pt x="5247410" y="0"/>
                </a:lnTo>
                <a:cubicBezTo>
                  <a:pt x="5285642" y="0"/>
                  <a:pt x="5316682" y="31040"/>
                  <a:pt x="5316682" y="69272"/>
                </a:cubicBezTo>
                <a:lnTo>
                  <a:pt x="5316682" y="554183"/>
                </a:lnTo>
                <a:cubicBezTo>
                  <a:pt x="5316682" y="592440"/>
                  <a:pt x="5285668" y="623455"/>
                  <a:pt x="5247410" y="623455"/>
                </a:cubicBezTo>
                <a:lnTo>
                  <a:pt x="69272" y="623455"/>
                </a:lnTo>
                <a:cubicBezTo>
                  <a:pt x="31040" y="623455"/>
                  <a:pt x="0" y="592415"/>
                  <a:pt x="0" y="554183"/>
                </a:cubicBezTo>
                <a:lnTo>
                  <a:pt x="0" y="69272"/>
                </a:lnTo>
                <a:cubicBezTo>
                  <a:pt x="0" y="31040"/>
                  <a:pt x="31040" y="0"/>
                  <a:pt x="69272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52"/>
          <p:cNvSpPr/>
          <p:nvPr/>
        </p:nvSpPr>
        <p:spPr>
          <a:xfrm>
            <a:off x="6451200" y="4849560"/>
            <a:ext cx="172800" cy="138240"/>
          </a:xfrm>
          <a:custGeom>
            <a:avLst/>
            <a:gdLst>
              <a:gd name="textAreaLeft" fmla="*/ 0 w 172800"/>
              <a:gd name="textAreaRight" fmla="*/ 173160 w 172800"/>
              <a:gd name="textAreaTop" fmla="*/ 0 h 138240"/>
              <a:gd name="textAreaBottom" fmla="*/ 138600 h 138240"/>
            </a:gdLst>
            <a:ahLst/>
            <a:rect l="textAreaLeft" t="textAreaTop" r="textAreaRight" b="textAreaBottom"/>
            <a:pathLst>
              <a:path w="173182" h="138545">
                <a:moveTo>
                  <a:pt x="86591" y="4330"/>
                </a:moveTo>
                <a:cubicBezTo>
                  <a:pt x="102123" y="4330"/>
                  <a:pt x="114733" y="16940"/>
                  <a:pt x="114733" y="32472"/>
                </a:cubicBezTo>
                <a:cubicBezTo>
                  <a:pt x="114733" y="48004"/>
                  <a:pt x="102123" y="60614"/>
                  <a:pt x="86591" y="60614"/>
                </a:cubicBezTo>
                <a:cubicBezTo>
                  <a:pt x="71059" y="60614"/>
                  <a:pt x="58449" y="48004"/>
                  <a:pt x="58449" y="32472"/>
                </a:cubicBezTo>
                <a:cubicBezTo>
                  <a:pt x="58449" y="16940"/>
                  <a:pt x="71059" y="4330"/>
                  <a:pt x="86591" y="4330"/>
                </a:cubicBezTo>
                <a:close/>
                <a:moveTo>
                  <a:pt x="25977" y="23813"/>
                </a:moveTo>
                <a:cubicBezTo>
                  <a:pt x="36730" y="23813"/>
                  <a:pt x="45460" y="32543"/>
                  <a:pt x="45460" y="43295"/>
                </a:cubicBezTo>
                <a:cubicBezTo>
                  <a:pt x="45460" y="54048"/>
                  <a:pt x="36730" y="62778"/>
                  <a:pt x="25977" y="62778"/>
                </a:cubicBezTo>
                <a:cubicBezTo>
                  <a:pt x="15224" y="62778"/>
                  <a:pt x="6494" y="54048"/>
                  <a:pt x="6494" y="43295"/>
                </a:cubicBezTo>
                <a:cubicBezTo>
                  <a:pt x="6494" y="32543"/>
                  <a:pt x="15224" y="23813"/>
                  <a:pt x="25977" y="23813"/>
                </a:cubicBezTo>
                <a:close/>
                <a:moveTo>
                  <a:pt x="0" y="112568"/>
                </a:moveTo>
                <a:cubicBezTo>
                  <a:pt x="0" y="93437"/>
                  <a:pt x="15505" y="77932"/>
                  <a:pt x="34636" y="77932"/>
                </a:cubicBezTo>
                <a:cubicBezTo>
                  <a:pt x="38100" y="77932"/>
                  <a:pt x="41455" y="78446"/>
                  <a:pt x="44621" y="79393"/>
                </a:cubicBezTo>
                <a:cubicBezTo>
                  <a:pt x="35719" y="89351"/>
                  <a:pt x="30307" y="102502"/>
                  <a:pt x="30307" y="116898"/>
                </a:cubicBezTo>
                <a:lnTo>
                  <a:pt x="30307" y="121227"/>
                </a:lnTo>
                <a:cubicBezTo>
                  <a:pt x="30307" y="124312"/>
                  <a:pt x="30956" y="127235"/>
                  <a:pt x="32120" y="129886"/>
                </a:cubicBezTo>
                <a:lnTo>
                  <a:pt x="8659" y="129886"/>
                </a:lnTo>
                <a:cubicBezTo>
                  <a:pt x="3870" y="129886"/>
                  <a:pt x="0" y="126017"/>
                  <a:pt x="0" y="121227"/>
                </a:cubicBezTo>
                <a:lnTo>
                  <a:pt x="0" y="112568"/>
                </a:lnTo>
                <a:close/>
                <a:moveTo>
                  <a:pt x="141062" y="129886"/>
                </a:moveTo>
                <a:cubicBezTo>
                  <a:pt x="142226" y="127235"/>
                  <a:pt x="142875" y="124312"/>
                  <a:pt x="142875" y="121227"/>
                </a:cubicBezTo>
                <a:lnTo>
                  <a:pt x="142875" y="116898"/>
                </a:lnTo>
                <a:cubicBezTo>
                  <a:pt x="142875" y="102502"/>
                  <a:pt x="137463" y="89351"/>
                  <a:pt x="128560" y="79393"/>
                </a:cubicBezTo>
                <a:cubicBezTo>
                  <a:pt x="131726" y="78446"/>
                  <a:pt x="135082" y="77932"/>
                  <a:pt x="138545" y="77932"/>
                </a:cubicBezTo>
                <a:cubicBezTo>
                  <a:pt x="157677" y="77932"/>
                  <a:pt x="173182" y="93437"/>
                  <a:pt x="173182" y="112568"/>
                </a:cubicBezTo>
                <a:lnTo>
                  <a:pt x="173182" y="121227"/>
                </a:lnTo>
                <a:cubicBezTo>
                  <a:pt x="173182" y="126017"/>
                  <a:pt x="169312" y="129886"/>
                  <a:pt x="164523" y="129886"/>
                </a:cubicBezTo>
                <a:lnTo>
                  <a:pt x="141062" y="129886"/>
                </a:lnTo>
                <a:close/>
                <a:moveTo>
                  <a:pt x="127722" y="43295"/>
                </a:moveTo>
                <a:cubicBezTo>
                  <a:pt x="127722" y="32543"/>
                  <a:pt x="136452" y="23813"/>
                  <a:pt x="147205" y="23813"/>
                </a:cubicBezTo>
                <a:cubicBezTo>
                  <a:pt x="157957" y="23813"/>
                  <a:pt x="166688" y="32543"/>
                  <a:pt x="166688" y="43295"/>
                </a:cubicBezTo>
                <a:cubicBezTo>
                  <a:pt x="166688" y="54048"/>
                  <a:pt x="157957" y="62778"/>
                  <a:pt x="147205" y="62778"/>
                </a:cubicBezTo>
                <a:cubicBezTo>
                  <a:pt x="136452" y="62778"/>
                  <a:pt x="127722" y="54048"/>
                  <a:pt x="127722" y="43295"/>
                </a:cubicBezTo>
                <a:close/>
                <a:moveTo>
                  <a:pt x="43295" y="116898"/>
                </a:moveTo>
                <a:cubicBezTo>
                  <a:pt x="43295" y="92977"/>
                  <a:pt x="62670" y="73602"/>
                  <a:pt x="86591" y="73602"/>
                </a:cubicBezTo>
                <a:cubicBezTo>
                  <a:pt x="110512" y="73602"/>
                  <a:pt x="129886" y="92977"/>
                  <a:pt x="129886" y="116898"/>
                </a:cubicBezTo>
                <a:lnTo>
                  <a:pt x="129886" y="121227"/>
                </a:lnTo>
                <a:cubicBezTo>
                  <a:pt x="129886" y="126017"/>
                  <a:pt x="126017" y="129886"/>
                  <a:pt x="121227" y="129886"/>
                </a:cubicBezTo>
                <a:lnTo>
                  <a:pt x="51955" y="129886"/>
                </a:lnTo>
                <a:cubicBezTo>
                  <a:pt x="47165" y="129886"/>
                  <a:pt x="43295" y="126017"/>
                  <a:pt x="43295" y="121227"/>
                </a:cubicBezTo>
                <a:lnTo>
                  <a:pt x="43295" y="116898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 53"/>
          <p:cNvSpPr/>
          <p:nvPr/>
        </p:nvSpPr>
        <p:spPr>
          <a:xfrm>
            <a:off x="6671520" y="4815000"/>
            <a:ext cx="495720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09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Collaboration</a:t>
            </a:r>
            <a:endParaRPr b="0" lang="en-US" sz="10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Text 54"/>
          <p:cNvSpPr/>
          <p:nvPr/>
        </p:nvSpPr>
        <p:spPr>
          <a:xfrm>
            <a:off x="6451200" y="5057280"/>
            <a:ext cx="516924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Cross-functional teams with shared ownership of data products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Shape 55"/>
          <p:cNvSpPr/>
          <p:nvPr/>
        </p:nvSpPr>
        <p:spPr>
          <a:xfrm>
            <a:off x="6169680" y="5731200"/>
            <a:ext cx="5671440" cy="978120"/>
          </a:xfrm>
          <a:custGeom>
            <a:avLst/>
            <a:gdLst>
              <a:gd name="textAreaLeft" fmla="*/ 0 w 5671440"/>
              <a:gd name="textAreaRight" fmla="*/ 5671800 w 5671440"/>
              <a:gd name="textAreaTop" fmla="*/ 0 h 978120"/>
              <a:gd name="textAreaBottom" fmla="*/ 978480 h 978120"/>
            </a:gdLst>
            <a:ahLst/>
            <a:rect l="textAreaLeft" t="textAreaTop" r="textAreaRight" b="textAreaBottom"/>
            <a:pathLst>
              <a:path w="5671705" h="978477">
                <a:moveTo>
                  <a:pt x="103905" y="0"/>
                </a:moveTo>
                <a:lnTo>
                  <a:pt x="5567800" y="0"/>
                </a:lnTo>
                <a:cubicBezTo>
                  <a:pt x="5625185" y="0"/>
                  <a:pt x="5671705" y="46520"/>
                  <a:pt x="5671705" y="103905"/>
                </a:cubicBezTo>
                <a:lnTo>
                  <a:pt x="5671705" y="874573"/>
                </a:lnTo>
                <a:cubicBezTo>
                  <a:pt x="5671705" y="931958"/>
                  <a:pt x="5625185" y="978477"/>
                  <a:pt x="5567800" y="978477"/>
                </a:cubicBezTo>
                <a:lnTo>
                  <a:pt x="103905" y="978477"/>
                </a:lnTo>
                <a:cubicBezTo>
                  <a:pt x="46520" y="978477"/>
                  <a:pt x="0" y="931958"/>
                  <a:pt x="0" y="874573"/>
                </a:cubicBezTo>
                <a:lnTo>
                  <a:pt x="0" y="103905"/>
                </a:lnTo>
                <a:cubicBezTo>
                  <a:pt x="0" y="46558"/>
                  <a:pt x="46558" y="0"/>
                  <a:pt x="103905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12700">
            <a:solidFill>
              <a:srgbClr val="4db6ac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Shape 56"/>
          <p:cNvSpPr/>
          <p:nvPr/>
        </p:nvSpPr>
        <p:spPr>
          <a:xfrm>
            <a:off x="6321240" y="5908680"/>
            <a:ext cx="155520" cy="138240"/>
          </a:xfrm>
          <a:custGeom>
            <a:avLst/>
            <a:gdLst>
              <a:gd name="textAreaLeft" fmla="*/ 0 w 155520"/>
              <a:gd name="textAreaRight" fmla="*/ 155880 w 155520"/>
              <a:gd name="textAreaTop" fmla="*/ 0 h 138240"/>
              <a:gd name="textAreaBottom" fmla="*/ 138600 h 138240"/>
            </a:gdLst>
            <a:ahLst/>
            <a:rect l="textAreaLeft" t="textAreaTop" r="textAreaRight" b="textAreaBottom"/>
            <a:pathLst>
              <a:path w="155864" h="138545">
                <a:moveTo>
                  <a:pt x="67108" y="23813"/>
                </a:moveTo>
                <a:lnTo>
                  <a:pt x="88756" y="23813"/>
                </a:lnTo>
                <a:lnTo>
                  <a:pt x="88756" y="36801"/>
                </a:lnTo>
                <a:lnTo>
                  <a:pt x="67108" y="36801"/>
                </a:lnTo>
                <a:lnTo>
                  <a:pt x="67108" y="23813"/>
                </a:lnTo>
                <a:close/>
                <a:moveTo>
                  <a:pt x="64943" y="8659"/>
                </a:moveTo>
                <a:cubicBezTo>
                  <a:pt x="57772" y="8659"/>
                  <a:pt x="51955" y="14477"/>
                  <a:pt x="51955" y="21648"/>
                </a:cubicBezTo>
                <a:lnTo>
                  <a:pt x="51955" y="38966"/>
                </a:lnTo>
                <a:cubicBezTo>
                  <a:pt x="51955" y="46137"/>
                  <a:pt x="57772" y="51955"/>
                  <a:pt x="64943" y="51955"/>
                </a:cubicBezTo>
                <a:lnTo>
                  <a:pt x="69273" y="51955"/>
                </a:lnTo>
                <a:lnTo>
                  <a:pt x="69273" y="60614"/>
                </a:lnTo>
                <a:lnTo>
                  <a:pt x="8659" y="60614"/>
                </a:lnTo>
                <a:cubicBezTo>
                  <a:pt x="3870" y="60614"/>
                  <a:pt x="0" y="64483"/>
                  <a:pt x="0" y="69273"/>
                </a:cubicBezTo>
                <a:cubicBezTo>
                  <a:pt x="0" y="74062"/>
                  <a:pt x="3870" y="77932"/>
                  <a:pt x="8659" y="77932"/>
                </a:cubicBezTo>
                <a:lnTo>
                  <a:pt x="34636" y="77932"/>
                </a:lnTo>
                <a:lnTo>
                  <a:pt x="34636" y="86591"/>
                </a:lnTo>
                <a:lnTo>
                  <a:pt x="30307" y="86591"/>
                </a:lnTo>
                <a:cubicBezTo>
                  <a:pt x="23136" y="86591"/>
                  <a:pt x="17318" y="92409"/>
                  <a:pt x="17318" y="99580"/>
                </a:cubicBezTo>
                <a:lnTo>
                  <a:pt x="17318" y="116898"/>
                </a:lnTo>
                <a:cubicBezTo>
                  <a:pt x="17318" y="124069"/>
                  <a:pt x="23136" y="129886"/>
                  <a:pt x="30307" y="129886"/>
                </a:cubicBezTo>
                <a:lnTo>
                  <a:pt x="56284" y="129886"/>
                </a:lnTo>
                <a:cubicBezTo>
                  <a:pt x="63455" y="129886"/>
                  <a:pt x="69273" y="124069"/>
                  <a:pt x="69273" y="116898"/>
                </a:cubicBezTo>
                <a:lnTo>
                  <a:pt x="69273" y="99580"/>
                </a:lnTo>
                <a:cubicBezTo>
                  <a:pt x="69273" y="92409"/>
                  <a:pt x="63455" y="86591"/>
                  <a:pt x="56284" y="86591"/>
                </a:cubicBezTo>
                <a:lnTo>
                  <a:pt x="51955" y="86591"/>
                </a:lnTo>
                <a:lnTo>
                  <a:pt x="51955" y="77932"/>
                </a:lnTo>
                <a:lnTo>
                  <a:pt x="103909" y="77932"/>
                </a:lnTo>
                <a:lnTo>
                  <a:pt x="103909" y="86591"/>
                </a:lnTo>
                <a:lnTo>
                  <a:pt x="99580" y="86591"/>
                </a:lnTo>
                <a:cubicBezTo>
                  <a:pt x="92409" y="86591"/>
                  <a:pt x="86591" y="92409"/>
                  <a:pt x="86591" y="99580"/>
                </a:cubicBezTo>
                <a:lnTo>
                  <a:pt x="86591" y="116898"/>
                </a:lnTo>
                <a:cubicBezTo>
                  <a:pt x="86591" y="124069"/>
                  <a:pt x="92409" y="129886"/>
                  <a:pt x="99580" y="129886"/>
                </a:cubicBezTo>
                <a:lnTo>
                  <a:pt x="125557" y="129886"/>
                </a:lnTo>
                <a:cubicBezTo>
                  <a:pt x="132728" y="129886"/>
                  <a:pt x="138545" y="124069"/>
                  <a:pt x="138545" y="116898"/>
                </a:cubicBezTo>
                <a:lnTo>
                  <a:pt x="138545" y="99580"/>
                </a:lnTo>
                <a:cubicBezTo>
                  <a:pt x="138545" y="92409"/>
                  <a:pt x="132728" y="86591"/>
                  <a:pt x="125557" y="86591"/>
                </a:cubicBezTo>
                <a:lnTo>
                  <a:pt x="121227" y="86591"/>
                </a:lnTo>
                <a:lnTo>
                  <a:pt x="121227" y="77932"/>
                </a:lnTo>
                <a:lnTo>
                  <a:pt x="147205" y="77932"/>
                </a:lnTo>
                <a:cubicBezTo>
                  <a:pt x="151994" y="77932"/>
                  <a:pt x="155864" y="74062"/>
                  <a:pt x="155864" y="69273"/>
                </a:cubicBezTo>
                <a:cubicBezTo>
                  <a:pt x="155864" y="64483"/>
                  <a:pt x="151994" y="60614"/>
                  <a:pt x="147205" y="60614"/>
                </a:cubicBezTo>
                <a:lnTo>
                  <a:pt x="86591" y="60614"/>
                </a:lnTo>
                <a:lnTo>
                  <a:pt x="86591" y="51955"/>
                </a:lnTo>
                <a:lnTo>
                  <a:pt x="90920" y="51955"/>
                </a:lnTo>
                <a:cubicBezTo>
                  <a:pt x="98091" y="51955"/>
                  <a:pt x="103909" y="46137"/>
                  <a:pt x="103909" y="38966"/>
                </a:cubicBezTo>
                <a:lnTo>
                  <a:pt x="103909" y="21648"/>
                </a:lnTo>
                <a:cubicBezTo>
                  <a:pt x="103909" y="14477"/>
                  <a:pt x="98091" y="8659"/>
                  <a:pt x="90920" y="8659"/>
                </a:cubicBezTo>
                <a:lnTo>
                  <a:pt x="64943" y="8659"/>
                </a:lnTo>
                <a:close/>
                <a:moveTo>
                  <a:pt x="121227" y="101744"/>
                </a:moveTo>
                <a:lnTo>
                  <a:pt x="123392" y="101744"/>
                </a:lnTo>
                <a:lnTo>
                  <a:pt x="123392" y="114733"/>
                </a:lnTo>
                <a:lnTo>
                  <a:pt x="101744" y="114733"/>
                </a:lnTo>
                <a:lnTo>
                  <a:pt x="101744" y="101744"/>
                </a:lnTo>
                <a:lnTo>
                  <a:pt x="121227" y="101744"/>
                </a:lnTo>
                <a:close/>
                <a:moveTo>
                  <a:pt x="51955" y="101744"/>
                </a:moveTo>
                <a:lnTo>
                  <a:pt x="54119" y="101744"/>
                </a:lnTo>
                <a:lnTo>
                  <a:pt x="54119" y="114733"/>
                </a:lnTo>
                <a:lnTo>
                  <a:pt x="32472" y="114733"/>
                </a:lnTo>
                <a:lnTo>
                  <a:pt x="32472" y="101744"/>
                </a:lnTo>
                <a:lnTo>
                  <a:pt x="51955" y="101744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57"/>
          <p:cNvSpPr/>
          <p:nvPr/>
        </p:nvSpPr>
        <p:spPr>
          <a:xfrm>
            <a:off x="6532920" y="5874120"/>
            <a:ext cx="523440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090" spc="-1" strike="noStrike">
                <a:solidFill>
                  <a:srgbClr val="ff8a65"/>
                </a:solidFill>
                <a:latin typeface="Liter"/>
                <a:ea typeface="Liter"/>
              </a:rPr>
              <a:t>Additional Trends</a:t>
            </a:r>
            <a:endParaRPr b="0" lang="en-US" sz="10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Shape 58"/>
          <p:cNvSpPr/>
          <p:nvPr/>
        </p:nvSpPr>
        <p:spPr>
          <a:xfrm>
            <a:off x="6329880" y="6177240"/>
            <a:ext cx="120960" cy="120960"/>
          </a:xfrm>
          <a:custGeom>
            <a:avLst/>
            <a:gdLst>
              <a:gd name="textAreaLeft" fmla="*/ 0 w 120960"/>
              <a:gd name="textAreaRight" fmla="*/ 121320 w 120960"/>
              <a:gd name="textAreaTop" fmla="*/ 0 h 120960"/>
              <a:gd name="textAreaBottom" fmla="*/ 121320 h 120960"/>
            </a:gdLst>
            <a:ahLst/>
            <a:rect l="textAreaLeft" t="textAreaTop" r="textAreaRight" b="textAreaBottom"/>
            <a:pathLst>
              <a:path w="121227" h="121227">
                <a:moveTo>
                  <a:pt x="0" y="22730"/>
                </a:moveTo>
                <a:cubicBezTo>
                  <a:pt x="0" y="18539"/>
                  <a:pt x="3386" y="15153"/>
                  <a:pt x="7577" y="15153"/>
                </a:cubicBezTo>
                <a:lnTo>
                  <a:pt x="98497" y="15153"/>
                </a:lnTo>
                <a:cubicBezTo>
                  <a:pt x="102688" y="15153"/>
                  <a:pt x="106074" y="18539"/>
                  <a:pt x="106074" y="22730"/>
                </a:cubicBezTo>
                <a:cubicBezTo>
                  <a:pt x="106074" y="26921"/>
                  <a:pt x="102688" y="30307"/>
                  <a:pt x="98497" y="30307"/>
                </a:cubicBezTo>
                <a:lnTo>
                  <a:pt x="7577" y="30307"/>
                </a:lnTo>
                <a:cubicBezTo>
                  <a:pt x="3386" y="30307"/>
                  <a:pt x="0" y="26921"/>
                  <a:pt x="0" y="22730"/>
                </a:cubicBezTo>
                <a:close/>
                <a:moveTo>
                  <a:pt x="15153" y="60614"/>
                </a:moveTo>
                <a:cubicBezTo>
                  <a:pt x="15153" y="56423"/>
                  <a:pt x="18539" y="53037"/>
                  <a:pt x="22730" y="53037"/>
                </a:cubicBezTo>
                <a:lnTo>
                  <a:pt x="113651" y="53037"/>
                </a:lnTo>
                <a:cubicBezTo>
                  <a:pt x="117841" y="53037"/>
                  <a:pt x="121227" y="56423"/>
                  <a:pt x="121227" y="60614"/>
                </a:cubicBezTo>
                <a:cubicBezTo>
                  <a:pt x="121227" y="64805"/>
                  <a:pt x="117841" y="68190"/>
                  <a:pt x="113651" y="68190"/>
                </a:cubicBezTo>
                <a:lnTo>
                  <a:pt x="22730" y="68190"/>
                </a:lnTo>
                <a:cubicBezTo>
                  <a:pt x="18539" y="68190"/>
                  <a:pt x="15153" y="64805"/>
                  <a:pt x="15153" y="60614"/>
                </a:cubicBezTo>
                <a:close/>
                <a:moveTo>
                  <a:pt x="106074" y="98497"/>
                </a:moveTo>
                <a:cubicBezTo>
                  <a:pt x="106074" y="102688"/>
                  <a:pt x="102688" y="106074"/>
                  <a:pt x="98497" y="106074"/>
                </a:cubicBezTo>
                <a:lnTo>
                  <a:pt x="7577" y="106074"/>
                </a:lnTo>
                <a:cubicBezTo>
                  <a:pt x="3386" y="106074"/>
                  <a:pt x="0" y="102688"/>
                  <a:pt x="0" y="98497"/>
                </a:cubicBezTo>
                <a:cubicBezTo>
                  <a:pt x="0" y="94306"/>
                  <a:pt x="3386" y="90920"/>
                  <a:pt x="7577" y="90920"/>
                </a:cubicBezTo>
                <a:lnTo>
                  <a:pt x="98497" y="90920"/>
                </a:lnTo>
                <a:cubicBezTo>
                  <a:pt x="102688" y="90920"/>
                  <a:pt x="106074" y="94306"/>
                  <a:pt x="106074" y="98497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Text 59"/>
          <p:cNvSpPr/>
          <p:nvPr/>
        </p:nvSpPr>
        <p:spPr>
          <a:xfrm>
            <a:off x="6533280" y="6151320"/>
            <a:ext cx="238212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Real-time streaming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Shape 60"/>
          <p:cNvSpPr/>
          <p:nvPr/>
        </p:nvSpPr>
        <p:spPr>
          <a:xfrm>
            <a:off x="9057240" y="6177240"/>
            <a:ext cx="120960" cy="120960"/>
          </a:xfrm>
          <a:custGeom>
            <a:avLst/>
            <a:gdLst>
              <a:gd name="textAreaLeft" fmla="*/ 0 w 120960"/>
              <a:gd name="textAreaRight" fmla="*/ 121320 w 120960"/>
              <a:gd name="textAreaTop" fmla="*/ 0 h 120960"/>
              <a:gd name="textAreaBottom" fmla="*/ 121320 h 120960"/>
            </a:gdLst>
            <a:ahLst/>
            <a:rect l="textAreaLeft" t="textAreaTop" r="textAreaRight" b="textAreaBottom"/>
            <a:pathLst>
              <a:path w="121227" h="121227">
                <a:moveTo>
                  <a:pt x="45460" y="15153"/>
                </a:moveTo>
                <a:cubicBezTo>
                  <a:pt x="45460" y="10963"/>
                  <a:pt x="48846" y="7577"/>
                  <a:pt x="53037" y="7577"/>
                </a:cubicBezTo>
                <a:lnTo>
                  <a:pt x="68190" y="7577"/>
                </a:lnTo>
                <a:cubicBezTo>
                  <a:pt x="72381" y="7577"/>
                  <a:pt x="75767" y="10963"/>
                  <a:pt x="75767" y="15153"/>
                </a:cubicBezTo>
                <a:lnTo>
                  <a:pt x="75767" y="30307"/>
                </a:lnTo>
                <a:cubicBezTo>
                  <a:pt x="75767" y="34498"/>
                  <a:pt x="72381" y="37884"/>
                  <a:pt x="68190" y="37884"/>
                </a:cubicBezTo>
                <a:lnTo>
                  <a:pt x="66296" y="37884"/>
                </a:lnTo>
                <a:lnTo>
                  <a:pt x="66296" y="53037"/>
                </a:lnTo>
                <a:lnTo>
                  <a:pt x="94709" y="53037"/>
                </a:lnTo>
                <a:cubicBezTo>
                  <a:pt x="104132" y="53037"/>
                  <a:pt x="111756" y="60661"/>
                  <a:pt x="111756" y="70085"/>
                </a:cubicBezTo>
                <a:lnTo>
                  <a:pt x="111756" y="83344"/>
                </a:lnTo>
                <a:lnTo>
                  <a:pt x="113651" y="83344"/>
                </a:lnTo>
                <a:cubicBezTo>
                  <a:pt x="117841" y="83344"/>
                  <a:pt x="121227" y="86730"/>
                  <a:pt x="121227" y="90920"/>
                </a:cubicBezTo>
                <a:lnTo>
                  <a:pt x="121227" y="106074"/>
                </a:lnTo>
                <a:cubicBezTo>
                  <a:pt x="121227" y="110265"/>
                  <a:pt x="117841" y="113651"/>
                  <a:pt x="113651" y="113651"/>
                </a:cubicBezTo>
                <a:lnTo>
                  <a:pt x="98497" y="113651"/>
                </a:lnTo>
                <a:cubicBezTo>
                  <a:pt x="94306" y="113651"/>
                  <a:pt x="90920" y="110265"/>
                  <a:pt x="90920" y="106074"/>
                </a:cubicBezTo>
                <a:lnTo>
                  <a:pt x="90920" y="90920"/>
                </a:lnTo>
                <a:cubicBezTo>
                  <a:pt x="90920" y="86730"/>
                  <a:pt x="94306" y="83344"/>
                  <a:pt x="98497" y="83344"/>
                </a:cubicBezTo>
                <a:lnTo>
                  <a:pt x="100391" y="83344"/>
                </a:lnTo>
                <a:lnTo>
                  <a:pt x="100391" y="70085"/>
                </a:lnTo>
                <a:cubicBezTo>
                  <a:pt x="100391" y="66935"/>
                  <a:pt x="97858" y="64402"/>
                  <a:pt x="94709" y="64402"/>
                </a:cubicBezTo>
                <a:lnTo>
                  <a:pt x="66296" y="64402"/>
                </a:lnTo>
                <a:lnTo>
                  <a:pt x="66296" y="83344"/>
                </a:lnTo>
                <a:lnTo>
                  <a:pt x="68190" y="83344"/>
                </a:lnTo>
                <a:cubicBezTo>
                  <a:pt x="72381" y="83344"/>
                  <a:pt x="75767" y="86730"/>
                  <a:pt x="75767" y="90920"/>
                </a:cubicBezTo>
                <a:lnTo>
                  <a:pt x="75767" y="106074"/>
                </a:lnTo>
                <a:cubicBezTo>
                  <a:pt x="75767" y="110265"/>
                  <a:pt x="72381" y="113651"/>
                  <a:pt x="68190" y="113651"/>
                </a:cubicBezTo>
                <a:lnTo>
                  <a:pt x="53037" y="113651"/>
                </a:lnTo>
                <a:cubicBezTo>
                  <a:pt x="48846" y="113651"/>
                  <a:pt x="45460" y="110265"/>
                  <a:pt x="45460" y="106074"/>
                </a:cubicBezTo>
                <a:lnTo>
                  <a:pt x="45460" y="90920"/>
                </a:lnTo>
                <a:cubicBezTo>
                  <a:pt x="45460" y="86730"/>
                  <a:pt x="48846" y="83344"/>
                  <a:pt x="53037" y="83344"/>
                </a:cubicBezTo>
                <a:lnTo>
                  <a:pt x="54931" y="83344"/>
                </a:lnTo>
                <a:lnTo>
                  <a:pt x="54931" y="64402"/>
                </a:lnTo>
                <a:lnTo>
                  <a:pt x="26518" y="64402"/>
                </a:lnTo>
                <a:cubicBezTo>
                  <a:pt x="23369" y="64402"/>
                  <a:pt x="20836" y="66935"/>
                  <a:pt x="20836" y="70085"/>
                </a:cubicBezTo>
                <a:lnTo>
                  <a:pt x="20836" y="83344"/>
                </a:lnTo>
                <a:lnTo>
                  <a:pt x="22730" y="83344"/>
                </a:lnTo>
                <a:cubicBezTo>
                  <a:pt x="26921" y="83344"/>
                  <a:pt x="30307" y="86730"/>
                  <a:pt x="30307" y="90920"/>
                </a:cubicBezTo>
                <a:lnTo>
                  <a:pt x="30307" y="106074"/>
                </a:lnTo>
                <a:cubicBezTo>
                  <a:pt x="30307" y="110265"/>
                  <a:pt x="26921" y="113651"/>
                  <a:pt x="22730" y="113651"/>
                </a:cubicBezTo>
                <a:lnTo>
                  <a:pt x="7577" y="113651"/>
                </a:lnTo>
                <a:cubicBezTo>
                  <a:pt x="3386" y="113651"/>
                  <a:pt x="0" y="110265"/>
                  <a:pt x="0" y="106074"/>
                </a:cubicBezTo>
                <a:lnTo>
                  <a:pt x="0" y="90920"/>
                </a:lnTo>
                <a:cubicBezTo>
                  <a:pt x="0" y="86730"/>
                  <a:pt x="3386" y="83344"/>
                  <a:pt x="7577" y="83344"/>
                </a:cubicBezTo>
                <a:lnTo>
                  <a:pt x="9471" y="83344"/>
                </a:lnTo>
                <a:lnTo>
                  <a:pt x="9471" y="70085"/>
                </a:lnTo>
                <a:cubicBezTo>
                  <a:pt x="9471" y="60661"/>
                  <a:pt x="17095" y="53037"/>
                  <a:pt x="26518" y="53037"/>
                </a:cubicBezTo>
                <a:lnTo>
                  <a:pt x="54931" y="53037"/>
                </a:lnTo>
                <a:lnTo>
                  <a:pt x="54931" y="37884"/>
                </a:lnTo>
                <a:lnTo>
                  <a:pt x="53037" y="37884"/>
                </a:lnTo>
                <a:cubicBezTo>
                  <a:pt x="48846" y="37884"/>
                  <a:pt x="45460" y="34498"/>
                  <a:pt x="45460" y="30307"/>
                </a:cubicBezTo>
                <a:lnTo>
                  <a:pt x="45460" y="15153"/>
                </a:lnTo>
                <a:close/>
              </a:path>
            </a:pathLst>
          </a:custGeom>
          <a:solidFill>
            <a:srgbClr val="ff8a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 61"/>
          <p:cNvSpPr/>
          <p:nvPr/>
        </p:nvSpPr>
        <p:spPr>
          <a:xfrm>
            <a:off x="9261000" y="6151320"/>
            <a:ext cx="62316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Data mesh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Shape 62"/>
          <p:cNvSpPr/>
          <p:nvPr/>
        </p:nvSpPr>
        <p:spPr>
          <a:xfrm>
            <a:off x="6345000" y="6419520"/>
            <a:ext cx="90720" cy="120960"/>
          </a:xfrm>
          <a:custGeom>
            <a:avLst/>
            <a:gdLst>
              <a:gd name="textAreaLeft" fmla="*/ 0 w 90720"/>
              <a:gd name="textAreaRight" fmla="*/ 91080 w 90720"/>
              <a:gd name="textAreaTop" fmla="*/ 0 h 120960"/>
              <a:gd name="textAreaBottom" fmla="*/ 121320 h 120960"/>
            </a:gdLst>
            <a:ahLst/>
            <a:rect l="textAreaLeft" t="textAreaTop" r="textAreaRight" b="textAreaBottom"/>
            <a:pathLst>
              <a:path w="90920" h="121227">
                <a:moveTo>
                  <a:pt x="0" y="15153"/>
                </a:moveTo>
                <a:cubicBezTo>
                  <a:pt x="0" y="6795"/>
                  <a:pt x="6795" y="0"/>
                  <a:pt x="15153" y="0"/>
                </a:cubicBezTo>
                <a:lnTo>
                  <a:pt x="50551" y="0"/>
                </a:lnTo>
                <a:cubicBezTo>
                  <a:pt x="54576" y="0"/>
                  <a:pt x="58435" y="1586"/>
                  <a:pt x="61277" y="4428"/>
                </a:cubicBezTo>
                <a:lnTo>
                  <a:pt x="86493" y="29668"/>
                </a:lnTo>
                <a:cubicBezTo>
                  <a:pt x="89334" y="32509"/>
                  <a:pt x="90920" y="36368"/>
                  <a:pt x="90920" y="40393"/>
                </a:cubicBezTo>
                <a:lnTo>
                  <a:pt x="90920" y="106074"/>
                </a:lnTo>
                <a:cubicBezTo>
                  <a:pt x="90920" y="114432"/>
                  <a:pt x="84125" y="121227"/>
                  <a:pt x="75767" y="121227"/>
                </a:cubicBezTo>
                <a:lnTo>
                  <a:pt x="15153" y="121227"/>
                </a:lnTo>
                <a:cubicBezTo>
                  <a:pt x="6795" y="121227"/>
                  <a:pt x="0" y="114432"/>
                  <a:pt x="0" y="106074"/>
                </a:cubicBezTo>
                <a:lnTo>
                  <a:pt x="0" y="15153"/>
                </a:lnTo>
                <a:close/>
                <a:moveTo>
                  <a:pt x="49249" y="13851"/>
                </a:moveTo>
                <a:lnTo>
                  <a:pt x="49249" y="35989"/>
                </a:lnTo>
                <a:cubicBezTo>
                  <a:pt x="49249" y="39138"/>
                  <a:pt x="51782" y="41672"/>
                  <a:pt x="54931" y="41672"/>
                </a:cubicBezTo>
                <a:lnTo>
                  <a:pt x="77069" y="41672"/>
                </a:lnTo>
                <a:lnTo>
                  <a:pt x="49249" y="13851"/>
                </a:lnTo>
                <a:close/>
                <a:moveTo>
                  <a:pt x="20836" y="15153"/>
                </a:moveTo>
                <a:cubicBezTo>
                  <a:pt x="17687" y="15153"/>
                  <a:pt x="15153" y="17687"/>
                  <a:pt x="15153" y="20836"/>
                </a:cubicBezTo>
                <a:cubicBezTo>
                  <a:pt x="15153" y="23985"/>
                  <a:pt x="17687" y="26518"/>
                  <a:pt x="20836" y="26518"/>
                </a:cubicBezTo>
                <a:lnTo>
                  <a:pt x="32201" y="26518"/>
                </a:lnTo>
                <a:cubicBezTo>
                  <a:pt x="35350" y="26518"/>
                  <a:pt x="37884" y="23985"/>
                  <a:pt x="37884" y="20836"/>
                </a:cubicBezTo>
                <a:cubicBezTo>
                  <a:pt x="37884" y="17687"/>
                  <a:pt x="35350" y="15153"/>
                  <a:pt x="32201" y="15153"/>
                </a:cubicBezTo>
                <a:lnTo>
                  <a:pt x="20836" y="15153"/>
                </a:lnTo>
                <a:close/>
                <a:moveTo>
                  <a:pt x="20836" y="37884"/>
                </a:moveTo>
                <a:cubicBezTo>
                  <a:pt x="17687" y="37884"/>
                  <a:pt x="15153" y="40417"/>
                  <a:pt x="15153" y="43566"/>
                </a:cubicBezTo>
                <a:cubicBezTo>
                  <a:pt x="15153" y="46715"/>
                  <a:pt x="17687" y="49249"/>
                  <a:pt x="20836" y="49249"/>
                </a:cubicBezTo>
                <a:lnTo>
                  <a:pt x="32201" y="49249"/>
                </a:lnTo>
                <a:cubicBezTo>
                  <a:pt x="35350" y="49249"/>
                  <a:pt x="37884" y="46715"/>
                  <a:pt x="37884" y="43566"/>
                </a:cubicBezTo>
                <a:cubicBezTo>
                  <a:pt x="37884" y="40417"/>
                  <a:pt x="35350" y="37884"/>
                  <a:pt x="32201" y="37884"/>
                </a:cubicBezTo>
                <a:lnTo>
                  <a:pt x="20836" y="37884"/>
                </a:lnTo>
                <a:close/>
                <a:moveTo>
                  <a:pt x="37481" y="75767"/>
                </a:moveTo>
                <a:cubicBezTo>
                  <a:pt x="34805" y="75767"/>
                  <a:pt x="32296" y="76975"/>
                  <a:pt x="30638" y="79058"/>
                </a:cubicBezTo>
                <a:lnTo>
                  <a:pt x="16408" y="96840"/>
                </a:lnTo>
                <a:cubicBezTo>
                  <a:pt x="14443" y="99279"/>
                  <a:pt x="14846" y="102877"/>
                  <a:pt x="17284" y="104819"/>
                </a:cubicBezTo>
                <a:cubicBezTo>
                  <a:pt x="19723" y="106761"/>
                  <a:pt x="23322" y="106382"/>
                  <a:pt x="25264" y="103919"/>
                </a:cubicBezTo>
                <a:lnTo>
                  <a:pt x="36416" y="89997"/>
                </a:lnTo>
                <a:lnTo>
                  <a:pt x="40014" y="102001"/>
                </a:lnTo>
                <a:cubicBezTo>
                  <a:pt x="40725" y="104416"/>
                  <a:pt x="42950" y="106050"/>
                  <a:pt x="45460" y="106050"/>
                </a:cubicBezTo>
                <a:lnTo>
                  <a:pt x="70085" y="106050"/>
                </a:lnTo>
                <a:cubicBezTo>
                  <a:pt x="73234" y="106050"/>
                  <a:pt x="75767" y="103517"/>
                  <a:pt x="75767" y="100368"/>
                </a:cubicBezTo>
                <a:cubicBezTo>
                  <a:pt x="75767" y="97219"/>
                  <a:pt x="73234" y="94685"/>
                  <a:pt x="70085" y="94685"/>
                </a:cubicBezTo>
                <a:lnTo>
                  <a:pt x="49698" y="94685"/>
                </a:lnTo>
                <a:lnTo>
                  <a:pt x="45886" y="81994"/>
                </a:lnTo>
                <a:cubicBezTo>
                  <a:pt x="44774" y="78277"/>
                  <a:pt x="41364" y="75743"/>
                  <a:pt x="37481" y="75743"/>
                </a:cubicBezTo>
                <a:close/>
              </a:path>
            </a:pathLst>
          </a:custGeom>
          <a:solidFill>
            <a:srgbClr val="607d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Text 63"/>
          <p:cNvSpPr/>
          <p:nvPr/>
        </p:nvSpPr>
        <p:spPr>
          <a:xfrm>
            <a:off x="6533280" y="6393600"/>
            <a:ext cx="169632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Data contracts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Shape 64"/>
          <p:cNvSpPr/>
          <p:nvPr/>
        </p:nvSpPr>
        <p:spPr>
          <a:xfrm>
            <a:off x="9049680" y="6419520"/>
            <a:ext cx="136080" cy="120960"/>
          </a:xfrm>
          <a:custGeom>
            <a:avLst/>
            <a:gdLst>
              <a:gd name="textAreaLeft" fmla="*/ 0 w 136080"/>
              <a:gd name="textAreaRight" fmla="*/ 136440 w 136080"/>
              <a:gd name="textAreaTop" fmla="*/ 0 h 120960"/>
              <a:gd name="textAreaBottom" fmla="*/ 121320 h 120960"/>
            </a:gdLst>
            <a:ahLst/>
            <a:rect l="textAreaLeft" t="textAreaTop" r="textAreaRight" b="textAreaBottom"/>
            <a:pathLst>
              <a:path w="136381" h="121227">
                <a:moveTo>
                  <a:pt x="0" y="79555"/>
                </a:moveTo>
                <a:cubicBezTo>
                  <a:pt x="0" y="98379"/>
                  <a:pt x="15272" y="113651"/>
                  <a:pt x="34095" y="113651"/>
                </a:cubicBezTo>
                <a:lnTo>
                  <a:pt x="106074" y="113651"/>
                </a:lnTo>
                <a:cubicBezTo>
                  <a:pt x="122814" y="113651"/>
                  <a:pt x="136381" y="100084"/>
                  <a:pt x="136381" y="83344"/>
                </a:cubicBezTo>
                <a:cubicBezTo>
                  <a:pt x="136381" y="71126"/>
                  <a:pt x="129159" y="60590"/>
                  <a:pt x="118741" y="55807"/>
                </a:cubicBezTo>
                <a:cubicBezTo>
                  <a:pt x="120328" y="52705"/>
                  <a:pt x="121227" y="49178"/>
                  <a:pt x="121227" y="45460"/>
                </a:cubicBezTo>
                <a:cubicBezTo>
                  <a:pt x="121227" y="32911"/>
                  <a:pt x="111046" y="22730"/>
                  <a:pt x="98497" y="22730"/>
                </a:cubicBezTo>
                <a:cubicBezTo>
                  <a:pt x="94306" y="22730"/>
                  <a:pt x="90400" y="23867"/>
                  <a:pt x="87037" y="25832"/>
                </a:cubicBezTo>
                <a:cubicBezTo>
                  <a:pt x="81331" y="14988"/>
                  <a:pt x="69942" y="7577"/>
                  <a:pt x="56825" y="7577"/>
                </a:cubicBezTo>
                <a:cubicBezTo>
                  <a:pt x="38002" y="7577"/>
                  <a:pt x="22730" y="22848"/>
                  <a:pt x="22730" y="41672"/>
                </a:cubicBezTo>
                <a:cubicBezTo>
                  <a:pt x="22730" y="43566"/>
                  <a:pt x="22896" y="45437"/>
                  <a:pt x="23180" y="47236"/>
                </a:cubicBezTo>
                <a:cubicBezTo>
                  <a:pt x="9708" y="51782"/>
                  <a:pt x="0" y="64544"/>
                  <a:pt x="0" y="79555"/>
                </a:cubicBez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Text 65"/>
          <p:cNvSpPr/>
          <p:nvPr/>
        </p:nvSpPr>
        <p:spPr>
          <a:xfrm>
            <a:off x="9261000" y="6393600"/>
            <a:ext cx="17118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0" lang="en-US" sz="96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Data lakehouse</a:t>
            </a:r>
            <a:endParaRPr b="0" lang="en-US" sz="96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1a1d21">
                  <a:alpha val="7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Text 1"/>
          <p:cNvSpPr/>
          <p:nvPr/>
        </p:nvSpPr>
        <p:spPr>
          <a:xfrm>
            <a:off x="380880" y="380880"/>
            <a:ext cx="1150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1" lang="en-US" sz="1200" spc="58" strike="noStrike">
                <a:solidFill>
                  <a:srgbClr val="4db6ac"/>
                </a:solidFill>
                <a:latin typeface="Quattrocento Sans"/>
                <a:ea typeface="Quattrocento Sans"/>
              </a:rPr>
              <a:t>CONCLUSION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4" name="Text 2"/>
          <p:cNvSpPr/>
          <p:nvPr/>
        </p:nvSpPr>
        <p:spPr>
          <a:xfrm>
            <a:off x="380880" y="685800"/>
            <a:ext cx="11658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</a:pPr>
            <a:r>
              <a:rPr b="1" lang="en-US" sz="3600" spc="-1" strike="noStrike">
                <a:solidFill>
                  <a:srgbClr val="eceff1"/>
                </a:solidFill>
                <a:latin typeface="Liter"/>
                <a:ea typeface="Liter"/>
              </a:rPr>
              <a:t>Key Takeaways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Shape 3"/>
          <p:cNvSpPr/>
          <p:nvPr/>
        </p:nvSpPr>
        <p:spPr>
          <a:xfrm>
            <a:off x="380880" y="1259280"/>
            <a:ext cx="914040" cy="37800"/>
          </a:xfrm>
          <a:custGeom>
            <a:avLst/>
            <a:gdLst>
              <a:gd name="textAreaLeft" fmla="*/ 0 w 914040"/>
              <a:gd name="textAreaRight" fmla="*/ 914400 w 914040"/>
              <a:gd name="textAreaTop" fmla="*/ 0 h 37800"/>
              <a:gd name="textAreaBottom" fmla="*/ 38160 h 37800"/>
            </a:gdLst>
            <a:ahLst/>
            <a:rect l="textAreaLeft" t="textAreaTop" r="textAreaRight" b="textAreaBottom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Shape 4"/>
          <p:cNvSpPr/>
          <p:nvPr/>
        </p:nvSpPr>
        <p:spPr>
          <a:xfrm>
            <a:off x="385920" y="1494720"/>
            <a:ext cx="5609880" cy="1704600"/>
          </a:xfrm>
          <a:custGeom>
            <a:avLst/>
            <a:gdLst>
              <a:gd name="textAreaLeft" fmla="*/ 0 w 5609880"/>
              <a:gd name="textAreaRight" fmla="*/ 5610240 w 5609880"/>
              <a:gd name="textAreaTop" fmla="*/ 0 h 1704600"/>
              <a:gd name="textAreaBottom" fmla="*/ 1704960 h 1704600"/>
            </a:gdLst>
            <a:ahLst/>
            <a:rect l="textAreaLeft" t="textAreaTop" r="textAreaRight" b="textAreaBottom"/>
            <a:pathLst>
              <a:path w="5610225" h="1704975">
                <a:moveTo>
                  <a:pt x="114302" y="0"/>
                </a:moveTo>
                <a:lnTo>
                  <a:pt x="5495923" y="0"/>
                </a:lnTo>
                <a:cubicBezTo>
                  <a:pt x="5559050" y="0"/>
                  <a:pt x="5610225" y="51175"/>
                  <a:pt x="5610225" y="114302"/>
                </a:cubicBezTo>
                <a:lnTo>
                  <a:pt x="5610225" y="1590673"/>
                </a:lnTo>
                <a:cubicBezTo>
                  <a:pt x="5610225" y="1653800"/>
                  <a:pt x="5559050" y="1704975"/>
                  <a:pt x="5495923" y="1704975"/>
                </a:cubicBezTo>
                <a:lnTo>
                  <a:pt x="114302" y="1704975"/>
                </a:lnTo>
                <a:cubicBezTo>
                  <a:pt x="51175" y="1704975"/>
                  <a:pt x="0" y="1653800"/>
                  <a:pt x="0" y="15906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12700">
            <a:solidFill>
              <a:srgbClr val="4db6ac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Shape 5"/>
          <p:cNvSpPr/>
          <p:nvPr/>
        </p:nvSpPr>
        <p:spPr>
          <a:xfrm>
            <a:off x="581040" y="169020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Text 6"/>
          <p:cNvSpPr/>
          <p:nvPr/>
        </p:nvSpPr>
        <p:spPr>
          <a:xfrm>
            <a:off x="773280" y="1766160"/>
            <a:ext cx="190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Text 7"/>
          <p:cNvSpPr/>
          <p:nvPr/>
        </p:nvSpPr>
        <p:spPr>
          <a:xfrm>
            <a:off x="1152360" y="1785240"/>
            <a:ext cx="2733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4db6ac"/>
                </a:solidFill>
                <a:latin typeface="Liter"/>
                <a:ea typeface="Liter"/>
              </a:rPr>
              <a:t>Architecture Matters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Text 8"/>
          <p:cNvSpPr/>
          <p:nvPr/>
        </p:nvSpPr>
        <p:spPr>
          <a:xfrm>
            <a:off x="581040" y="2261520"/>
            <a:ext cx="529560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Choose the right architecture (ETL vs ELT) based on your data volume, latency requirements, and team capabilities. Cloud-native solutions offer scalability and cost-efficiency.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Shape 9"/>
          <p:cNvSpPr/>
          <p:nvPr/>
        </p:nvSpPr>
        <p:spPr>
          <a:xfrm>
            <a:off x="6195960" y="1494720"/>
            <a:ext cx="5609880" cy="1704600"/>
          </a:xfrm>
          <a:custGeom>
            <a:avLst/>
            <a:gdLst>
              <a:gd name="textAreaLeft" fmla="*/ 0 w 5609880"/>
              <a:gd name="textAreaRight" fmla="*/ 5610240 w 5609880"/>
              <a:gd name="textAreaTop" fmla="*/ 0 h 1704600"/>
              <a:gd name="textAreaBottom" fmla="*/ 1704960 h 1704600"/>
            </a:gdLst>
            <a:ahLst/>
            <a:rect l="textAreaLeft" t="textAreaTop" r="textAreaRight" b="textAreaBottom"/>
            <a:pathLst>
              <a:path w="5610225" h="1704975">
                <a:moveTo>
                  <a:pt x="114302" y="0"/>
                </a:moveTo>
                <a:lnTo>
                  <a:pt x="5495923" y="0"/>
                </a:lnTo>
                <a:cubicBezTo>
                  <a:pt x="5559050" y="0"/>
                  <a:pt x="5610225" y="51175"/>
                  <a:pt x="5610225" y="114302"/>
                </a:cubicBezTo>
                <a:lnTo>
                  <a:pt x="5610225" y="1590673"/>
                </a:lnTo>
                <a:cubicBezTo>
                  <a:pt x="5610225" y="1653800"/>
                  <a:pt x="5559050" y="1704975"/>
                  <a:pt x="5495923" y="1704975"/>
                </a:cubicBezTo>
                <a:lnTo>
                  <a:pt x="114302" y="1704975"/>
                </a:lnTo>
                <a:cubicBezTo>
                  <a:pt x="51175" y="1704975"/>
                  <a:pt x="0" y="1653800"/>
                  <a:pt x="0" y="15906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8a65">
              <a:alpha val="10000"/>
            </a:srgbClr>
          </a:solidFill>
          <a:ln w="12700">
            <a:solidFill>
              <a:srgbClr val="ff8a65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10"/>
          <p:cNvSpPr/>
          <p:nvPr/>
        </p:nvSpPr>
        <p:spPr>
          <a:xfrm>
            <a:off x="6391440" y="169020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8a65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Text 11"/>
          <p:cNvSpPr/>
          <p:nvPr/>
        </p:nvSpPr>
        <p:spPr>
          <a:xfrm>
            <a:off x="6561720" y="1766160"/>
            <a:ext cx="228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ff8a65"/>
                </a:solidFill>
                <a:latin typeface="Quattrocento Sans"/>
                <a:ea typeface="Quattrocento Sans"/>
              </a:rPr>
              <a:t>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Text 12"/>
          <p:cNvSpPr/>
          <p:nvPr/>
        </p:nvSpPr>
        <p:spPr>
          <a:xfrm>
            <a:off x="6962760" y="1785240"/>
            <a:ext cx="2638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ff8a65"/>
                </a:solidFill>
                <a:latin typeface="Liter"/>
                <a:ea typeface="Liter"/>
              </a:rPr>
              <a:t>Tool Selection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Text 13"/>
          <p:cNvSpPr/>
          <p:nvPr/>
        </p:nvSpPr>
        <p:spPr>
          <a:xfrm>
            <a:off x="6391440" y="2261520"/>
            <a:ext cx="529560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Leverage the modern data stack: Airbyte/Fivetran for ingestion, dbt for transformation, Airflow for orchestration, and cloud warehouses for storage.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Shape 14"/>
          <p:cNvSpPr/>
          <p:nvPr/>
        </p:nvSpPr>
        <p:spPr>
          <a:xfrm>
            <a:off x="385920" y="3399840"/>
            <a:ext cx="5609880" cy="1456920"/>
          </a:xfrm>
          <a:custGeom>
            <a:avLst/>
            <a:gdLst>
              <a:gd name="textAreaLeft" fmla="*/ 0 w 5609880"/>
              <a:gd name="textAreaRight" fmla="*/ 5610240 w 5609880"/>
              <a:gd name="textAreaTop" fmla="*/ 0 h 1456920"/>
              <a:gd name="textAreaBottom" fmla="*/ 1457280 h 1456920"/>
            </a:gdLst>
            <a:ahLst/>
            <a:rect l="textAreaLeft" t="textAreaTop" r="textAreaRight" b="textAreaBottom"/>
            <a:pathLst>
              <a:path w="5610225" h="1457325">
                <a:moveTo>
                  <a:pt x="114298" y="0"/>
                </a:moveTo>
                <a:lnTo>
                  <a:pt x="5495927" y="0"/>
                </a:lnTo>
                <a:cubicBezTo>
                  <a:pt x="5559010" y="0"/>
                  <a:pt x="5610225" y="51215"/>
                  <a:pt x="5610225" y="114298"/>
                </a:cubicBezTo>
                <a:lnTo>
                  <a:pt x="5610225" y="1343027"/>
                </a:lnTo>
                <a:cubicBezTo>
                  <a:pt x="5610225" y="1406110"/>
                  <a:pt x="5559010" y="1457325"/>
                  <a:pt x="5495927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607d8b">
              <a:alpha val="10000"/>
            </a:srgbClr>
          </a:solidFill>
          <a:ln w="12700">
            <a:solidFill>
              <a:srgbClr val="607d8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Shape 15"/>
          <p:cNvSpPr/>
          <p:nvPr/>
        </p:nvSpPr>
        <p:spPr>
          <a:xfrm>
            <a:off x="581040" y="359496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Text 16"/>
          <p:cNvSpPr/>
          <p:nvPr/>
        </p:nvSpPr>
        <p:spPr>
          <a:xfrm>
            <a:off x="748440" y="3671280"/>
            <a:ext cx="237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607d8b"/>
                </a:solidFill>
                <a:latin typeface="Quattrocento Sans"/>
                <a:ea typeface="Quattrocento Sans"/>
              </a:rPr>
              <a:t>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Text 17"/>
          <p:cNvSpPr/>
          <p:nvPr/>
        </p:nvSpPr>
        <p:spPr>
          <a:xfrm>
            <a:off x="1152360" y="3690360"/>
            <a:ext cx="3191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607d8b"/>
                </a:solidFill>
                <a:latin typeface="Liter"/>
                <a:ea typeface="Liter"/>
              </a:rPr>
              <a:t>Production Readiness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Text 18"/>
          <p:cNvSpPr/>
          <p:nvPr/>
        </p:nvSpPr>
        <p:spPr>
          <a:xfrm>
            <a:off x="581040" y="4166640"/>
            <a:ext cx="529560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Build for scale with modularity, comprehensive monitoring, error handling, and CI/CD. Data governance and security are non-negotiable.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Shape 19"/>
          <p:cNvSpPr/>
          <p:nvPr/>
        </p:nvSpPr>
        <p:spPr>
          <a:xfrm>
            <a:off x="6195960" y="3399840"/>
            <a:ext cx="5609880" cy="1456920"/>
          </a:xfrm>
          <a:custGeom>
            <a:avLst/>
            <a:gdLst>
              <a:gd name="textAreaLeft" fmla="*/ 0 w 5609880"/>
              <a:gd name="textAreaRight" fmla="*/ 5610240 w 5609880"/>
              <a:gd name="textAreaTop" fmla="*/ 0 h 1456920"/>
              <a:gd name="textAreaBottom" fmla="*/ 1457280 h 1456920"/>
            </a:gdLst>
            <a:ahLst/>
            <a:rect l="textAreaLeft" t="textAreaTop" r="textAreaRight" b="textAreaBottom"/>
            <a:pathLst>
              <a:path w="5610225" h="1457325">
                <a:moveTo>
                  <a:pt x="114298" y="0"/>
                </a:moveTo>
                <a:lnTo>
                  <a:pt x="5495927" y="0"/>
                </a:lnTo>
                <a:cubicBezTo>
                  <a:pt x="5559010" y="0"/>
                  <a:pt x="5610225" y="51215"/>
                  <a:pt x="5610225" y="114298"/>
                </a:cubicBezTo>
                <a:lnTo>
                  <a:pt x="5610225" y="1343027"/>
                </a:lnTo>
                <a:cubicBezTo>
                  <a:pt x="5610225" y="1406110"/>
                  <a:pt x="5559010" y="1457325"/>
                  <a:pt x="5495927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db6ac">
              <a:alpha val="10000"/>
            </a:srgbClr>
          </a:solidFill>
          <a:ln w="12700">
            <a:solidFill>
              <a:srgbClr val="4db6ac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Shape 20"/>
          <p:cNvSpPr/>
          <p:nvPr/>
        </p:nvSpPr>
        <p:spPr>
          <a:xfrm>
            <a:off x="6391440" y="3594960"/>
            <a:ext cx="456840" cy="456840"/>
          </a:xfrm>
          <a:custGeom>
            <a:avLst/>
            <a:gdLst>
              <a:gd name="textAreaLeft" fmla="*/ 0 w 456840"/>
              <a:gd name="textAreaRight" fmla="*/ 457200 w 456840"/>
              <a:gd name="textAreaTop" fmla="*/ 0 h 456840"/>
              <a:gd name="textAreaBottom" fmla="*/ 457200 h 456840"/>
            </a:gdLst>
            <a:ah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Text 21"/>
          <p:cNvSpPr/>
          <p:nvPr/>
        </p:nvSpPr>
        <p:spPr>
          <a:xfrm>
            <a:off x="6561720" y="3671280"/>
            <a:ext cx="228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</a:pPr>
            <a:r>
              <a:rPr b="1" lang="en-US" sz="180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Text 22"/>
          <p:cNvSpPr/>
          <p:nvPr/>
        </p:nvSpPr>
        <p:spPr>
          <a:xfrm>
            <a:off x="6962760" y="3690360"/>
            <a:ext cx="3095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</a:pPr>
            <a:r>
              <a:rPr b="1" lang="en-US" sz="1500" spc="-1" strike="noStrike">
                <a:solidFill>
                  <a:srgbClr val="4db6ac"/>
                </a:solidFill>
                <a:latin typeface="Liter"/>
                <a:ea typeface="Liter"/>
              </a:rPr>
              <a:t>Embrace the Future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Text 23"/>
          <p:cNvSpPr/>
          <p:nvPr/>
        </p:nvSpPr>
        <p:spPr>
          <a:xfrm>
            <a:off x="6391440" y="4166640"/>
            <a:ext cx="529560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</a:pPr>
            <a:r>
              <a:rPr b="0" lang="en-US" sz="1200" spc="-1" strike="noStrike">
                <a:solidFill>
                  <a:srgbClr val="eceff1">
                    <a:alpha val="80000"/>
                  </a:srgbClr>
                </a:solidFill>
                <a:latin typeface="Quattrocento Sans"/>
                <a:ea typeface="Quattrocento Sans"/>
              </a:rPr>
              <a:t>AI/ML is transforming data engineering through automation. DataOps practices accelerate delivery and improve collaboration across teams.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6" name="Shape 24"/>
          <p:cNvSpPr/>
          <p:nvPr/>
        </p:nvSpPr>
        <p:spPr>
          <a:xfrm>
            <a:off x="385920" y="5095440"/>
            <a:ext cx="11420280" cy="1009440"/>
          </a:xfrm>
          <a:custGeom>
            <a:avLst/>
            <a:gdLst>
              <a:gd name="textAreaLeft" fmla="*/ 0 w 11420280"/>
              <a:gd name="textAreaRight" fmla="*/ 11420640 w 11420280"/>
              <a:gd name="textAreaTop" fmla="*/ 0 h 1009440"/>
              <a:gd name="textAreaBottom" fmla="*/ 1009800 h 1009440"/>
            </a:gdLst>
            <a:ahLst/>
            <a:rect l="textAreaLeft" t="textAreaTop" r="textAreaRight" b="textAreaBottom"/>
            <a:pathLst>
              <a:path w="11420475" h="1009650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895348"/>
                </a:lnTo>
                <a:cubicBezTo>
                  <a:pt x="11420475" y="958475"/>
                  <a:pt x="11369300" y="1009650"/>
                  <a:pt x="11306173" y="1009650"/>
                </a:cubicBezTo>
                <a:lnTo>
                  <a:pt x="114302" y="1009650"/>
                </a:lnTo>
                <a:cubicBezTo>
                  <a:pt x="51175" y="1009650"/>
                  <a:pt x="0" y="958475"/>
                  <a:pt x="0" y="895348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607d8b">
              <a:alpha val="20000"/>
            </a:srgbClr>
          </a:solidFill>
          <a:ln w="12700">
            <a:solidFill>
              <a:srgbClr val="607d8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Shape 25"/>
          <p:cNvSpPr/>
          <p:nvPr/>
        </p:nvSpPr>
        <p:spPr>
          <a:xfrm>
            <a:off x="720720" y="5338080"/>
            <a:ext cx="166320" cy="190080"/>
          </a:xfrm>
          <a:custGeom>
            <a:avLst/>
            <a:gdLst>
              <a:gd name="textAreaLeft" fmla="*/ 0 w 166320"/>
              <a:gd name="textAreaRight" fmla="*/ 166680 w 166320"/>
              <a:gd name="textAreaTop" fmla="*/ 0 h 190080"/>
              <a:gd name="textAreaBottom" fmla="*/ 190440 h 190080"/>
            </a:gdLst>
            <a:ahLst/>
            <a:rect l="textAreaLeft" t="textAreaTop" r="textAreaRight" b="textAreaBottom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8" name="Text 26"/>
          <p:cNvSpPr/>
          <p:nvPr/>
        </p:nvSpPr>
        <p:spPr>
          <a:xfrm>
            <a:off x="828720" y="5290560"/>
            <a:ext cx="108295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</a:pPr>
            <a:r>
              <a:rPr b="1" lang="en-US" sz="150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The future belongs to real-time, intelligent, and self-healing data pipelines.</a:t>
            </a:r>
            <a:r>
              <a:rPr b="0" lang="en-US" sz="1500" spc="-1" strike="noStrike">
                <a:solidFill>
                  <a:srgbClr val="eceff1"/>
                </a:solidFill>
                <a:latin typeface="Quattrocento Sans"/>
                <a:ea typeface="Quattrocento Sans"/>
              </a:rPr>
              <a:t> Success comes from treating data as a product, embracing automation, and continuously evolving your data platform.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Shape 27"/>
          <p:cNvSpPr/>
          <p:nvPr/>
        </p:nvSpPr>
        <p:spPr>
          <a:xfrm>
            <a:off x="380880" y="6114600"/>
            <a:ext cx="11429640" cy="9000"/>
          </a:xfrm>
          <a:custGeom>
            <a:avLst/>
            <a:gdLst>
              <a:gd name="textAreaLeft" fmla="*/ 0 w 11429640"/>
              <a:gd name="textAreaRight" fmla="*/ 11430000 w 11429640"/>
              <a:gd name="textAreaTop" fmla="*/ 0 h 9000"/>
              <a:gd name="textAreaBottom" fmla="*/ 9360 h 9000"/>
            </a:gdLst>
            <a:ahLst/>
            <a:rect l="textAreaLeft" t="textAreaTop" r="textAreaRight" b="textAreaBottom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ceff1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5640" bIns="-356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28"/>
          <p:cNvSpPr/>
          <p:nvPr/>
        </p:nvSpPr>
        <p:spPr>
          <a:xfrm>
            <a:off x="399960" y="6424200"/>
            <a:ext cx="151920" cy="151920"/>
          </a:xfrm>
          <a:custGeom>
            <a:avLst/>
            <a:gdLst>
              <a:gd name="textAreaLeft" fmla="*/ 0 w 151920"/>
              <a:gd name="textAreaRight" fmla="*/ 152280 w 15192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Text 29"/>
          <p:cNvSpPr/>
          <p:nvPr/>
        </p:nvSpPr>
        <p:spPr>
          <a:xfrm>
            <a:off x="647640" y="6386040"/>
            <a:ext cx="4838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1200" spc="-1" strike="noStrike">
                <a:solidFill>
                  <a:srgbClr val="eceff1">
                    <a:alpha val="70000"/>
                  </a:srgbClr>
                </a:solidFill>
                <a:latin typeface="Quattrocento Sans"/>
                <a:ea typeface="Quattrocento Sans"/>
              </a:rPr>
              <a:t>Github : ritik574-coder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Text 30"/>
          <p:cNvSpPr/>
          <p:nvPr/>
        </p:nvSpPr>
        <p:spPr>
          <a:xfrm>
            <a:off x="9144000" y="6163560"/>
            <a:ext cx="26679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</a:pPr>
            <a:r>
              <a:rPr b="0" lang="en-US" sz="1050" spc="-1" strike="noStrike">
                <a:solidFill>
                  <a:srgbClr val="eceff1">
                    <a:alpha val="60000"/>
                  </a:srgbClr>
                </a:solidFill>
                <a:latin typeface="Quattrocento Sans"/>
                <a:ea typeface="Quattrocento Sans"/>
              </a:rPr>
              <a:t>Modern Data Engineering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Text 31"/>
          <p:cNvSpPr/>
          <p:nvPr/>
        </p:nvSpPr>
        <p:spPr>
          <a:xfrm>
            <a:off x="8722800" y="6354000"/>
            <a:ext cx="31251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30000"/>
              </a:lnSpc>
            </a:pPr>
            <a:r>
              <a:rPr b="1" lang="en-US" sz="1350" spc="-1" strike="noStrike">
                <a:solidFill>
                  <a:srgbClr val="4db6ac"/>
                </a:solidFill>
                <a:latin typeface="Quattrocento Sans"/>
                <a:ea typeface="Quattrocento Sans"/>
              </a:rPr>
              <a:t>ETL &amp; ELT Pipelines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LibreOffice/24.2.7.2$Linux_X86_64 LibreOffice_project/420$Build-2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2026-03-16T16:17:02Z</dcterms:created>
  <dc:creator>Kimi</dc:creator>
  <dc:description/>
  <dc:language>en-US</dc:language>
  <cp:lastModifiedBy/>
  <dcterms:modified xsi:type="dcterms:W3CDTF">2026-03-16T22:13:36Z</dcterms:modified>
  <cp:revision>19</cp:revision>
  <dc:subject>Modern Data Engineering: Building ETL &amp; ELT Pipelines</dc:subject>
  <dc:title>Modern Data Engineering: Building ETL &amp; ELT Pipelines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{"Label":"Modern Data Engineering: Building ETL &amp; ELT Pipelines","ContentProducer":"001191110108MACG2KBH8F10000","ProduceID":"19cf76aa-43a2-8183-8000-00004f42f2a1","ReservedCode1":"","ContentPropagator":"001191110108MACG2KBH8F20000","PropagateID":"19cf76aa-43a2-8183-8000-00004f42f2a1","ReservedCode2":""}</vt:lpwstr>
  </property>
  <property fmtid="{D5CDD505-2E9C-101B-9397-08002B2CF9AE}" pid="3" name="Notes">
    <vt:i4>12</vt:i4>
  </property>
  <property fmtid="{D5CDD505-2E9C-101B-9397-08002B2CF9AE}" pid="4" name="PresentationFormat">
    <vt:lpwstr>On-screen Show (16:9)</vt:lpwstr>
  </property>
  <property fmtid="{D5CDD505-2E9C-101B-9397-08002B2CF9AE}" pid="5" name="Slides">
    <vt:i4>12</vt:i4>
  </property>
</Properties>
</file>